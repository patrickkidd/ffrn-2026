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5"/>
    <p:restoredTop sz="65621"/>
  </p:normalViewPr>
  <p:slideViewPr>
    <p:cSldViewPr snapToGrid="0" snapToObjects="1">
      <p:cViewPr varScale="1">
        <p:scale>
          <a:sx n="103" d="100"/>
          <a:sy n="103" d="100"/>
        </p:scale>
        <p:origin x="13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3903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TITLE SLIDE</a:t>
            </a:r>
          </a:p>
          <a:p>
            <a:r>
              <a:rPr sz="4200"/>
              <a:t>"The Family Diagram App"</a:t>
            </a:r>
          </a:p>
          <a:p>
            <a:r>
              <a:rPr sz="4200"/>
              <a:t>Presentation 4 of 5. 1:15-2:15 PM (60 min). After lunch, before Havstad.</a:t>
            </a:r>
          </a:p>
          <a:p>
            <a:r>
              <a:rPr sz="4200"/>
              <a:t>Available now: alaskafamilysystems.com/family-diagram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OPENING (3 min)</a:t>
            </a:r>
          </a:p>
          <a:p>
            <a:r>
              <a:rPr sz="4200"/>
              <a:t>Connect morning's abstract material to this concrete tool.</a:t>
            </a:r>
          </a:p>
          <a:p>
            <a:r>
              <a:rPr sz="4200"/>
              <a:t>"Everything we talked about this morning lives in this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WHAT IT IS (8 min)</a:t>
            </a:r>
          </a:p>
          <a:p>
            <a:r>
              <a:rPr sz="4200"/>
              <a:t>Diagram + Timeline — linked.</a:t>
            </a:r>
          </a:p>
          <a:p>
            <a:r>
              <a:rPr sz="4200"/>
              <a:t>Diagram: family structure + emotional process symbols. Timeline: facts—births, deaths, cutoffs, shifts, events.</a:t>
            </a:r>
          </a:p>
          <a:p>
            <a:r>
              <a:rPr sz="4200"/>
              <a:t>Diagram changes as you move through the timeline.</a:t>
            </a:r>
          </a:p>
          <a:p>
            <a:r>
              <a:rPr sz="4200"/>
              <a:t>Not a "genogram" (static snapshot, no predictive model).</a:t>
            </a:r>
          </a:p>
          <a:p>
            <a:endParaRPr sz="4200"/>
          </a:p>
          <a:p>
            <a:r>
              <a:rPr sz="4200"/>
              <a:t>What goes on the timeline: Facts and functional facts—record the shift, not the judgment.</a:t>
            </a:r>
          </a:p>
          <a:p>
            <a:r>
              <a:rPr sz="4200"/>
              <a:t>Brief, 1-2 examples max. Audience context, not a lecture.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CAPABILITIES (8 min)</a:t>
            </a:r>
          </a:p>
          <a:p>
            <a:r>
              <a:rPr sz="4200"/>
              <a:t>Quick tour so the audience knows what they're about to see:</a:t>
            </a:r>
          </a:p>
          <a:p>
            <a:r>
              <a:rPr sz="4200"/>
              <a:t>- Animated timeline: watch a family's process unfold over decades</a:t>
            </a:r>
          </a:p>
          <a:p>
            <a:r>
              <a:rPr sz="4200"/>
              <a:t>- SARF built in: S, A, R, F trackable over time. Show triangles view.</a:t>
            </a:r>
          </a:p>
          <a:p>
            <a:r>
              <a:rPr sz="4200"/>
              <a:t>- Filtering: by person, event type, date range</a:t>
            </a:r>
          </a:p>
          <a:p>
            <a:r>
              <a:rPr sz="4200"/>
              <a:t>- Presentation mode: how Laura will show her case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LIVE DEMO: THE MARTIN FAMILY (17 min)</a:t>
            </a:r>
          </a:p>
          <a:p>
            <a:r>
              <a:rPr sz="4200"/>
              <a:t>Setup: "A 16-year-old named Matt is having panic attacks. His parents say it's school stress. Let's enter this family the way the data actually comes in—from an interview."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"WHAT BRINGS YOU IN?" — PRESENTING PROBLEM</a:t>
            </a:r>
          </a:p>
          <a:p>
            <a:r>
              <a:rPr sz="4200"/>
              <a:t>Enter initial data through the add form:</a:t>
            </a:r>
          </a:p>
          <a:p>
            <a:r>
              <a:rPr sz="4200"/>
              <a:t>- Shift: Matt, Oct 2018, S: up, A: up, "Panic attacks"</a:t>
            </a:r>
          </a:p>
          <a:p>
            <a:r>
              <a:rPr sz="4200"/>
              <a:t>- Birth: Karen (Jim), 2003, child: Matt</a:t>
            </a:r>
          </a:p>
          <a:p>
            <a:r>
              <a:rPr sz="4200"/>
              <a:t>- Birth: Karen (Jim), 2000, child: Sarah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dirty="0"/>
              <a:t>"WHAT'S GOING ON IN THE FAMILY?" — RECENT PROCESS + EXTENDED FAMILY</a:t>
            </a:r>
          </a:p>
          <a:p>
            <a:r>
              <a:rPr sz="4200" dirty="0"/>
              <a:t>Recent process:</a:t>
            </a:r>
          </a:p>
          <a:p>
            <a:r>
              <a:rPr sz="4200" dirty="0"/>
              <a:t>- Shift: Karen, May 2018, R: conflict (Jim), A: up</a:t>
            </a:r>
          </a:p>
          <a:p>
            <a:r>
              <a:rPr sz="4200" dirty="0"/>
              <a:t>- Shift: Karen, Apr 2018, R: toward Ruth, A: up</a:t>
            </a:r>
          </a:p>
          <a:p>
            <a:r>
              <a:rPr sz="4200" dirty="0"/>
              <a:t>- Moved: Sarah, Aug 2018, left for college</a:t>
            </a:r>
          </a:p>
          <a:p>
            <a:r>
              <a:rPr sz="4200" dirty="0"/>
              <a:t>Extended family surfaces:</a:t>
            </a:r>
          </a:p>
          <a:p>
            <a:r>
              <a:rPr sz="4200" dirty="0"/>
              <a:t>- Birth: Ruth, 1945</a:t>
            </a:r>
          </a:p>
          <a:p>
            <a:r>
              <a:rPr sz="4200" dirty="0"/>
              <a:t>- Shift: Ruth, Mar 2018, S: up, cancer diagnosis</a:t>
            </a:r>
          </a:p>
          <a:p>
            <a:r>
              <a:rPr sz="4200" dirty="0"/>
              <a:t>Tidy-arrange diagram as structure events settle.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THE "AHA" — SCRUB THROUGH 2018</a:t>
            </a:r>
          </a:p>
          <a:p>
            <a:r>
              <a:rPr sz="4200"/>
              <a:t>Switch to animated view. The data came in jumbled—now the timeline puts it in order for the first time.</a:t>
            </a:r>
          </a:p>
          <a:p>
            <a:r>
              <a:rPr sz="4200"/>
              <a:t>Mar: Ruth's diagnosis → Apr: Karen toward Ruth → May: Karen/Jim conflict → Aug: Sarah leaves → Oct: Matt's panic attacks</a:t>
            </a:r>
          </a:p>
          <a:p>
            <a:r>
              <a:rPr sz="4200"/>
              <a:t>"None of this came in this order. The interview jumped around. But the timeline shows the sequence. The panic attacks are the last thing that happened, not the first."</a:t>
            </a:r>
          </a:p>
          <a:p>
            <a:endParaRPr sz="4200"/>
          </a:p>
          <a:p>
            <a:r>
              <a:rPr sz="4200"/>
              <a:t>FOLLOW-UP INQUIRY ON TRIGGERING EVENT:</a:t>
            </a:r>
          </a:p>
          <a:p>
            <a:r>
              <a:rPr sz="4200"/>
              <a:t>When you see a connection like this, ask about it. Open question about Ruth's diagnosis. Client reveals emotional energy around that event—Karen on phone with Ruth every day, Jim felt shut out, house was tense. The timeline pointed you where to look; follow-up confirms whether there's something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THE FORMULATION — WHAT THE TIMELINE IS SHOWING</a:t>
            </a:r>
          </a:p>
          <a:p>
            <a:r>
              <a:rPr sz="4200"/>
              <a:t>Ruth's cancer diagnosis introduced acute anxiety (perceived uncertainty + urgency). Karen automatically shifted toward her mother, which pulled her away from Jim and the nuclear family. Marriage destabilized: conflict rose. Sarah left for college, removing another tension absorber. Matt is now the only child with two anxious, conflicting parents.</a:t>
            </a:r>
          </a:p>
          <a:p>
            <a:r>
              <a:rPr sz="4200"/>
              <a:t>R → A → S. The relationship shifts modulated anxiety upward; the symptom appeared at the end of the chain.</a:t>
            </a:r>
          </a:p>
          <a:p>
            <a:r>
              <a:rPr sz="4200"/>
              <a:t>If you only look at Matt, you treat teenage anxiety. If you look at the family timeline, you see the process.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B09CA-5662-101C-A570-AC61CBADB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6B28A-CD91-DEBE-E02F-2869956A7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8B89C-33F9-123A-764E-30A3CAEF00D2}"/>
              </a:ext>
            </a:extLst>
          </p:cNvPr>
          <p:cNvSpPr>
            <a:spLocks noGrp="1"/>
          </p:cNvSpPr>
          <p:nvPr>
            <p:ph type="body" idx="1"/>
          </p:nvPr>
        </p:nvSpPr>
        <p:spPr/>
        <p:txBody>
          <a:bodyPr/>
          <a:lstStyle/>
          <a:p>
            <a:r>
              <a:rPr lang="en-US" sz="4200" dirty="0"/>
              <a:t>James Gleick — American author and science historian (b. 1954), from Chaos: Making a New Science (1987)</a:t>
            </a:r>
          </a:p>
          <a:p>
            <a:endParaRPr lang="en-US" sz="4200" dirty="0"/>
          </a:p>
          <a:p>
            <a:r>
              <a:rPr lang="en-US" sz="4200" dirty="0"/>
              <a:t>GLEICK QUOTE</a:t>
            </a:r>
          </a:p>
          <a:p>
            <a:endParaRPr lang="en-US" sz="4200" dirty="0"/>
          </a:p>
          <a:p>
            <a:r>
              <a:rPr lang="en-US" sz="4200" dirty="0"/>
              <a:t>"You don't see something until you have the right metaphor to let you perceive it."</a:t>
            </a:r>
          </a:p>
          <a:p>
            <a:endParaRPr lang="en-US" sz="4200" dirty="0"/>
          </a:p>
          <a:p>
            <a:r>
              <a:rPr lang="en-US" sz="4200" dirty="0"/>
              <a:t>Transition into the Blade of Grass metaphor.</a:t>
            </a:r>
          </a:p>
        </p:txBody>
      </p:sp>
      <p:sp>
        <p:nvSpPr>
          <p:cNvPr id="4" name="Slide Number Placeholder 3">
            <a:extLst>
              <a:ext uri="{FF2B5EF4-FFF2-40B4-BE49-F238E27FC236}">
                <a16:creationId xmlns:a16="http://schemas.microsoft.com/office/drawing/2014/main" id="{9E1E9ECF-E335-D6E1-474A-E7996CDE8A3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14301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APP SEMINAR (5 min)</a:t>
            </a:r>
          </a:p>
          <a:p>
            <a:r>
              <a:rPr sz="4200"/>
              <a:t>Monthly Zoom, community of practice.</a:t>
            </a:r>
          </a:p>
          <a:p>
            <a:r>
              <a:rPr sz="4200"/>
              <a:t>Falsifiable thinking + data collection.</a:t>
            </a:r>
          </a:p>
          <a:p>
            <a:r>
              <a:rPr sz="4200"/>
              <a:t>Best example: Dr. Havstad—who you're about to see.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HANDOFF → HAVSTAD (2 min)</a:t>
            </a:r>
          </a:p>
          <a:p>
            <a:r>
              <a:rPr sz="4200"/>
              <a:t>"I showed you the tool. Laura is going to show you what it looks like when a clinician uses it on a real case."</a:t>
            </a:r>
          </a:p>
          <a:p>
            <a:r>
              <a:rPr sz="4200"/>
              <a:t>alaskafamilysystems.com/family-diagram</a:t>
            </a:r>
          </a:p>
          <a:p>
            <a:endParaRPr sz="4200"/>
          </a:p>
          <a:p>
            <a:r>
              <a:rPr sz="4200"/>
              <a:t>Q&amp;A follows (17 min).</a:t>
            </a:r>
          </a:p>
          <a:p>
            <a:endParaRPr sz="4200"/>
          </a:p>
          <a:p>
            <a:r>
              <a:rPr sz="4200"/>
              <a:t>PREP CHECKLIST:</a:t>
            </a:r>
          </a:p>
          <a:p>
            <a:r>
              <a:rPr sz="4200"/>
              <a:t>- Practice demo 2-3x (all via add form, tidy-arrange after structure events)</a:t>
            </a:r>
          </a:p>
          <a:p>
            <a:r>
              <a:rPr sz="4200"/>
              <a:t>- Verbal backup plan if tech fails</a:t>
            </a:r>
          </a:p>
          <a:p>
            <a:r>
              <a:rPr sz="4200"/>
              <a:t>- Test screen share on Zoom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822960"/>
            <a:ext cx="7680960" cy="164592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The Family</a:t>
            </a:r>
            <a:endParaRPr lang="en-US" sz="4400" dirty="0"/>
          </a:p>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Diagram App</a:t>
            </a:r>
            <a:endParaRPr lang="en-US" sz="4400" dirty="0"/>
          </a:p>
        </p:txBody>
      </p:sp>
      <p:sp>
        <p:nvSpPr>
          <p:cNvPr id="4" name="Shape 2"/>
          <p:cNvSpPr/>
          <p:nvPr/>
        </p:nvSpPr>
        <p:spPr>
          <a:xfrm>
            <a:off x="731520" y="2651760"/>
            <a:ext cx="1097280" cy="36576"/>
          </a:xfrm>
          <a:prstGeom prst="rect">
            <a:avLst/>
          </a:prstGeom>
          <a:solidFill>
            <a:srgbClr val="0891B2"/>
          </a:solidFill>
          <a:ln/>
        </p:spPr>
        <p:txBody>
          <a:bodyPr/>
          <a:lstStyle/>
          <a:p>
            <a:endParaRPr lang="en-US"/>
          </a:p>
        </p:txBody>
      </p:sp>
      <p:sp>
        <p:nvSpPr>
          <p:cNvPr id="5" name="Text 3"/>
          <p:cNvSpPr/>
          <p:nvPr/>
        </p:nvSpPr>
        <p:spPr>
          <a:xfrm>
            <a:off x="731520" y="2834640"/>
            <a:ext cx="7680960" cy="548640"/>
          </a:xfrm>
          <a:prstGeom prst="rect">
            <a:avLst/>
          </a:prstGeom>
          <a:noFill/>
          <a:ln/>
        </p:spPr>
        <p:txBody>
          <a:bodyPr wrap="square" lIns="0" tIns="0" rIns="0" bIns="0" rtlCol="0" anchor="ctr"/>
          <a:lstStyle/>
          <a:p>
            <a:pPr marL="0" indent="0">
              <a:buNone/>
            </a:pPr>
            <a:r>
              <a:rPr lang="en-US" sz="2000" dirty="0">
                <a:solidFill>
                  <a:srgbClr val="22D3EE"/>
                </a:solidFill>
                <a:latin typeface="Calibri" pitchFamily="34" charset="0"/>
                <a:ea typeface="Calibri" pitchFamily="34" charset="-122"/>
                <a:cs typeface="Calibri" pitchFamily="34" charset="-120"/>
              </a:rPr>
              <a:t>Visualizing Emotional Process Over Time</a:t>
            </a:r>
            <a:endParaRPr lang="en-US" sz="2000" dirty="0"/>
          </a:p>
        </p:txBody>
      </p:sp>
      <p:sp>
        <p:nvSpPr>
          <p:cNvPr id="6" name="Text 4"/>
          <p:cNvSpPr/>
          <p:nvPr/>
        </p:nvSpPr>
        <p:spPr>
          <a:xfrm>
            <a:off x="731520" y="3657600"/>
            <a:ext cx="36576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Presentation 4 of 5</a:t>
            </a:r>
            <a:endParaRPr lang="en-US" sz="1300" dirty="0"/>
          </a:p>
        </p:txBody>
      </p:sp>
      <p:sp>
        <p:nvSpPr>
          <p:cNvPr id="7" name="Text 5"/>
          <p:cNvSpPr/>
          <p:nvPr/>
        </p:nvSpPr>
        <p:spPr>
          <a:xfrm>
            <a:off x="731520" y="4114800"/>
            <a:ext cx="5486400" cy="36576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alaskafamilysystems.com/family-diagram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lIns="0" tIns="0" rIns="0" bIns="0" rtlCol="0" anchor="ctr"/>
          <a:lstStyle/>
          <a:p>
            <a:pPr marL="0" indent="0">
              <a:lnSpc>
                <a:spcPct val="120000"/>
              </a:lnSpc>
              <a:buNone/>
            </a:pPr>
            <a:r>
              <a:rPr lang="en-US" sz="3000" b="1" dirty="0">
                <a:solidFill>
                  <a:srgbClr val="1E293B"/>
                </a:solidFill>
                <a:latin typeface="Georgia" pitchFamily="34" charset="0"/>
                <a:ea typeface="Georgia" pitchFamily="34" charset="-122"/>
                <a:cs typeface="Georgia" pitchFamily="34" charset="-120"/>
              </a:rPr>
              <a:t>Everything we talked about</a:t>
            </a:r>
            <a:endParaRPr lang="en-US" sz="3000" dirty="0"/>
          </a:p>
          <a:p>
            <a:pPr marL="0" indent="0">
              <a:lnSpc>
                <a:spcPct val="120000"/>
              </a:lnSpc>
              <a:buNone/>
            </a:pPr>
            <a:r>
              <a:rPr lang="en-US" sz="3000" b="1" dirty="0">
                <a:solidFill>
                  <a:srgbClr val="1E293B"/>
                </a:solidFill>
                <a:latin typeface="Georgia" pitchFamily="34" charset="0"/>
                <a:ea typeface="Georgia" pitchFamily="34" charset="-122"/>
                <a:cs typeface="Georgia" pitchFamily="34" charset="-120"/>
              </a:rPr>
              <a:t>this morning lives in this app (so far).</a:t>
            </a:r>
            <a:endParaRPr lang="en-US" sz="3000" dirty="0"/>
          </a:p>
        </p:txBody>
      </p:sp>
      <p:sp>
        <p:nvSpPr>
          <p:cNvPr id="3" name="Text 1"/>
          <p:cNvSpPr/>
          <p:nvPr/>
        </p:nvSpPr>
        <p:spPr>
          <a:xfrm>
            <a:off x="731520" y="2743200"/>
            <a:ext cx="7680960" cy="457200"/>
          </a:xfrm>
          <a:prstGeom prst="rect">
            <a:avLst/>
          </a:prstGeom>
          <a:noFill/>
          <a:ln/>
        </p:spPr>
        <p:txBody>
          <a:bodyPr wrap="square" lIns="0" tIns="0" rIns="0" bIns="0" rtlCol="0" anchor="ctr"/>
          <a:lstStyle/>
          <a:p>
            <a:pPr marL="0" indent="0">
              <a:buNone/>
            </a:pPr>
            <a:r>
              <a:rPr lang="en-US" sz="1800" i="1" dirty="0">
                <a:solidFill>
                  <a:srgbClr val="0891B2"/>
                </a:solidFill>
                <a:latin typeface="Georgia" pitchFamily="34" charset="0"/>
                <a:ea typeface="Georgia" pitchFamily="34" charset="-122"/>
                <a:cs typeface="Georgia" pitchFamily="34" charset="-120"/>
              </a:rPr>
              <a:t>From abstract framework to concrete tool.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It Is</a:t>
            </a:r>
            <a:endParaRPr lang="en-US" sz="2800" dirty="0"/>
          </a:p>
        </p:txBody>
      </p:sp>
      <p:sp>
        <p:nvSpPr>
          <p:cNvPr id="3" name="Text 1"/>
          <p:cNvSpPr/>
          <p:nvPr/>
        </p:nvSpPr>
        <p:spPr>
          <a:xfrm>
            <a:off x="731520" y="914400"/>
            <a:ext cx="7680960" cy="457200"/>
          </a:xfrm>
          <a:prstGeom prst="rect">
            <a:avLst/>
          </a:prstGeom>
          <a:noFill/>
          <a:ln/>
        </p:spPr>
        <p:txBody>
          <a:bodyPr wrap="square" lIns="0" tIns="0" rIns="0" bIns="0" rtlCol="0" anchor="ctr"/>
          <a:lstStyle/>
          <a:p>
            <a:pPr marL="0" indent="0">
              <a:buNone/>
            </a:pPr>
            <a:r>
              <a:rPr lang="en-US" sz="2000" b="1" dirty="0">
                <a:solidFill>
                  <a:srgbClr val="0891B2"/>
                </a:solidFill>
                <a:latin typeface="Georgia" pitchFamily="34" charset="0"/>
                <a:ea typeface="Georgia" pitchFamily="34" charset="-122"/>
                <a:cs typeface="Georgia" pitchFamily="34" charset="-120"/>
              </a:rPr>
              <a:t>Diagram + Timeline — Linked</a:t>
            </a:r>
            <a:endParaRPr lang="en-US" sz="2000" dirty="0"/>
          </a:p>
        </p:txBody>
      </p:sp>
      <p:sp>
        <p:nvSpPr>
          <p:cNvPr id="4" name="Shape 2"/>
          <p:cNvSpPr/>
          <p:nvPr/>
        </p:nvSpPr>
        <p:spPr>
          <a:xfrm>
            <a:off x="731520" y="1554480"/>
            <a:ext cx="3657600" cy="2103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731520" y="1554480"/>
            <a:ext cx="3657600" cy="54864"/>
          </a:xfrm>
          <a:prstGeom prst="rect">
            <a:avLst/>
          </a:prstGeom>
          <a:solidFill>
            <a:srgbClr val="0891B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1737360"/>
            <a:ext cx="365760" cy="365760"/>
          </a:xfrm>
          <a:prstGeom prst="rect">
            <a:avLst/>
          </a:prstGeom>
        </p:spPr>
      </p:pic>
      <p:sp>
        <p:nvSpPr>
          <p:cNvPr id="7" name="Text 4"/>
          <p:cNvSpPr/>
          <p:nvPr/>
        </p:nvSpPr>
        <p:spPr>
          <a:xfrm>
            <a:off x="1508760" y="1737360"/>
            <a:ext cx="2560320" cy="36576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Diagram</a:t>
            </a:r>
            <a:endParaRPr lang="en-US" sz="1800" dirty="0"/>
          </a:p>
        </p:txBody>
      </p:sp>
      <p:sp>
        <p:nvSpPr>
          <p:cNvPr id="8" name="Text 5"/>
          <p:cNvSpPr/>
          <p:nvPr/>
        </p:nvSpPr>
        <p:spPr>
          <a:xfrm>
            <a:off x="1005840" y="2194560"/>
            <a:ext cx="3108960" cy="1280160"/>
          </a:xfrm>
          <a:prstGeom prst="rect">
            <a:avLst/>
          </a:prstGeom>
          <a:noFill/>
          <a:ln/>
        </p:spPr>
        <p:txBody>
          <a:bodyPr wrap="square" lIns="0" tIns="0" rIns="0" bIns="0" rtlCol="0" anchor="ctr"/>
          <a:lstStyle/>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Family structure + emotional</a:t>
            </a:r>
            <a:endParaRPr lang="en-US" sz="1300" dirty="0"/>
          </a:p>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process symbols</a:t>
            </a:r>
            <a:endParaRPr lang="en-US" sz="1300" dirty="0"/>
          </a:p>
          <a:p>
            <a:pPr marL="0" indent="0">
              <a:lnSpc>
                <a:spcPct val="130000"/>
              </a:lnSpc>
              <a:buNone/>
            </a:pPr>
            <a:endParaRPr lang="en-US" sz="1300" dirty="0"/>
          </a:p>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Changes as you move</a:t>
            </a:r>
            <a:endParaRPr lang="en-US" sz="1300" dirty="0"/>
          </a:p>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through the timeline</a:t>
            </a:r>
            <a:endParaRPr lang="en-US" sz="1300" dirty="0"/>
          </a:p>
        </p:txBody>
      </p:sp>
      <p:sp>
        <p:nvSpPr>
          <p:cNvPr id="9" name="Shape 6"/>
          <p:cNvSpPr/>
          <p:nvPr/>
        </p:nvSpPr>
        <p:spPr>
          <a:xfrm>
            <a:off x="4754880" y="1554480"/>
            <a:ext cx="3657600" cy="2103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4754880" y="1554480"/>
            <a:ext cx="3657600" cy="54864"/>
          </a:xfrm>
          <a:prstGeom prst="rect">
            <a:avLst/>
          </a:prstGeom>
          <a:solidFill>
            <a:srgbClr val="D97706"/>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737360"/>
            <a:ext cx="365760" cy="365760"/>
          </a:xfrm>
          <a:prstGeom prst="rect">
            <a:avLst/>
          </a:prstGeom>
        </p:spPr>
      </p:pic>
      <p:sp>
        <p:nvSpPr>
          <p:cNvPr id="12" name="Text 8"/>
          <p:cNvSpPr/>
          <p:nvPr/>
        </p:nvSpPr>
        <p:spPr>
          <a:xfrm>
            <a:off x="5532120" y="1737360"/>
            <a:ext cx="2560320" cy="36576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Timeline</a:t>
            </a:r>
            <a:endParaRPr lang="en-US" sz="1800" dirty="0"/>
          </a:p>
        </p:txBody>
      </p:sp>
      <p:sp>
        <p:nvSpPr>
          <p:cNvPr id="13" name="Text 9"/>
          <p:cNvSpPr/>
          <p:nvPr/>
        </p:nvSpPr>
        <p:spPr>
          <a:xfrm>
            <a:off x="5029200" y="2194560"/>
            <a:ext cx="3108960" cy="1280160"/>
          </a:xfrm>
          <a:prstGeom prst="rect">
            <a:avLst/>
          </a:prstGeom>
          <a:noFill/>
          <a:ln/>
        </p:spPr>
        <p:txBody>
          <a:bodyPr wrap="square" lIns="0" tIns="0" rIns="0" bIns="0" rtlCol="0" anchor="ctr"/>
          <a:lstStyle/>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Facts — births, deaths, cutoffs,</a:t>
            </a:r>
            <a:endParaRPr lang="en-US" sz="1300" dirty="0"/>
          </a:p>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shifts, events</a:t>
            </a:r>
            <a:endParaRPr lang="en-US" sz="1300" dirty="0"/>
          </a:p>
          <a:p>
            <a:pPr marL="0" indent="0">
              <a:lnSpc>
                <a:spcPct val="130000"/>
              </a:lnSpc>
              <a:buNone/>
            </a:pPr>
            <a:endParaRPr lang="en-US" sz="1300" dirty="0"/>
          </a:p>
          <a:p>
            <a:pPr marL="0" indent="0">
              <a:lnSpc>
                <a:spcPct val="130000"/>
              </a:lnSpc>
              <a:buNone/>
            </a:pPr>
            <a:r>
              <a:rPr lang="en-US" sz="1300" dirty="0">
                <a:solidFill>
                  <a:srgbClr val="475569"/>
                </a:solidFill>
                <a:latin typeface="Calibri" pitchFamily="34" charset="0"/>
                <a:ea typeface="Calibri" pitchFamily="34" charset="-122"/>
                <a:cs typeface="Calibri" pitchFamily="34" charset="-120"/>
              </a:rPr>
              <a:t>Record the shift, not the judgment</a:t>
            </a:r>
            <a:endParaRPr lang="en-US" sz="1300" dirty="0"/>
          </a:p>
        </p:txBody>
      </p:sp>
      <p:sp>
        <p:nvSpPr>
          <p:cNvPr id="14" name="Text 10"/>
          <p:cNvSpPr/>
          <p:nvPr/>
        </p:nvSpPr>
        <p:spPr>
          <a:xfrm>
            <a:off x="731520" y="3931920"/>
            <a:ext cx="7680960" cy="457200"/>
          </a:xfrm>
          <a:prstGeom prst="rect">
            <a:avLst/>
          </a:prstGeom>
          <a:noFill/>
          <a:ln/>
        </p:spPr>
        <p:txBody>
          <a:bodyPr wrap="square" lIns="0" tIns="0" rIns="0" bIns="0" rtlCol="0" anchor="ctr"/>
          <a:lstStyle/>
          <a:p>
            <a:pPr marL="0" indent="0">
              <a:buNone/>
            </a:pPr>
            <a:r>
              <a:rPr lang="en-US" sz="1500" i="1" dirty="0">
                <a:solidFill>
                  <a:srgbClr val="475569"/>
                </a:solidFill>
                <a:latin typeface="Calibri" pitchFamily="34" charset="0"/>
                <a:ea typeface="Calibri" pitchFamily="34" charset="-122"/>
                <a:cs typeface="Calibri" pitchFamily="34" charset="-120"/>
              </a:rPr>
              <a:t>Not a genogram (static snapshot, no predictive model).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Capabilities</a:t>
            </a:r>
            <a:endParaRPr lang="en-US" sz="2800" dirty="0"/>
          </a:p>
        </p:txBody>
      </p:sp>
      <p:sp>
        <p:nvSpPr>
          <p:cNvPr id="3" name="Shape 1"/>
          <p:cNvSpPr/>
          <p:nvPr/>
        </p:nvSpPr>
        <p:spPr>
          <a:xfrm>
            <a:off x="731520" y="1188720"/>
            <a:ext cx="36576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731520" y="1188720"/>
            <a:ext cx="54864" cy="1188720"/>
          </a:xfrm>
          <a:prstGeom prst="rect">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05840" y="1417320"/>
            <a:ext cx="365760" cy="365760"/>
          </a:xfrm>
          <a:prstGeom prst="rect">
            <a:avLst/>
          </a:prstGeom>
        </p:spPr>
      </p:pic>
      <p:sp>
        <p:nvSpPr>
          <p:cNvPr id="6" name="Text 3"/>
          <p:cNvSpPr/>
          <p:nvPr/>
        </p:nvSpPr>
        <p:spPr>
          <a:xfrm>
            <a:off x="1508760" y="1325880"/>
            <a:ext cx="256032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Animated Timeline</a:t>
            </a:r>
            <a:endParaRPr lang="en-US" sz="1600" dirty="0"/>
          </a:p>
        </p:txBody>
      </p:sp>
      <p:sp>
        <p:nvSpPr>
          <p:cNvPr id="7" name="Text 4"/>
          <p:cNvSpPr/>
          <p:nvPr/>
        </p:nvSpPr>
        <p:spPr>
          <a:xfrm>
            <a:off x="1508760" y="1737360"/>
            <a:ext cx="2560320" cy="4572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Watch a family's process unfold over decades</a:t>
            </a:r>
            <a:endParaRPr lang="en-US" sz="1300" dirty="0"/>
          </a:p>
        </p:txBody>
      </p:sp>
      <p:sp>
        <p:nvSpPr>
          <p:cNvPr id="8" name="Shape 5"/>
          <p:cNvSpPr/>
          <p:nvPr/>
        </p:nvSpPr>
        <p:spPr>
          <a:xfrm>
            <a:off x="4754880" y="1188720"/>
            <a:ext cx="36576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54880" y="1188720"/>
            <a:ext cx="54864" cy="1188720"/>
          </a:xfrm>
          <a:prstGeom prst="rect">
            <a:avLst/>
          </a:prstGeom>
          <a:solidFill>
            <a:srgbClr val="0891B2"/>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029200" y="1417320"/>
            <a:ext cx="365760" cy="365760"/>
          </a:xfrm>
          <a:prstGeom prst="rect">
            <a:avLst/>
          </a:prstGeom>
        </p:spPr>
      </p:pic>
      <p:sp>
        <p:nvSpPr>
          <p:cNvPr id="11" name="Text 7"/>
          <p:cNvSpPr/>
          <p:nvPr/>
        </p:nvSpPr>
        <p:spPr>
          <a:xfrm>
            <a:off x="5532120" y="1325880"/>
            <a:ext cx="256032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SARF Built In</a:t>
            </a:r>
            <a:endParaRPr lang="en-US" sz="1600" dirty="0"/>
          </a:p>
        </p:txBody>
      </p:sp>
      <p:sp>
        <p:nvSpPr>
          <p:cNvPr id="12" name="Text 8"/>
          <p:cNvSpPr/>
          <p:nvPr/>
        </p:nvSpPr>
        <p:spPr>
          <a:xfrm>
            <a:off x="5532120" y="1737360"/>
            <a:ext cx="2560320" cy="4572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S, A, R, F trackable over time — including triangle views</a:t>
            </a:r>
            <a:endParaRPr lang="en-US" sz="1300" dirty="0"/>
          </a:p>
        </p:txBody>
      </p:sp>
      <p:sp>
        <p:nvSpPr>
          <p:cNvPr id="13" name="Shape 9"/>
          <p:cNvSpPr/>
          <p:nvPr/>
        </p:nvSpPr>
        <p:spPr>
          <a:xfrm>
            <a:off x="731520" y="2606040"/>
            <a:ext cx="36576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731520" y="2606040"/>
            <a:ext cx="54864" cy="1188720"/>
          </a:xfrm>
          <a:prstGeom prst="rect">
            <a:avLst/>
          </a:prstGeom>
          <a:solidFill>
            <a:srgbClr val="0891B2"/>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1005840" y="2834640"/>
            <a:ext cx="365760" cy="365760"/>
          </a:xfrm>
          <a:prstGeom prst="rect">
            <a:avLst/>
          </a:prstGeom>
        </p:spPr>
      </p:pic>
      <p:sp>
        <p:nvSpPr>
          <p:cNvPr id="16" name="Text 11"/>
          <p:cNvSpPr/>
          <p:nvPr/>
        </p:nvSpPr>
        <p:spPr>
          <a:xfrm>
            <a:off x="1508760" y="2743200"/>
            <a:ext cx="256032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Filtering</a:t>
            </a:r>
            <a:endParaRPr lang="en-US" sz="1600" dirty="0"/>
          </a:p>
        </p:txBody>
      </p:sp>
      <p:sp>
        <p:nvSpPr>
          <p:cNvPr id="17" name="Text 12"/>
          <p:cNvSpPr/>
          <p:nvPr/>
        </p:nvSpPr>
        <p:spPr>
          <a:xfrm>
            <a:off x="1508760" y="3154680"/>
            <a:ext cx="2560320" cy="4572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By person, event type, date range</a:t>
            </a:r>
            <a:endParaRPr lang="en-US" sz="1300" dirty="0"/>
          </a:p>
        </p:txBody>
      </p:sp>
      <p:sp>
        <p:nvSpPr>
          <p:cNvPr id="18" name="Shape 13"/>
          <p:cNvSpPr/>
          <p:nvPr/>
        </p:nvSpPr>
        <p:spPr>
          <a:xfrm>
            <a:off x="4754880" y="2606040"/>
            <a:ext cx="36576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754880" y="2606040"/>
            <a:ext cx="54864" cy="1188720"/>
          </a:xfrm>
          <a:prstGeom prst="rect">
            <a:avLst/>
          </a:prstGeom>
          <a:solidFill>
            <a:srgbClr val="0891B2"/>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5029200" y="2834640"/>
            <a:ext cx="365760" cy="365760"/>
          </a:xfrm>
          <a:prstGeom prst="rect">
            <a:avLst/>
          </a:prstGeom>
        </p:spPr>
      </p:pic>
      <p:sp>
        <p:nvSpPr>
          <p:cNvPr id="21" name="Text 15"/>
          <p:cNvSpPr/>
          <p:nvPr/>
        </p:nvSpPr>
        <p:spPr>
          <a:xfrm>
            <a:off x="5532120" y="2743200"/>
            <a:ext cx="256032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Presentation Mode</a:t>
            </a:r>
            <a:endParaRPr lang="en-US" sz="1600" dirty="0"/>
          </a:p>
        </p:txBody>
      </p:sp>
      <p:sp>
        <p:nvSpPr>
          <p:cNvPr id="22" name="Text 16"/>
          <p:cNvSpPr/>
          <p:nvPr/>
        </p:nvSpPr>
        <p:spPr>
          <a:xfrm>
            <a:off x="5532120" y="3154680"/>
            <a:ext cx="2560320" cy="4572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How Laura will show her case next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7490"/>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91440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Live Demo</a:t>
            </a:r>
            <a:endParaRPr lang="en-US" sz="4200" dirty="0"/>
          </a:p>
        </p:txBody>
      </p:sp>
      <p:sp>
        <p:nvSpPr>
          <p:cNvPr id="3" name="Text 1"/>
          <p:cNvSpPr/>
          <p:nvPr/>
        </p:nvSpPr>
        <p:spPr>
          <a:xfrm>
            <a:off x="731520" y="2103120"/>
            <a:ext cx="7680960" cy="731520"/>
          </a:xfrm>
          <a:prstGeom prst="rect">
            <a:avLst/>
          </a:prstGeom>
          <a:noFill/>
          <a:ln/>
        </p:spPr>
        <p:txBody>
          <a:bodyPr wrap="square" lIns="0" tIns="0" rIns="0" bIns="0" rtlCol="0" anchor="ctr"/>
          <a:lstStyle/>
          <a:p>
            <a:pPr marL="0" indent="0">
              <a:buNone/>
            </a:pPr>
            <a:r>
              <a:rPr lang="en-US" sz="2400" dirty="0">
                <a:solidFill>
                  <a:srgbClr val="22D3EE"/>
                </a:solidFill>
                <a:latin typeface="Calibri" pitchFamily="34" charset="0"/>
                <a:ea typeface="Calibri" pitchFamily="34" charset="-122"/>
                <a:cs typeface="Calibri" pitchFamily="34" charset="-120"/>
              </a:rPr>
              <a:t>The Martin Family</a:t>
            </a:r>
            <a:endParaRPr lang="en-US" sz="2400" dirty="0"/>
          </a:p>
        </p:txBody>
      </p:sp>
      <p:sp>
        <p:nvSpPr>
          <p:cNvPr id="4" name="Text 2"/>
          <p:cNvSpPr/>
          <p:nvPr/>
        </p:nvSpPr>
        <p:spPr>
          <a:xfrm>
            <a:off x="731520" y="4389120"/>
            <a:ext cx="2743200" cy="365760"/>
          </a:xfrm>
          <a:prstGeom prst="rect">
            <a:avLst/>
          </a:prstGeom>
          <a:noFill/>
          <a:ln/>
        </p:spPr>
        <p:txBody>
          <a:bodyPr wrap="square" lIns="0" tIns="0" rIns="0" bIns="0" rtlCol="0" anchor="ctr"/>
          <a:lstStyle/>
          <a:p>
            <a:pPr marL="0" indent="0">
              <a:buNone/>
            </a:pPr>
            <a:r>
              <a:rPr lang="en-US" sz="1300" i="1" dirty="0">
                <a:solidFill>
                  <a:srgbClr val="22D3EE"/>
                </a:solidFill>
                <a:latin typeface="Calibri" pitchFamily="34" charset="0"/>
                <a:ea typeface="Calibri" pitchFamily="34" charset="-122"/>
                <a:cs typeface="Calibri" pitchFamily="34" charset="-120"/>
              </a:rPr>
              <a:t>17 minutes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Brings You In?"</a:t>
            </a:r>
            <a:endParaRPr lang="en-US" sz="2600" dirty="0"/>
          </a:p>
        </p:txBody>
      </p:sp>
      <p:sp>
        <p:nvSpPr>
          <p:cNvPr id="3" name="Shape 1"/>
          <p:cNvSpPr/>
          <p:nvPr/>
        </p:nvSpPr>
        <p:spPr>
          <a:xfrm>
            <a:off x="731520" y="1188720"/>
            <a:ext cx="7680960" cy="1097280"/>
          </a:xfrm>
          <a:prstGeom prst="rect">
            <a:avLst/>
          </a:prstGeom>
          <a:solidFill>
            <a:srgbClr val="1B2A4A"/>
          </a:solidFill>
          <a:ln/>
        </p:spPr>
        <p:txBody>
          <a:bodyPr/>
          <a:lstStyle/>
          <a:p>
            <a:endParaRPr lang="en-US"/>
          </a:p>
        </p:txBody>
      </p:sp>
      <p:sp>
        <p:nvSpPr>
          <p:cNvPr id="4" name="Text 2"/>
          <p:cNvSpPr/>
          <p:nvPr/>
        </p:nvSpPr>
        <p:spPr>
          <a:xfrm>
            <a:off x="1005840" y="1188720"/>
            <a:ext cx="7132320" cy="640080"/>
          </a:xfrm>
          <a:prstGeom prst="rect">
            <a:avLst/>
          </a:prstGeom>
          <a:noFill/>
          <a:ln/>
        </p:spPr>
        <p:txBody>
          <a:bodyPr wrap="square" lIns="0" tIns="0" rIns="0" bIns="0" rtlCol="0" anchor="ctr"/>
          <a:lstStyle/>
          <a:p>
            <a:pPr marL="0" indent="0">
              <a:lnSpc>
                <a:spcPct val="140000"/>
              </a:lnSpc>
              <a:buNone/>
            </a:pPr>
            <a:r>
              <a:rPr lang="en-US" sz="1700" dirty="0">
                <a:solidFill>
                  <a:srgbClr val="FFFFFF"/>
                </a:solidFill>
                <a:latin typeface="Calibri" pitchFamily="34" charset="0"/>
                <a:ea typeface="Calibri" pitchFamily="34" charset="-122"/>
                <a:cs typeface="Calibri" pitchFamily="34" charset="-120"/>
              </a:rPr>
              <a:t>A 16-year-old named Matt is having panic attacks.</a:t>
            </a:r>
            <a:endParaRPr lang="en-US" sz="1700" dirty="0"/>
          </a:p>
          <a:p>
            <a:pPr marL="0" indent="0">
              <a:lnSpc>
                <a:spcPct val="140000"/>
              </a:lnSpc>
              <a:buNone/>
            </a:pPr>
            <a:r>
              <a:rPr lang="en-US" sz="1700" dirty="0">
                <a:solidFill>
                  <a:srgbClr val="FFFFFF"/>
                </a:solidFill>
                <a:latin typeface="Calibri" pitchFamily="34" charset="0"/>
                <a:ea typeface="Calibri" pitchFamily="34" charset="-122"/>
                <a:cs typeface="Calibri" pitchFamily="34" charset="-120"/>
              </a:rPr>
              <a:t>His parents say it's school stress.</a:t>
            </a:r>
            <a:endParaRPr lang="en-US" sz="1700" dirty="0"/>
          </a:p>
        </p:txBody>
      </p:sp>
      <p:sp>
        <p:nvSpPr>
          <p:cNvPr id="5" name="Text 3"/>
          <p:cNvSpPr/>
          <p:nvPr/>
        </p:nvSpPr>
        <p:spPr>
          <a:xfrm>
            <a:off x="1005840" y="1828800"/>
            <a:ext cx="7132320" cy="457200"/>
          </a:xfrm>
          <a:prstGeom prst="rect">
            <a:avLst/>
          </a:prstGeom>
          <a:noFill/>
          <a:ln/>
        </p:spPr>
        <p:txBody>
          <a:bodyPr wrap="square" lIns="0" tIns="0" rIns="0" bIns="0" rtlCol="0" anchor="ctr"/>
          <a:lstStyle/>
          <a:p>
            <a:pPr marL="0" indent="0">
              <a:buNone/>
            </a:pPr>
            <a:r>
              <a:rPr lang="en-US" sz="1400" i="1" dirty="0">
                <a:solidFill>
                  <a:srgbClr val="22D3EE"/>
                </a:solidFill>
                <a:latin typeface="Calibri" pitchFamily="34" charset="0"/>
                <a:ea typeface="Calibri" pitchFamily="34" charset="-122"/>
                <a:cs typeface="Calibri" pitchFamily="34" charset="-120"/>
              </a:rPr>
              <a:t>Let's enter this family the way the data actually comes in —</a:t>
            </a:r>
            <a:endParaRPr lang="en-US" sz="1400" dirty="0"/>
          </a:p>
          <a:p>
            <a:pPr marL="0" indent="0">
              <a:buNone/>
            </a:pPr>
            <a:r>
              <a:rPr lang="en-US" sz="1400" i="1" dirty="0">
                <a:solidFill>
                  <a:srgbClr val="22D3EE"/>
                </a:solidFill>
                <a:latin typeface="Calibri" pitchFamily="34" charset="0"/>
                <a:ea typeface="Calibri" pitchFamily="34" charset="-122"/>
                <a:cs typeface="Calibri" pitchFamily="34" charset="-120"/>
              </a:rPr>
              <a:t>from an interview.</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560320"/>
          <a:ext cx="7680960" cy="1389888"/>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34747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Kind</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Person</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SARF / Notes</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Shift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Matt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Oct 2018</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 up. A: up. "Panic attacks"</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Birth</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Karen (Jim)</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2003</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child: Matt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extLst>
                  <a:ext uri="{0D108BD9-81ED-4DB2-BD59-A6C34878D82A}">
                    <a16:rowId xmlns:a16="http://schemas.microsoft.com/office/drawing/2014/main" val="10002"/>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Birth</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Karen (Jim)</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2000</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child: Sarah</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"What's Going on in the Family?"</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687142069"/>
              </p:ext>
            </p:extLst>
          </p:nvPr>
        </p:nvGraphicFramePr>
        <p:xfrm>
          <a:off x="731520" y="1188720"/>
          <a:ext cx="7275449" cy="1877568"/>
        </p:xfrm>
        <a:graphic>
          <a:graphicData uri="http://schemas.openxmlformats.org/drawingml/2006/table">
            <a:tbl>
              <a:tblPr/>
              <a:tblGrid>
                <a:gridCol w="69176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34747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Kind</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Person</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SARF / Notes</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Shift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Karen</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May 2018</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 conflict (Jim). A: up. “Arguments”</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Shift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Karen</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Apr 2018</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 toward Ruth. A: up. “More contact with mom”</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extLst>
                  <a:ext uri="{0D108BD9-81ED-4DB2-BD59-A6C34878D82A}">
                    <a16:rowId xmlns:a16="http://schemas.microsoft.com/office/drawing/2014/main" val="10002"/>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Shift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Sarah</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Aug 2018</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 Away Jim, Karen, Matt. “Left for college”</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Shift</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Ruth</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dirty="0">
                          <a:solidFill>
                            <a:srgbClr val="22D3EE"/>
                          </a:solidFill>
                          <a:latin typeface="Calibri" pitchFamily="34" charset="0"/>
                          <a:ea typeface="Calibri" pitchFamily="34" charset="-122"/>
                          <a:cs typeface="Calibri" pitchFamily="34" charset="-120"/>
                        </a:rPr>
                        <a:t>Mar 2018</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tc>
                  <a:txBody>
                    <a:bodyPr/>
                    <a:lstStyle/>
                    <a:p>
                      <a:pPr marL="0" indent="0">
                        <a:buNone/>
                      </a:pPr>
                      <a:r>
                        <a:rPr lang="en-US" sz="1300" b="1" dirty="0">
                          <a:solidFill>
                            <a:srgbClr val="D97706"/>
                          </a:solidFill>
                          <a:latin typeface="Calibri" pitchFamily="34" charset="0"/>
                          <a:ea typeface="Calibri" pitchFamily="34" charset="-122"/>
                          <a:cs typeface="Calibri" pitchFamily="34" charset="-120"/>
                        </a:rPr>
                        <a:t>S: up. Cancer diagnosis.</a:t>
                      </a:r>
                      <a:endParaRPr lang="en-US" sz="1300" dirty="0">
                        <a:latin typeface="Calibri" charset="0"/>
                        <a:ea typeface="Calibri" charset="0"/>
                        <a:cs typeface="Calibri" charset="0"/>
                      </a:endParaRPr>
                    </a:p>
                  </a:txBody>
                  <a:tcPr>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B2A4A"/>
                    </a:solidFill>
                  </a:tcPr>
                </a:tc>
                <a:extLst>
                  <a:ext uri="{0D108BD9-81ED-4DB2-BD59-A6C34878D82A}">
                    <a16:rowId xmlns:a16="http://schemas.microsoft.com/office/drawing/2014/main" val="10004"/>
                  </a:ext>
                </a:extLst>
              </a:tr>
            </a:tbl>
          </a:graphicData>
        </a:graphic>
      </p:graphicFrame>
      <p:sp>
        <p:nvSpPr>
          <p:cNvPr id="4" name="Text 1"/>
          <p:cNvSpPr/>
          <p:nvPr/>
        </p:nvSpPr>
        <p:spPr>
          <a:xfrm>
            <a:off x="731520" y="3291840"/>
            <a:ext cx="7680960" cy="457200"/>
          </a:xfrm>
          <a:prstGeom prst="rect">
            <a:avLst/>
          </a:prstGeom>
          <a:noFill/>
          <a:ln/>
        </p:spPr>
        <p:txBody>
          <a:bodyPr wrap="square" lIns="0" tIns="0" rIns="0" bIns="0" rtlCol="0" anchor="ctr"/>
          <a:lstStyle/>
          <a:p>
            <a:pPr marL="0" indent="0">
              <a:buNone/>
            </a:pPr>
            <a:r>
              <a:rPr lang="en-US" sz="1600" i="1" dirty="0">
                <a:solidFill>
                  <a:srgbClr val="22D3EE"/>
                </a:solidFill>
                <a:latin typeface="Calibri" pitchFamily="34" charset="0"/>
                <a:ea typeface="Calibri" pitchFamily="34" charset="-122"/>
                <a:cs typeface="Calibri" pitchFamily="34" charset="-120"/>
              </a:rPr>
              <a:t>The data came in jumbled. The timeline puts it in order.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Sequence Emerges</a:t>
            </a:r>
            <a:endParaRPr lang="en-US" sz="2800" dirty="0"/>
          </a:p>
        </p:txBody>
      </p:sp>
      <p:sp>
        <p:nvSpPr>
          <p:cNvPr id="3" name="Shape 1"/>
          <p:cNvSpPr/>
          <p:nvPr/>
        </p:nvSpPr>
        <p:spPr>
          <a:xfrm>
            <a:off x="731520" y="1188720"/>
            <a:ext cx="1828800" cy="457200"/>
          </a:xfrm>
          <a:prstGeom prst="rect">
            <a:avLst/>
          </a:prstGeom>
          <a:solidFill>
            <a:srgbClr val="D97706"/>
          </a:solidFill>
          <a:ln/>
        </p:spPr>
        <p:txBody>
          <a:bodyPr/>
          <a:lstStyle/>
          <a:p>
            <a:endParaRPr lang="en-US"/>
          </a:p>
        </p:txBody>
      </p:sp>
      <p:sp>
        <p:nvSpPr>
          <p:cNvPr id="4" name="Text 2"/>
          <p:cNvSpPr/>
          <p:nvPr/>
        </p:nvSpPr>
        <p:spPr>
          <a:xfrm>
            <a:off x="822960" y="1188720"/>
            <a:ext cx="7315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Mar</a:t>
            </a:r>
            <a:endParaRPr lang="en-US" sz="1400" dirty="0"/>
          </a:p>
        </p:txBody>
      </p:sp>
      <p:sp>
        <p:nvSpPr>
          <p:cNvPr id="5" name="Text 3"/>
          <p:cNvSpPr/>
          <p:nvPr/>
        </p:nvSpPr>
        <p:spPr>
          <a:xfrm>
            <a:off x="2743200" y="1188720"/>
            <a:ext cx="4572000" cy="45720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Ruth's cancer diagnosis</a:t>
            </a:r>
            <a:endParaRPr lang="en-US" sz="1500" dirty="0"/>
          </a:p>
        </p:txBody>
      </p:sp>
      <p:sp>
        <p:nvSpPr>
          <p:cNvPr id="6" name="Shape 4"/>
          <p:cNvSpPr/>
          <p:nvPr/>
        </p:nvSpPr>
        <p:spPr>
          <a:xfrm>
            <a:off x="731520" y="1828800"/>
            <a:ext cx="2926080" cy="457200"/>
          </a:xfrm>
          <a:prstGeom prst="rect">
            <a:avLst/>
          </a:prstGeom>
          <a:solidFill>
            <a:srgbClr val="0891B2"/>
          </a:solidFill>
          <a:ln/>
        </p:spPr>
        <p:txBody>
          <a:bodyPr/>
          <a:lstStyle/>
          <a:p>
            <a:endParaRPr lang="en-US"/>
          </a:p>
        </p:txBody>
      </p:sp>
      <p:sp>
        <p:nvSpPr>
          <p:cNvPr id="7" name="Text 5"/>
          <p:cNvSpPr/>
          <p:nvPr/>
        </p:nvSpPr>
        <p:spPr>
          <a:xfrm>
            <a:off x="822960" y="1828800"/>
            <a:ext cx="7315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Apr</a:t>
            </a:r>
            <a:endParaRPr lang="en-US" sz="1400" dirty="0"/>
          </a:p>
        </p:txBody>
      </p:sp>
      <p:sp>
        <p:nvSpPr>
          <p:cNvPr id="8" name="Text 6"/>
          <p:cNvSpPr/>
          <p:nvPr/>
        </p:nvSpPr>
        <p:spPr>
          <a:xfrm>
            <a:off x="3840480" y="1828800"/>
            <a:ext cx="4572000" cy="45720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Karen shifts toward Ruth</a:t>
            </a:r>
            <a:endParaRPr lang="en-US" sz="1500" dirty="0"/>
          </a:p>
        </p:txBody>
      </p:sp>
      <p:sp>
        <p:nvSpPr>
          <p:cNvPr id="9" name="Shape 7"/>
          <p:cNvSpPr/>
          <p:nvPr/>
        </p:nvSpPr>
        <p:spPr>
          <a:xfrm>
            <a:off x="731520" y="2468880"/>
            <a:ext cx="4023360" cy="457200"/>
          </a:xfrm>
          <a:prstGeom prst="rect">
            <a:avLst/>
          </a:prstGeom>
          <a:solidFill>
            <a:srgbClr val="0891B2"/>
          </a:solidFill>
          <a:ln/>
        </p:spPr>
        <p:txBody>
          <a:bodyPr/>
          <a:lstStyle/>
          <a:p>
            <a:endParaRPr lang="en-US"/>
          </a:p>
        </p:txBody>
      </p:sp>
      <p:sp>
        <p:nvSpPr>
          <p:cNvPr id="10" name="Text 8"/>
          <p:cNvSpPr/>
          <p:nvPr/>
        </p:nvSpPr>
        <p:spPr>
          <a:xfrm>
            <a:off x="822960" y="2468880"/>
            <a:ext cx="7315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May</a:t>
            </a:r>
            <a:endParaRPr lang="en-US" sz="1400" dirty="0"/>
          </a:p>
        </p:txBody>
      </p:sp>
      <p:sp>
        <p:nvSpPr>
          <p:cNvPr id="11" name="Text 9"/>
          <p:cNvSpPr/>
          <p:nvPr/>
        </p:nvSpPr>
        <p:spPr>
          <a:xfrm>
            <a:off x="4937760" y="2468880"/>
            <a:ext cx="4572000" cy="45720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Karen/Jim conflict rises</a:t>
            </a:r>
            <a:endParaRPr lang="en-US" sz="1500" dirty="0"/>
          </a:p>
        </p:txBody>
      </p:sp>
      <p:sp>
        <p:nvSpPr>
          <p:cNvPr id="12" name="Shape 10"/>
          <p:cNvSpPr/>
          <p:nvPr/>
        </p:nvSpPr>
        <p:spPr>
          <a:xfrm>
            <a:off x="731520" y="3108960"/>
            <a:ext cx="5120640" cy="457200"/>
          </a:xfrm>
          <a:prstGeom prst="rect">
            <a:avLst/>
          </a:prstGeom>
          <a:solidFill>
            <a:srgbClr val="475569"/>
          </a:solidFill>
          <a:ln/>
        </p:spPr>
        <p:txBody>
          <a:bodyPr/>
          <a:lstStyle/>
          <a:p>
            <a:endParaRPr lang="en-US"/>
          </a:p>
        </p:txBody>
      </p:sp>
      <p:sp>
        <p:nvSpPr>
          <p:cNvPr id="13" name="Text 11"/>
          <p:cNvSpPr/>
          <p:nvPr/>
        </p:nvSpPr>
        <p:spPr>
          <a:xfrm>
            <a:off x="822960" y="3108960"/>
            <a:ext cx="7315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Aug</a:t>
            </a:r>
            <a:endParaRPr lang="en-US" sz="1400" dirty="0"/>
          </a:p>
        </p:txBody>
      </p:sp>
      <p:sp>
        <p:nvSpPr>
          <p:cNvPr id="14" name="Text 12"/>
          <p:cNvSpPr/>
          <p:nvPr/>
        </p:nvSpPr>
        <p:spPr>
          <a:xfrm>
            <a:off x="6035040" y="3108960"/>
            <a:ext cx="4572000" cy="45720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Sarah leaves for college</a:t>
            </a:r>
            <a:endParaRPr lang="en-US" sz="1500" dirty="0"/>
          </a:p>
        </p:txBody>
      </p:sp>
      <p:sp>
        <p:nvSpPr>
          <p:cNvPr id="15" name="Shape 13"/>
          <p:cNvSpPr/>
          <p:nvPr/>
        </p:nvSpPr>
        <p:spPr>
          <a:xfrm>
            <a:off x="731520" y="3749040"/>
            <a:ext cx="6217920" cy="457200"/>
          </a:xfrm>
          <a:prstGeom prst="rect">
            <a:avLst/>
          </a:prstGeom>
          <a:solidFill>
            <a:srgbClr val="1B2A4A"/>
          </a:solidFill>
          <a:ln/>
        </p:spPr>
        <p:txBody>
          <a:bodyPr/>
          <a:lstStyle/>
          <a:p>
            <a:endParaRPr lang="en-US"/>
          </a:p>
        </p:txBody>
      </p:sp>
      <p:sp>
        <p:nvSpPr>
          <p:cNvPr id="16" name="Text 14"/>
          <p:cNvSpPr/>
          <p:nvPr/>
        </p:nvSpPr>
        <p:spPr>
          <a:xfrm>
            <a:off x="822960" y="3749040"/>
            <a:ext cx="7315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Oct</a:t>
            </a:r>
            <a:endParaRPr lang="en-US" sz="1400" dirty="0"/>
          </a:p>
        </p:txBody>
      </p:sp>
      <p:sp>
        <p:nvSpPr>
          <p:cNvPr id="17" name="Text 15"/>
          <p:cNvSpPr/>
          <p:nvPr/>
        </p:nvSpPr>
        <p:spPr>
          <a:xfrm>
            <a:off x="7132320" y="3749040"/>
            <a:ext cx="4572000" cy="45720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Matt's panic attacks</a:t>
            </a:r>
            <a:endParaRPr lang="en-US" sz="1500" dirty="0"/>
          </a:p>
        </p:txBody>
      </p:sp>
      <p:sp>
        <p:nvSpPr>
          <p:cNvPr id="18" name="Text 16"/>
          <p:cNvSpPr/>
          <p:nvPr/>
        </p:nvSpPr>
        <p:spPr>
          <a:xfrm>
            <a:off x="731520" y="4480560"/>
            <a:ext cx="7680960" cy="457200"/>
          </a:xfrm>
          <a:prstGeom prst="rect">
            <a:avLst/>
          </a:prstGeom>
          <a:noFill/>
          <a:ln/>
        </p:spPr>
        <p:txBody>
          <a:bodyPr wrap="square" lIns="0" tIns="0" rIns="0" bIns="0" rtlCol="0" anchor="ctr"/>
          <a:lstStyle/>
          <a:p>
            <a:pPr marL="0" indent="0">
              <a:buNone/>
            </a:pPr>
            <a:r>
              <a:rPr lang="en-US" sz="1600" b="1" i="1" dirty="0">
                <a:solidFill>
                  <a:srgbClr val="0891B2"/>
                </a:solidFill>
                <a:latin typeface="Georgia" pitchFamily="34" charset="0"/>
                <a:ea typeface="Georgia" pitchFamily="34" charset="-122"/>
                <a:cs typeface="Georgia" pitchFamily="34" charset="-120"/>
              </a:rPr>
              <a:t>The panic attacks are the last thing that happened, not the first.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Formulation</a:t>
            </a:r>
            <a:endParaRPr lang="en-US" sz="2800" dirty="0"/>
          </a:p>
        </p:txBody>
      </p:sp>
      <p:sp>
        <p:nvSpPr>
          <p:cNvPr id="3" name="Shape 1"/>
          <p:cNvSpPr/>
          <p:nvPr/>
        </p:nvSpPr>
        <p:spPr>
          <a:xfrm>
            <a:off x="731520" y="1188720"/>
            <a:ext cx="7680960" cy="411480"/>
          </a:xfrm>
          <a:prstGeom prst="rect">
            <a:avLst/>
          </a:prstGeom>
          <a:solidFill>
            <a:srgbClr val="1B2A4A"/>
          </a:solidFill>
          <a:ln/>
        </p:spPr>
        <p:txBody>
          <a:bodyPr/>
          <a:lstStyle/>
          <a:p>
            <a:endParaRPr lang="en-US"/>
          </a:p>
        </p:txBody>
      </p:sp>
      <p:sp>
        <p:nvSpPr>
          <p:cNvPr id="4" name="Shape 2"/>
          <p:cNvSpPr/>
          <p:nvPr/>
        </p:nvSpPr>
        <p:spPr>
          <a:xfrm>
            <a:off x="731520" y="1188720"/>
            <a:ext cx="54864" cy="411480"/>
          </a:xfrm>
          <a:prstGeom prst="rect">
            <a:avLst/>
          </a:prstGeom>
          <a:solidFill>
            <a:srgbClr val="22D3EE"/>
          </a:solidFill>
          <a:ln/>
        </p:spPr>
        <p:txBody>
          <a:bodyPr/>
          <a:lstStyle/>
          <a:p>
            <a:endParaRPr lang="en-US"/>
          </a:p>
        </p:txBody>
      </p:sp>
      <p:sp>
        <p:nvSpPr>
          <p:cNvPr id="5" name="Text 3"/>
          <p:cNvSpPr/>
          <p:nvPr/>
        </p:nvSpPr>
        <p:spPr>
          <a:xfrm>
            <a:off x="1051560" y="1188720"/>
            <a:ext cx="713232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Ruth's cancer → acute anxiety (uncertainty + urgency)</a:t>
            </a:r>
            <a:endParaRPr lang="en-US" sz="1400" dirty="0"/>
          </a:p>
        </p:txBody>
      </p:sp>
      <p:sp>
        <p:nvSpPr>
          <p:cNvPr id="6" name="Shape 4"/>
          <p:cNvSpPr/>
          <p:nvPr/>
        </p:nvSpPr>
        <p:spPr>
          <a:xfrm>
            <a:off x="731520" y="1737360"/>
            <a:ext cx="7680960" cy="411480"/>
          </a:xfrm>
          <a:prstGeom prst="rect">
            <a:avLst/>
          </a:prstGeom>
          <a:solidFill>
            <a:srgbClr val="1B2A4A"/>
          </a:solidFill>
          <a:ln/>
        </p:spPr>
        <p:txBody>
          <a:bodyPr/>
          <a:lstStyle/>
          <a:p>
            <a:endParaRPr lang="en-US"/>
          </a:p>
        </p:txBody>
      </p:sp>
      <p:sp>
        <p:nvSpPr>
          <p:cNvPr id="7" name="Shape 5"/>
          <p:cNvSpPr/>
          <p:nvPr/>
        </p:nvSpPr>
        <p:spPr>
          <a:xfrm>
            <a:off x="731520" y="1737360"/>
            <a:ext cx="54864" cy="411480"/>
          </a:xfrm>
          <a:prstGeom prst="rect">
            <a:avLst/>
          </a:prstGeom>
          <a:solidFill>
            <a:srgbClr val="22D3EE"/>
          </a:solidFill>
          <a:ln/>
        </p:spPr>
        <p:txBody>
          <a:bodyPr/>
          <a:lstStyle/>
          <a:p>
            <a:endParaRPr lang="en-US"/>
          </a:p>
        </p:txBody>
      </p:sp>
      <p:sp>
        <p:nvSpPr>
          <p:cNvPr id="8" name="Text 6"/>
          <p:cNvSpPr/>
          <p:nvPr/>
        </p:nvSpPr>
        <p:spPr>
          <a:xfrm>
            <a:off x="1051560" y="1737360"/>
            <a:ext cx="713232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Karen shifts toward Ruth → away from Jim and nuclear family</a:t>
            </a:r>
            <a:endParaRPr lang="en-US" sz="1400" dirty="0"/>
          </a:p>
        </p:txBody>
      </p:sp>
      <p:sp>
        <p:nvSpPr>
          <p:cNvPr id="9" name="Shape 7"/>
          <p:cNvSpPr/>
          <p:nvPr/>
        </p:nvSpPr>
        <p:spPr>
          <a:xfrm>
            <a:off x="731520" y="2286000"/>
            <a:ext cx="7680960" cy="411480"/>
          </a:xfrm>
          <a:prstGeom prst="rect">
            <a:avLst/>
          </a:prstGeom>
          <a:solidFill>
            <a:srgbClr val="1B2A4A"/>
          </a:solidFill>
          <a:ln/>
        </p:spPr>
        <p:txBody>
          <a:bodyPr/>
          <a:lstStyle/>
          <a:p>
            <a:endParaRPr lang="en-US"/>
          </a:p>
        </p:txBody>
      </p:sp>
      <p:sp>
        <p:nvSpPr>
          <p:cNvPr id="10" name="Shape 8"/>
          <p:cNvSpPr/>
          <p:nvPr/>
        </p:nvSpPr>
        <p:spPr>
          <a:xfrm>
            <a:off x="731520" y="2286000"/>
            <a:ext cx="54864" cy="411480"/>
          </a:xfrm>
          <a:prstGeom prst="rect">
            <a:avLst/>
          </a:prstGeom>
          <a:solidFill>
            <a:srgbClr val="22D3EE"/>
          </a:solidFill>
          <a:ln/>
        </p:spPr>
        <p:txBody>
          <a:bodyPr/>
          <a:lstStyle/>
          <a:p>
            <a:endParaRPr lang="en-US"/>
          </a:p>
        </p:txBody>
      </p:sp>
      <p:sp>
        <p:nvSpPr>
          <p:cNvPr id="11" name="Text 9"/>
          <p:cNvSpPr/>
          <p:nvPr/>
        </p:nvSpPr>
        <p:spPr>
          <a:xfrm>
            <a:off x="1051560" y="2286000"/>
            <a:ext cx="713232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Marriage destabilizes → conflict rises</a:t>
            </a:r>
            <a:endParaRPr lang="en-US" sz="1400" dirty="0"/>
          </a:p>
        </p:txBody>
      </p:sp>
      <p:sp>
        <p:nvSpPr>
          <p:cNvPr id="12" name="Shape 10"/>
          <p:cNvSpPr/>
          <p:nvPr/>
        </p:nvSpPr>
        <p:spPr>
          <a:xfrm>
            <a:off x="731520" y="2834640"/>
            <a:ext cx="7680960" cy="411480"/>
          </a:xfrm>
          <a:prstGeom prst="rect">
            <a:avLst/>
          </a:prstGeom>
          <a:solidFill>
            <a:srgbClr val="1B2A4A"/>
          </a:solidFill>
          <a:ln/>
        </p:spPr>
        <p:txBody>
          <a:bodyPr/>
          <a:lstStyle/>
          <a:p>
            <a:endParaRPr lang="en-US"/>
          </a:p>
        </p:txBody>
      </p:sp>
      <p:sp>
        <p:nvSpPr>
          <p:cNvPr id="13" name="Shape 11"/>
          <p:cNvSpPr/>
          <p:nvPr/>
        </p:nvSpPr>
        <p:spPr>
          <a:xfrm>
            <a:off x="731520" y="2834640"/>
            <a:ext cx="54864" cy="411480"/>
          </a:xfrm>
          <a:prstGeom prst="rect">
            <a:avLst/>
          </a:prstGeom>
          <a:solidFill>
            <a:srgbClr val="22D3EE"/>
          </a:solidFill>
          <a:ln/>
        </p:spPr>
        <p:txBody>
          <a:bodyPr/>
          <a:lstStyle/>
          <a:p>
            <a:endParaRPr lang="en-US"/>
          </a:p>
        </p:txBody>
      </p:sp>
      <p:sp>
        <p:nvSpPr>
          <p:cNvPr id="14" name="Text 12"/>
          <p:cNvSpPr/>
          <p:nvPr/>
        </p:nvSpPr>
        <p:spPr>
          <a:xfrm>
            <a:off x="1051560" y="2834640"/>
            <a:ext cx="713232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Sarah leaves → removes tension absorber</a:t>
            </a:r>
            <a:endParaRPr lang="en-US" sz="1400" dirty="0"/>
          </a:p>
        </p:txBody>
      </p:sp>
      <p:sp>
        <p:nvSpPr>
          <p:cNvPr id="15" name="Shape 13"/>
          <p:cNvSpPr/>
          <p:nvPr/>
        </p:nvSpPr>
        <p:spPr>
          <a:xfrm>
            <a:off x="731520" y="3383280"/>
            <a:ext cx="7680960" cy="411480"/>
          </a:xfrm>
          <a:prstGeom prst="rect">
            <a:avLst/>
          </a:prstGeom>
          <a:solidFill>
            <a:srgbClr val="1B2A4A"/>
          </a:solidFill>
          <a:ln/>
        </p:spPr>
        <p:txBody>
          <a:bodyPr/>
          <a:lstStyle/>
          <a:p>
            <a:endParaRPr lang="en-US"/>
          </a:p>
        </p:txBody>
      </p:sp>
      <p:sp>
        <p:nvSpPr>
          <p:cNvPr id="16" name="Shape 14"/>
          <p:cNvSpPr/>
          <p:nvPr/>
        </p:nvSpPr>
        <p:spPr>
          <a:xfrm>
            <a:off x="731520" y="3383280"/>
            <a:ext cx="54864" cy="411480"/>
          </a:xfrm>
          <a:prstGeom prst="rect">
            <a:avLst/>
          </a:prstGeom>
          <a:solidFill>
            <a:srgbClr val="D97706"/>
          </a:solidFill>
          <a:ln/>
        </p:spPr>
        <p:txBody>
          <a:bodyPr/>
          <a:lstStyle/>
          <a:p>
            <a:endParaRPr lang="en-US"/>
          </a:p>
        </p:txBody>
      </p:sp>
      <p:sp>
        <p:nvSpPr>
          <p:cNvPr id="17" name="Text 15"/>
          <p:cNvSpPr/>
          <p:nvPr/>
        </p:nvSpPr>
        <p:spPr>
          <a:xfrm>
            <a:off x="1051560" y="3383280"/>
            <a:ext cx="713232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Matt is now the only child with two anxious, conflicting parents</a:t>
            </a:r>
            <a:endParaRPr lang="en-US" sz="1400" dirty="0"/>
          </a:p>
        </p:txBody>
      </p:sp>
      <p:sp>
        <p:nvSpPr>
          <p:cNvPr id="18" name="Shape 16"/>
          <p:cNvSpPr/>
          <p:nvPr/>
        </p:nvSpPr>
        <p:spPr>
          <a:xfrm>
            <a:off x="731520" y="3931920"/>
            <a:ext cx="7680960" cy="640080"/>
          </a:xfrm>
          <a:prstGeom prst="rect">
            <a:avLst/>
          </a:prstGeom>
          <a:solidFill>
            <a:srgbClr val="0891B2"/>
          </a:solidFill>
          <a:ln/>
        </p:spPr>
        <p:txBody>
          <a:bodyPr/>
          <a:lstStyle/>
          <a:p>
            <a:endParaRPr lang="en-US"/>
          </a:p>
        </p:txBody>
      </p:sp>
      <p:sp>
        <p:nvSpPr>
          <p:cNvPr id="19" name="Text 17"/>
          <p:cNvSpPr/>
          <p:nvPr/>
        </p:nvSpPr>
        <p:spPr>
          <a:xfrm>
            <a:off x="1005840" y="3931920"/>
            <a:ext cx="7132320" cy="6400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R → A → S.  If you only look at Matt, you miss the process.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D98E55AF-481E-8E77-9045-8B16942CC363}"/>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2F8847B0-6D5B-CF2A-8594-E17433A06621}"/>
              </a:ext>
            </a:extLst>
          </p:cNvPr>
          <p:cNvSpPr/>
          <p:nvPr/>
        </p:nvSpPr>
        <p:spPr>
          <a:xfrm>
            <a:off x="0" y="0"/>
            <a:ext cx="9144000" cy="5715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9487D87-EBEB-07FE-519F-B395964784BC}"/>
              </a:ext>
            </a:extLst>
          </p:cNvPr>
          <p:cNvSpPr txBox="1"/>
          <p:nvPr/>
        </p:nvSpPr>
        <p:spPr>
          <a:xfrm>
            <a:off x="914400" y="914400"/>
            <a:ext cx="7315200" cy="2286000"/>
          </a:xfrm>
          <a:prstGeom prst="rect">
            <a:avLst/>
          </a:prstGeom>
          <a:noFill/>
        </p:spPr>
        <p:txBody>
          <a:bodyPr wrap="square">
            <a:spAutoFit/>
          </a:bodyPr>
          <a:lstStyle/>
          <a:p>
            <a:pPr algn="l"/>
            <a:r>
              <a:rPr sz="2400" i="1">
                <a:solidFill>
                  <a:srgbClr val="22D3EE"/>
                </a:solidFill>
                <a:latin typeface="Georgia"/>
              </a:rPr>
              <a:t>"You don't see something until you have the right
metaphor to let you perceive it."</a:t>
            </a:r>
          </a:p>
        </p:txBody>
      </p:sp>
      <p:sp>
        <p:nvSpPr>
          <p:cNvPr id="22" name="TextBox 21">
            <a:extLst>
              <a:ext uri="{FF2B5EF4-FFF2-40B4-BE49-F238E27FC236}">
                <a16:creationId xmlns:a16="http://schemas.microsoft.com/office/drawing/2014/main" id="{D56918F8-95A9-8FA3-D432-28855E0ED32C}"/>
              </a:ext>
            </a:extLst>
          </p:cNvPr>
          <p:cNvSpPr txBox="1"/>
          <p:nvPr/>
        </p:nvSpPr>
        <p:spPr>
          <a:xfrm>
            <a:off x="914400" y="3200400"/>
            <a:ext cx="7315200" cy="457200"/>
          </a:xfrm>
          <a:prstGeom prst="rect">
            <a:avLst/>
          </a:prstGeom>
          <a:noFill/>
        </p:spPr>
        <p:txBody>
          <a:bodyPr wrap="square">
            <a:spAutoFit/>
          </a:bodyPr>
          <a:lstStyle/>
          <a:p>
            <a:pPr algn="l"/>
            <a:r>
              <a:rPr sz="1600" dirty="0">
                <a:solidFill>
                  <a:srgbClr val="94A3B8"/>
                </a:solidFill>
                <a:latin typeface="Calibri"/>
              </a:rPr>
              <a:t>— James Gleick</a:t>
            </a:r>
          </a:p>
        </p:txBody>
      </p:sp>
    </p:spTree>
    <p:extLst>
      <p:ext uri="{BB962C8B-B14F-4D97-AF65-F5344CB8AC3E}">
        <p14:creationId xmlns:p14="http://schemas.microsoft.com/office/powerpoint/2010/main" val="48903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App Seminar</a:t>
            </a:r>
            <a:endParaRPr lang="en-US" sz="2800" dirty="0"/>
          </a:p>
        </p:txBody>
      </p:sp>
      <p:sp>
        <p:nvSpPr>
          <p:cNvPr id="3" name="Shape 1"/>
          <p:cNvSpPr/>
          <p:nvPr/>
        </p:nvSpPr>
        <p:spPr>
          <a:xfrm>
            <a:off x="731520" y="1188720"/>
            <a:ext cx="768096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731520" y="1188720"/>
            <a:ext cx="54864" cy="1828800"/>
          </a:xfrm>
          <a:prstGeom prst="rect">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7280" y="1417320"/>
            <a:ext cx="411480" cy="411480"/>
          </a:xfrm>
          <a:prstGeom prst="rect">
            <a:avLst/>
          </a:prstGeom>
        </p:spPr>
      </p:pic>
      <p:sp>
        <p:nvSpPr>
          <p:cNvPr id="6" name="Text 3"/>
          <p:cNvSpPr/>
          <p:nvPr/>
        </p:nvSpPr>
        <p:spPr>
          <a:xfrm>
            <a:off x="1691640" y="1417320"/>
            <a:ext cx="274320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Monthly Zoom</a:t>
            </a:r>
            <a:endParaRPr lang="en-US" sz="2000" dirty="0"/>
          </a:p>
        </p:txBody>
      </p:sp>
      <p:sp>
        <p:nvSpPr>
          <p:cNvPr id="7" name="Text 4"/>
          <p:cNvSpPr/>
          <p:nvPr/>
        </p:nvSpPr>
        <p:spPr>
          <a:xfrm>
            <a:off x="1097280" y="2011680"/>
            <a:ext cx="6949440" cy="822960"/>
          </a:xfrm>
          <a:prstGeom prst="rect">
            <a:avLst/>
          </a:prstGeom>
          <a:noFill/>
          <a:ln/>
        </p:spPr>
        <p:txBody>
          <a:bodyPr wrap="square" rtlCol="0" anchor="ctr"/>
          <a:lstStyle/>
          <a:p>
            <a:pPr marL="342900" indent="-342900">
              <a:spcAft>
                <a:spcPts val="600"/>
              </a:spcAft>
              <a:buSzPct val="100000"/>
              <a:buChar char="•"/>
            </a:pPr>
            <a:r>
              <a:rPr lang="en-US" sz="1500" dirty="0">
                <a:solidFill>
                  <a:srgbClr val="475569"/>
                </a:solidFill>
                <a:latin typeface="Calibri" pitchFamily="34" charset="0"/>
                <a:ea typeface="Calibri" pitchFamily="34" charset="-122"/>
                <a:cs typeface="Calibri" pitchFamily="34" charset="-120"/>
              </a:rPr>
              <a:t>Community of practice</a:t>
            </a:r>
            <a:endParaRPr lang="en-US" sz="1500" dirty="0"/>
          </a:p>
          <a:p>
            <a:pPr marL="342900" indent="-342900">
              <a:spcAft>
                <a:spcPts val="600"/>
              </a:spcAft>
              <a:buSzPct val="100000"/>
              <a:buChar char="•"/>
            </a:pPr>
            <a:r>
              <a:rPr lang="en-US" sz="1500" dirty="0">
                <a:solidFill>
                  <a:srgbClr val="475569"/>
                </a:solidFill>
                <a:latin typeface="Calibri" pitchFamily="34" charset="0"/>
                <a:ea typeface="Calibri" pitchFamily="34" charset="-122"/>
                <a:cs typeface="Calibri" pitchFamily="34" charset="-120"/>
              </a:rPr>
              <a:t>Falsifiable thinking + data collection</a:t>
            </a:r>
            <a:endParaRPr lang="en-US" sz="1500" dirty="0"/>
          </a:p>
          <a:p>
            <a:pPr marL="342900" indent="-342900">
              <a:spcAft>
                <a:spcPts val="600"/>
              </a:spcAft>
              <a:buSzPct val="100000"/>
              <a:buChar char="•"/>
            </a:pPr>
            <a:r>
              <a:rPr lang="en-US" sz="1500" dirty="0">
                <a:solidFill>
                  <a:srgbClr val="475569"/>
                </a:solidFill>
                <a:latin typeface="Calibri" pitchFamily="34" charset="0"/>
                <a:ea typeface="Calibri" pitchFamily="34" charset="-122"/>
                <a:cs typeface="Calibri" pitchFamily="34" charset="-120"/>
              </a:rPr>
              <a:t>Clinicians using the app, coding cases, sharpening thinking</a:t>
            </a:r>
            <a:endParaRPr lang="en-US" sz="1500" dirty="0"/>
          </a:p>
        </p:txBody>
      </p:sp>
      <p:sp>
        <p:nvSpPr>
          <p:cNvPr id="8" name="Text 5"/>
          <p:cNvSpPr/>
          <p:nvPr/>
        </p:nvSpPr>
        <p:spPr>
          <a:xfrm>
            <a:off x="731520" y="3383280"/>
            <a:ext cx="7680960" cy="457200"/>
          </a:xfrm>
          <a:prstGeom prst="rect">
            <a:avLst/>
          </a:prstGeom>
          <a:noFill/>
          <a:ln/>
        </p:spPr>
        <p:txBody>
          <a:bodyPr wrap="square" lIns="0" tIns="0" rIns="0" bIns="0" rtlCol="0" anchor="ctr"/>
          <a:lstStyle/>
          <a:p>
            <a:pPr marL="0" indent="0">
              <a:buNone/>
            </a:pPr>
            <a:r>
              <a:rPr lang="en-US" sz="1700" b="1" i="1" dirty="0">
                <a:solidFill>
                  <a:srgbClr val="0891B2"/>
                </a:solidFill>
                <a:latin typeface="Georgia" pitchFamily="34" charset="0"/>
                <a:ea typeface="Georgia" pitchFamily="34" charset="-122"/>
                <a:cs typeface="Georgia" pitchFamily="34" charset="-120"/>
              </a:rPr>
              <a:t>Best example: Dr. Havstad — who you're about to see.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1280160"/>
            <a:ext cx="7680960" cy="7315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I showed you the tool.</a:t>
            </a:r>
            <a:endParaRPr lang="en-US" sz="3000" dirty="0"/>
          </a:p>
        </p:txBody>
      </p:sp>
      <p:sp>
        <p:nvSpPr>
          <p:cNvPr id="4" name="Text 2"/>
          <p:cNvSpPr/>
          <p:nvPr/>
        </p:nvSpPr>
        <p:spPr>
          <a:xfrm>
            <a:off x="731520" y="2194560"/>
            <a:ext cx="7680960" cy="1371600"/>
          </a:xfrm>
          <a:prstGeom prst="rect">
            <a:avLst/>
          </a:prstGeom>
          <a:noFill/>
          <a:ln/>
        </p:spPr>
        <p:txBody>
          <a:bodyPr wrap="square" lIns="0" tIns="0" rIns="0" bIns="0" rtlCol="0" anchor="ctr"/>
          <a:lstStyle/>
          <a:p>
            <a:pPr marL="0" indent="0">
              <a:lnSpc>
                <a:spcPct val="120000"/>
              </a:lnSpc>
              <a:buNone/>
            </a:pPr>
            <a:r>
              <a:rPr lang="en-US" sz="2600" dirty="0">
                <a:solidFill>
                  <a:srgbClr val="22D3EE"/>
                </a:solidFill>
                <a:latin typeface="Georgia" pitchFamily="34" charset="0"/>
                <a:ea typeface="Georgia" pitchFamily="34" charset="-122"/>
                <a:cs typeface="Georgia" pitchFamily="34" charset="-120"/>
              </a:rPr>
              <a:t>Laura is going to show you what</a:t>
            </a:r>
            <a:endParaRPr lang="en-US" sz="2600" dirty="0"/>
          </a:p>
          <a:p>
            <a:pPr marL="0" indent="0">
              <a:lnSpc>
                <a:spcPct val="120000"/>
              </a:lnSpc>
              <a:buNone/>
            </a:pPr>
            <a:r>
              <a:rPr lang="en-US" sz="2600" dirty="0">
                <a:solidFill>
                  <a:srgbClr val="22D3EE"/>
                </a:solidFill>
                <a:latin typeface="Georgia" pitchFamily="34" charset="0"/>
                <a:ea typeface="Georgia" pitchFamily="34" charset="-122"/>
                <a:cs typeface="Georgia" pitchFamily="34" charset="-120"/>
              </a:rPr>
              <a:t>it looks like when a clinician uses it</a:t>
            </a:r>
            <a:endParaRPr lang="en-US" sz="2600" dirty="0"/>
          </a:p>
          <a:p>
            <a:pPr marL="0" indent="0">
              <a:lnSpc>
                <a:spcPct val="120000"/>
              </a:lnSpc>
              <a:buNone/>
            </a:pPr>
            <a:r>
              <a:rPr lang="en-US" sz="2600" dirty="0">
                <a:solidFill>
                  <a:srgbClr val="22D3EE"/>
                </a:solidFill>
                <a:latin typeface="Georgia" pitchFamily="34" charset="0"/>
                <a:ea typeface="Georgia" pitchFamily="34" charset="-122"/>
                <a:cs typeface="Georgia" pitchFamily="34" charset="-120"/>
              </a:rPr>
              <a:t>on a real case.</a:t>
            </a:r>
            <a:endParaRPr lang="en-US" sz="2600" dirty="0"/>
          </a:p>
        </p:txBody>
      </p:sp>
      <p:sp>
        <p:nvSpPr>
          <p:cNvPr id="5" name="Text 3"/>
          <p:cNvSpPr/>
          <p:nvPr/>
        </p:nvSpPr>
        <p:spPr>
          <a:xfrm>
            <a:off x="731520" y="4114800"/>
            <a:ext cx="5486400" cy="36576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alaskafamilysystems.com/family-diagram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1367</Words>
  <Application>Microsoft Macintosh PowerPoint</Application>
  <PresentationFormat>On-screen Show (16:9)</PresentationFormat>
  <Paragraphs>190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Family Diagram App</dc:title>
  <dc:subject>PptxGenJS Presentation</dc:subject>
  <dc:creator>Dr. Patrick Stinson</dc:creator>
  <cp:lastModifiedBy>Patrick Stinson</cp:lastModifiedBy>
  <cp:revision>8</cp:revision>
  <dcterms:created xsi:type="dcterms:W3CDTF">2026-02-25T02:14:50Z</dcterms:created>
  <dcterms:modified xsi:type="dcterms:W3CDTF">2026-02-28T00:18:01Z</dcterms:modified>
</cp:coreProperties>
</file>