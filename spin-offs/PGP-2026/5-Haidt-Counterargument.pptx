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1371600"/>
          </a:xfrm>
          <a:prstGeom prst="rect">
            <a:avLst/>
          </a:prstGeom>
          <a:noFill/>
        </p:spPr>
        <p:txBody>
          <a:bodyPr wrap="square">
            <a:spAutoFit/>
          </a:bodyPr>
          <a:lstStyle/>
          <a:p>
            <a:pPr algn="ctr">
              <a:defRPr sz="4400" b="1"/>
            </a:pPr>
            <a:r>
              <a:t>PGP 2026 Lecture: Barriers to Science for Bowen Theory — And What We're Building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Table of Contents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1: THE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1.1 Opening: The State of Behavioral Health</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The treatment-prevalence paradox (Ormel et al., 2022):</a:t>
            </a:r>
          </a:p>
          <a:p>
            <a:pPr>
              <a:spcBef>
                <a:spcPts val="800"/>
              </a:spcBef>
              <a:spcAft>
                <a:spcPts val="400"/>
              </a:spcAft>
              <a:defRPr sz="2200" b="0"/>
            </a:pPr>
            <a:r>
              <a:t>Treatment has increased fourfold since the 1990s</a:t>
            </a:r>
          </a:p>
          <a:p>
            <a:pPr>
              <a:spcBef>
                <a:spcPts val="800"/>
              </a:spcBef>
              <a:spcAft>
                <a:spcPts val="400"/>
              </a:spcAft>
              <a:defRPr sz="2200" b="0"/>
            </a:pPr>
            <a:r>
              <a:t>Prevalence of mental disorders has not decreased at all</a:t>
            </a:r>
          </a:p>
          <a:p>
            <a:pPr>
              <a:spcBef>
                <a:spcPts val="800"/>
              </a:spcBef>
              <a:spcAft>
                <a:spcPts val="400"/>
              </a:spcAft>
              <a:defRPr sz="2200" b="0"/>
            </a:pPr>
            <a:r>
              <a:t>More therapists, more medications, more awareness campaigns—no population-level improvement</a:t>
            </a:r>
          </a:p>
          <a:p>
            <a:pPr>
              <a:spcBef>
                <a:spcPts val="800"/>
              </a:spcBef>
              <a:spcAft>
                <a:spcPts val="400"/>
              </a:spcAft>
              <a:defRPr sz="2200" b="1"/>
            </a:pPr>
            <a:r>
              <a:t>Relapse rates get worse, not better:</a:t>
            </a:r>
          </a:p>
          <a:p>
            <a:pPr>
              <a:spcBef>
                <a:spcPts val="800"/>
              </a:spcBef>
              <a:spcAft>
                <a:spcPts val="400"/>
              </a:spcAft>
              <a:defRPr sz="2200" b="0"/>
            </a:pPr>
            <a:r>
              <a:t>First depressive episode: ~50% relapse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1.1 Opening: The State of Behavioral Health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Second episode: ~70% relapse</a:t>
            </a:r>
          </a:p>
          <a:p>
            <a:pPr>
              <a:spcBef>
                <a:spcPts val="800"/>
              </a:spcBef>
              <a:spcAft>
                <a:spcPts val="400"/>
              </a:spcAft>
              <a:defRPr sz="2200" b="0"/>
            </a:pPr>
            <a:r>
              <a:t>Third episode: ~90% relapse</a:t>
            </a:r>
          </a:p>
          <a:p>
            <a:pPr>
              <a:spcBef>
                <a:spcPts val="800"/>
              </a:spcBef>
              <a:spcAft>
                <a:spcPts val="400"/>
              </a:spcAft>
              <a:defRPr sz="2200" b="0"/>
            </a:pPr>
            <a:r>
              <a:t>Treatment isn't preventing recurrence—we're managing something we don't understand</a:t>
            </a:r>
          </a:p>
          <a:p>
            <a:pPr>
              <a:spcBef>
                <a:spcPts val="800"/>
              </a:spcBef>
              <a:spcAft>
                <a:spcPts val="400"/>
              </a:spcAft>
              <a:defRPr sz="2200" b="1"/>
            </a:pPr>
            <a:r>
              <a:t>Youth crisis:</a:t>
            </a:r>
          </a:p>
          <a:p>
            <a:pPr>
              <a:spcBef>
                <a:spcPts val="800"/>
              </a:spcBef>
              <a:spcAft>
                <a:spcPts val="400"/>
              </a:spcAft>
              <a:defRPr sz="2200" b="0"/>
            </a:pPr>
            <a:r>
              <a:t>145% increase in teen depression (2010-2019)</a:t>
            </a:r>
          </a:p>
          <a:p>
            <a:pPr>
              <a:spcBef>
                <a:spcPts val="800"/>
              </a:spcBef>
              <a:spcAft>
                <a:spcPts val="400"/>
              </a:spcAft>
              <a:defRPr sz="2200" b="0"/>
            </a:pPr>
            <a:r>
              <a:t>Teen girls: 57% report persistent sadness/hopelessness (CDC 2023)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1.1 Opening: The State of Behavioral Health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More therapists than ever. More funding than ever. More awareness than ever. Problems got worse.</a:t>
            </a:r>
          </a:p>
          <a:p>
            <a:pPr>
              <a:spcBef>
                <a:spcPts val="800"/>
              </a:spcBef>
              <a:spcAft>
                <a:spcPts val="400"/>
              </a:spcAft>
              <a:defRPr sz="2200" b="0"/>
            </a:pPr>
            <a:r>
              <a:t>*(Yes, structural changes like social media likely account for some of this—Haidt's research on smartphones and teen girls is compelling. But that doesn't change our main point: the field poured in resources and problems increased anyway.)*</a:t>
            </a:r>
          </a:p>
          <a:p>
            <a:pPr>
              <a:spcBef>
                <a:spcPts val="800"/>
              </a:spcBef>
              <a:spcAft>
                <a:spcPts val="400"/>
              </a:spcAft>
              <a:defRPr sz="2200" b="1"/>
            </a:pPr>
            <a:r>
              <a:t>Replication crisis:</a:t>
            </a:r>
          </a:p>
          <a:p>
            <a:pPr>
              <a:spcBef>
                <a:spcPts val="800"/>
              </a:spcBef>
              <a:spcAft>
                <a:spcPts val="400"/>
              </a:spcAft>
              <a:defRPr sz="2200" b="0"/>
            </a:pPr>
            <a:r>
              <a:t>Only ~40% of psychology studies replicate</a:t>
            </a:r>
          </a:p>
          <a:p>
            <a:pPr>
              <a:spcBef>
                <a:spcPts val="800"/>
              </a:spcBef>
              <a:spcAft>
                <a:spcPts val="400"/>
              </a:spcAft>
              <a:defRPr sz="2200" b="0"/>
            </a:pPr>
            <a:r>
              <a:t>2013: NIH stopped funding research based exclusively on the DSM</a:t>
            </a:r>
          </a:p>
          <a:p>
            <a:pPr>
              <a:spcBef>
                <a:spcPts val="800"/>
              </a:spcBef>
              <a:spcAft>
                <a:spcPts val="400"/>
              </a:spcAft>
              <a:defRPr sz="2200" b="0"/>
            </a:pPr>
            <a:r>
              <a:t>The DSM has no underlying theoretical framework—just symptom checklists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1.1 Opening: The State of Behavioral Health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question: We're doing more than ever. Why isn't it working?</a:t>
            </a:r>
          </a:p>
          <a:p>
            <a:pPr>
              <a:spcBef>
                <a:spcPts val="800"/>
              </a:spcBef>
              <a:spcAft>
                <a:spcPts val="400"/>
              </a:spcAft>
              <a:defRPr sz="2200" b="0"/>
            </a:pPr>
            <a:r>
              <a:t>The implicit model: The entire field assumes the problem is inside the individual. This determines treatment, research design, funding—everything. We're studying the blade of grass and ignoring the wind.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1.2 Historical Catastrophes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These are not ancient history. These are caring professionals—people like us—who caused massive harm because they weren't thinking scientifically.</a:t>
            </a:r>
          </a:p>
          <a:p>
            <a:pPr>
              <a:spcBef>
                <a:spcPts val="800"/>
              </a:spcBef>
              <a:spcAft>
                <a:spcPts val="400"/>
              </a:spcAft>
              <a:defRPr sz="2200" b="1"/>
            </a:pPr>
            <a:r>
              <a:t>Cambridge-Somerville Youth Study (1939-1945):</a:t>
            </a:r>
          </a:p>
          <a:p>
            <a:pPr>
              <a:spcBef>
                <a:spcPts val="800"/>
              </a:spcBef>
              <a:spcAft>
                <a:spcPts val="400"/>
              </a:spcAft>
              <a:defRPr sz="2200" b="0"/>
            </a:pPr>
            <a:r>
              <a:t>*The intervention:* At-risk boys randomly assigned to treatment or control. Treatment group received:</a:t>
            </a:r>
          </a:p>
          <a:p>
            <a:pPr>
              <a:spcBef>
                <a:spcPts val="800"/>
              </a:spcBef>
              <a:spcAft>
                <a:spcPts val="400"/>
              </a:spcAft>
              <a:defRPr sz="2200" b="0"/>
            </a:pPr>
            <a:r>
              <a:t>Regular visits from counselors (average 5 years of contact)</a:t>
            </a:r>
          </a:p>
          <a:p>
            <a:pPr>
              <a:spcBef>
                <a:spcPts val="800"/>
              </a:spcBef>
              <a:spcAft>
                <a:spcPts val="400"/>
              </a:spcAft>
              <a:defRPr sz="2200" b="0"/>
            </a:pPr>
            <a:r>
              <a:t>Academic tutoring</a:t>
            </a:r>
          </a:p>
          <a:p>
            <a:pPr>
              <a:spcBef>
                <a:spcPts val="800"/>
              </a:spcBef>
              <a:spcAft>
                <a:spcPts val="400"/>
              </a:spcAft>
              <a:defRPr sz="2200" b="0"/>
            </a:pPr>
            <a:r>
              <a:t>Summer camps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1.2 Historical Catastrophes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Medical and psychiatric care</a:t>
            </a:r>
          </a:p>
          <a:p>
            <a:pPr>
              <a:spcBef>
                <a:spcPts val="800"/>
              </a:spcBef>
              <a:spcAft>
                <a:spcPts val="400"/>
              </a:spcAft>
              <a:defRPr sz="2200" b="0"/>
            </a:pPr>
            <a:r>
              <a:t>Community programs (YMCA, Boy Scouts)</a:t>
            </a:r>
          </a:p>
          <a:p>
            <a:pPr>
              <a:spcBef>
                <a:spcPts val="800"/>
              </a:spcBef>
              <a:spcAft>
                <a:spcPts val="400"/>
              </a:spcAft>
              <a:defRPr sz="2200" b="0"/>
            </a:pPr>
            <a:r>
              <a:t>Family counseling when needed</a:t>
            </a:r>
          </a:p>
          <a:p>
            <a:pPr>
              <a:spcBef>
                <a:spcPts val="800"/>
              </a:spcBef>
              <a:spcAft>
                <a:spcPts val="400"/>
              </a:spcAft>
              <a:defRPr sz="2200" b="0"/>
            </a:pPr>
            <a:r>
              <a:t>*The intention:* Prevent delinquency through caring relationships and opportunity.</a:t>
            </a:r>
          </a:p>
          <a:p>
            <a:pPr>
              <a:spcBef>
                <a:spcPts val="800"/>
              </a:spcBef>
              <a:spcAft>
                <a:spcPts val="400"/>
              </a:spcAft>
              <a:defRPr sz="2200" b="0"/>
            </a:pPr>
            <a:r>
              <a:t>*The 30-year follow-up (Joan McCord):* Treatment group had **worse outcomes on every measure**:</a:t>
            </a:r>
          </a:p>
          <a:p>
            <a:pPr>
              <a:spcBef>
                <a:spcPts val="800"/>
              </a:spcBef>
              <a:spcAft>
                <a:spcPts val="400"/>
              </a:spcAft>
              <a:defRPr sz="2200" b="0"/>
            </a:pPr>
            <a:r>
              <a:t>More criminal convictions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1.2 Historical Catastrophes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More alcoholism</a:t>
            </a:r>
          </a:p>
          <a:p>
            <a:pPr>
              <a:spcBef>
                <a:spcPts val="800"/>
              </a:spcBef>
              <a:spcAft>
                <a:spcPts val="400"/>
              </a:spcAft>
              <a:defRPr sz="2200" b="0"/>
            </a:pPr>
            <a:r>
              <a:t>More mental illness</a:t>
            </a:r>
          </a:p>
          <a:p>
            <a:pPr>
              <a:spcBef>
                <a:spcPts val="800"/>
              </a:spcBef>
              <a:spcAft>
                <a:spcPts val="400"/>
              </a:spcAft>
              <a:defRPr sz="2200" b="0"/>
            </a:pPr>
            <a:r>
              <a:t>More stress-related diseases</a:t>
            </a:r>
          </a:p>
          <a:p>
            <a:pPr>
              <a:spcBef>
                <a:spcPts val="800"/>
              </a:spcBef>
              <a:spcAft>
                <a:spcPts val="400"/>
              </a:spcAft>
              <a:defRPr sz="2200" b="0"/>
            </a:pPr>
            <a:r>
              <a:t>Died younger on average</a:t>
            </a:r>
          </a:p>
          <a:p>
            <a:pPr>
              <a:spcBef>
                <a:spcPts val="800"/>
              </a:spcBef>
              <a:spcAft>
                <a:spcPts val="400"/>
              </a:spcAft>
              <a:defRPr sz="2200" b="1"/>
            </a:pPr>
            <a:r>
              <a:t>The counselors loved these boys. The boys reported the program positively changed their lives. And it killed them faster.</a:t>
            </a:r>
          </a:p>
          <a:p>
            <a:pPr>
              <a:spcBef>
                <a:spcPts val="800"/>
              </a:spcBef>
              <a:spcAft>
                <a:spcPts val="400"/>
              </a:spcAft>
              <a:defRPr sz="2200" b="0"/>
            </a:pPr>
            <a:r>
              <a:t>How would we know? Without measurement, we wouldn't. We'd keep doing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1.2 Historical Catastrophes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Recovered Memory Therapy (1980s-1990s):</a:t>
            </a:r>
          </a:p>
          <a:p>
            <a:pPr>
              <a:spcBef>
                <a:spcPts val="800"/>
              </a:spcBef>
              <a:spcAft>
                <a:spcPts val="400"/>
              </a:spcAft>
              <a:defRPr sz="2200" b="0"/>
            </a:pPr>
            <a:r>
              <a:t>*What it was:* Therapists believed childhood sexual abuse was the hidden cause of adult problems—depression, anxiety, eating disorders. They used hypnosis, guided imagery, and suggestion to help patients "recover" repressed memories of abuse.</a:t>
            </a:r>
          </a:p>
          <a:p>
            <a:pPr>
              <a:spcBef>
                <a:spcPts val="800"/>
              </a:spcBef>
              <a:spcAft>
                <a:spcPts val="400"/>
              </a:spcAft>
              <a:defRPr sz="2200" b="0"/>
            </a:pPr>
            <a:r>
              <a:t>*What happened:* Patients began "remembering" horrific abuse that never occurred. They accused parents, relatives, neighbors. Families were destroyed. Some accused went to prison.</a:t>
            </a:r>
          </a:p>
          <a:p>
            <a:pPr>
              <a:spcBef>
                <a:spcPts val="800"/>
              </a:spcBef>
              <a:spcAft>
                <a:spcPts val="400"/>
              </a:spcAft>
              <a:defRPr sz="2200" b="0"/>
            </a:pPr>
            <a:r>
              <a:t>*The scale:*</a:t>
            </a:r>
          </a:p>
          <a:p>
            <a:pPr>
              <a:spcBef>
                <a:spcPts val="800"/>
              </a:spcBef>
              <a:spcAft>
                <a:spcPts val="400"/>
              </a:spcAft>
              <a:defRPr sz="2200" b="0"/>
            </a:pPr>
            <a:r>
              <a:t>An estimated 1 million patients treated with these techniques</a:t>
            </a:r>
          </a:p>
          <a:p>
            <a:pPr>
              <a:spcBef>
                <a:spcPts val="800"/>
              </a:spcBef>
              <a:spcAft>
                <a:spcPts val="400"/>
              </a:spcAft>
              <a:defRPr sz="2200" b="0"/>
            </a:pPr>
            <a:r>
              <a:t>Tens of thousands of families torn apart by false accusations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1.2 Historical Catastrophes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FBI investigated satanic ritual abuse claims across the country—found zero corroborating physical evidence in any case</a:t>
            </a:r>
          </a:p>
          <a:p>
            <a:pPr>
              <a:spcBef>
                <a:spcPts val="800"/>
              </a:spcBef>
              <a:spcAft>
                <a:spcPts val="400"/>
              </a:spcAft>
              <a:defRPr sz="2200" b="0"/>
            </a:pPr>
            <a:r>
              <a:t>*The end:* When malpractice suits mounted and the techniques were scrutinized, the epidemic disappeared. The "memories" stopped appearing when therapists stopped inducing them.</a:t>
            </a:r>
          </a:p>
          <a:p>
            <a:pPr>
              <a:spcBef>
                <a:spcPts val="800"/>
              </a:spcBef>
              <a:spcAft>
                <a:spcPts val="400"/>
              </a:spcAft>
              <a:defRPr sz="2200" b="1"/>
            </a:pPr>
            <a:r>
              <a:t>These were licensed professionals with good intentions following the accepted practices of their field.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1.3 The Pattern</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When anxiety is high—perceived uncertainty plus urgency—people seek ways to reduce uncertainty.</a:t>
            </a:r>
          </a:p>
          <a:p>
            <a:pPr>
              <a:spcBef>
                <a:spcPts val="800"/>
              </a:spcBef>
              <a:spcAft>
                <a:spcPts val="400"/>
              </a:spcAft>
              <a:defRPr sz="2200" b="0"/>
            </a:pPr>
            <a:r>
              <a:t>An ideology that is **untestable** (can't be disproven) and **simple** (explains everything) provides immediate relief. Believers calm down. They feel like they understand.</a:t>
            </a:r>
          </a:p>
          <a:p>
            <a:pPr>
              <a:spcBef>
                <a:spcPts val="800"/>
              </a:spcBef>
              <a:spcAft>
                <a:spcPts val="400"/>
              </a:spcAft>
              <a:defRPr sz="2200" b="0"/>
            </a:pPr>
            <a:r>
              <a:t>But untestable means no self-correction. The real problem stays hidden. In the worst cases, the "treatment" does more damage than the original problem.</a:t>
            </a:r>
          </a:p>
          <a:p>
            <a:pPr>
              <a:spcBef>
                <a:spcPts val="800"/>
              </a:spcBef>
              <a:spcAft>
                <a:spcPts val="400"/>
              </a:spcAft>
              <a:defRPr sz="2200" b="1"/>
            </a:pPr>
            <a:r>
              <a:t>This is not about bad people. It's about what happens when caring professionals don't think scientifically.</a:t>
            </a:r>
          </a:p>
          <a:p>
            <a:pPr>
              <a:spcBef>
                <a:spcPts val="800"/>
              </a:spcBef>
              <a:spcAft>
                <a:spcPts val="400"/>
              </a:spcAft>
              <a:defRPr sz="2200" b="0"/>
            </a:pPr>
            <a:r>
              <a:t>The lobotomists weren't monsters—Walter Freeman won a Nobel Prize. The recovered memory therapists weren't predators—they believed they were healing trauma. The Cambridge-Somerville counselors weren't negligent—they loved those boys.</a:t>
            </a:r>
          </a:p>
          <a:p>
            <a:pPr>
              <a:spcBef>
                <a:spcPts val="800"/>
              </a:spcBef>
              <a:spcAft>
                <a:spcPts val="400"/>
              </a:spcAft>
              <a:defRPr sz="2200" b="0"/>
            </a:pPr>
            <a:r>
              <a:t>They just didn't have a way to test whether they were helping or hurting.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1.4 The Fatal Flaw in Bowen Theory</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Now bring it home: **Bowen Theory has the same structural problem.**</a:t>
            </a:r>
          </a:p>
          <a:p>
            <a:pPr>
              <a:spcBef>
                <a:spcPts val="800"/>
              </a:spcBef>
              <a:spcAft>
                <a:spcPts val="400"/>
              </a:spcAft>
              <a:defRPr sz="2200" b="0"/>
            </a:pPr>
            <a:r>
              <a:t>There is no evidence that a single explicit predictive model exists for Bowen Theory.</a:t>
            </a:r>
          </a:p>
          <a:p>
            <a:pPr>
              <a:spcBef>
                <a:spcPts val="800"/>
              </a:spcBef>
              <a:spcAft>
                <a:spcPts val="400"/>
              </a:spcAft>
              <a:defRPr sz="2200" b="1"/>
            </a:pPr>
            <a:r>
              <a:t>What do these terms mean?</a:t>
            </a:r>
          </a:p>
          <a:p>
            <a:pPr>
              <a:spcBef>
                <a:spcPts val="800"/>
              </a:spcBef>
              <a:spcAft>
                <a:spcPts val="400"/>
              </a:spcAft>
              <a:defRPr sz="2200" b="1"/>
            </a:pPr>
            <a:r>
              <a:t>Explicit = Outside the human brain; in material form that anyone can inspect</a:t>
            </a:r>
          </a:p>
          <a:p>
            <a:pPr>
              <a:spcBef>
                <a:spcPts val="800"/>
              </a:spcBef>
              <a:spcAft>
                <a:spcPts val="400"/>
              </a:spcAft>
              <a:defRPr sz="2200" b="1"/>
            </a:pPr>
            <a:r>
              <a:t>Predictive = Makes forecasts about what will happen, not just explains what already happened</a:t>
            </a:r>
          </a:p>
          <a:p>
            <a:pPr>
              <a:spcBef>
                <a:spcPts val="800"/>
              </a:spcBef>
              <a:spcAft>
                <a:spcPts val="400"/>
              </a:spcAft>
              <a:defRPr sz="2200" b="1"/>
            </a:pPr>
            <a:r>
              <a:t>Model = A simulation that produces testable predictions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1.4 The Fatal Flaw in Bowen Theory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state of the art: The model is in the coach's head. The brain is the material the calculation runs on. When we say "theory predicts X," the prediction is happening mentally—not in any form others can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1.5 Markers of Pseudoscience</a:t>
            </a:r>
          </a:p>
        </p:txBody>
      </p:sp>
      <p:graphicFrame>
        <p:nvGraphicFramePr>
          <p:cNvPr id="3" name="Table 2"/>
          <p:cNvGraphicFramePr>
            <a:graphicFrameLocks noGrp="1"/>
          </p:cNvGraphicFramePr>
          <p:nvPr/>
        </p:nvGraphicFramePr>
        <p:xfrm>
          <a:off x="822960" y="1280160"/>
          <a:ext cx="10515600" cy="256032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lgn="l">
                        <a:defRPr sz="1600" b="1"/>
                      </a:pPr>
                      <a:r>
                        <a:t>Marker</a:t>
                      </a:r>
                    </a:p>
                  </a:txBody>
                  <a:tcPr/>
                </a:tc>
                <a:tc>
                  <a:txBody>
                    <a:bodyPr/>
                    <a:lstStyle/>
                    <a:p>
                      <a:pPr algn="l">
                        <a:defRPr sz="1600" b="1"/>
                      </a:pPr>
                      <a:r>
                        <a:t>How It Shows Up</a:t>
                      </a:r>
                    </a:p>
                  </a:txBody>
                  <a:tcPr/>
                </a:tc>
              </a:tr>
              <a:tr h="365760">
                <a:tc>
                  <a:txBody>
                    <a:bodyPr/>
                    <a:lstStyle/>
                    <a:p>
                      <a:pPr algn="l">
                        <a:defRPr sz="1600"/>
                      </a:pPr>
                      <a:r>
                        <a:t>**No falsifiable predictions**</a:t>
                      </a:r>
                    </a:p>
                  </a:txBody>
                  <a:tcPr/>
                </a:tc>
                <a:tc>
                  <a:txBody>
                    <a:bodyPr/>
                    <a:lstStyle/>
                    <a:p>
                      <a:pPr algn="l">
                        <a:defRPr sz="1600"/>
                      </a:pPr>
                      <a:r>
                        <a:t>Can always explain with "another triangle" or "one more generation"</a:t>
                      </a:r>
                    </a:p>
                  </a:txBody>
                  <a:tcPr/>
                </a:tc>
              </a:tr>
              <a:tr h="365760">
                <a:tc>
                  <a:txBody>
                    <a:bodyPr/>
                    <a:lstStyle/>
                    <a:p>
                      <a:pPr algn="l">
                        <a:defRPr sz="1600"/>
                      </a:pPr>
                      <a:r>
                        <a:t>**No self-correction**</a:t>
                      </a:r>
                    </a:p>
                  </a:txBody>
                  <a:tcPr/>
                </a:tc>
                <a:tc>
                  <a:txBody>
                    <a:bodyPr/>
                    <a:lstStyle/>
                    <a:p>
                      <a:pPr algn="l">
                        <a:defRPr sz="1600"/>
                      </a:pPr>
                      <a:r>
                        <a:t>Claims stay inside the in-group; rarely subjected to outside critique</a:t>
                      </a:r>
                    </a:p>
                  </a:txBody>
                  <a:tcPr/>
                </a:tc>
              </a:tr>
              <a:tr h="365760">
                <a:tc>
                  <a:txBody>
                    <a:bodyPr/>
                    <a:lstStyle/>
                    <a:p>
                      <a:pPr algn="l">
                        <a:defRPr sz="1600"/>
                      </a:pPr>
                      <a:r>
                        <a:t>**Circular definitions**</a:t>
                      </a:r>
                    </a:p>
                  </a:txBody>
                  <a:tcPr/>
                </a:tc>
                <a:tc>
                  <a:txBody>
                    <a:bodyPr/>
                    <a:lstStyle/>
                    <a:p>
                      <a:pPr algn="l">
                        <a:defRPr sz="1600"/>
                      </a:pPr>
                      <a:r>
                        <a:t>"Differentiation" defined using "solid self" defined using "differentiation"</a:t>
                      </a:r>
                    </a:p>
                  </a:txBody>
                  <a:tcPr/>
                </a:tc>
              </a:tr>
              <a:tr h="365760">
                <a:tc>
                  <a:txBody>
                    <a:bodyPr/>
                    <a:lstStyle/>
                    <a:p>
                      <a:pPr algn="l">
                        <a:defRPr sz="1600"/>
                      </a:pPr>
                      <a:r>
                        <a:t>**Obscurantist language**</a:t>
                      </a:r>
                    </a:p>
                  </a:txBody>
                  <a:tcPr/>
                </a:tc>
                <a:tc>
                  <a:txBody>
                    <a:bodyPr/>
                    <a:lstStyle/>
                    <a:p>
                      <a:pPr algn="l">
                        <a:defRPr sz="1600"/>
                      </a:pPr>
                      <a:r>
                        <a:t>Jargon only the in-group understands</a:t>
                      </a:r>
                    </a:p>
                  </a:txBody>
                  <a:tcPr/>
                </a:tc>
              </a:tr>
              <a:tr h="365760">
                <a:tc>
                  <a:txBody>
                    <a:bodyPr/>
                    <a:lstStyle/>
                    <a:p>
                      <a:pPr algn="l">
                        <a:defRPr sz="1600"/>
                      </a:pPr>
                      <a:r>
                        <a:t>**No boundary conditions**</a:t>
                      </a:r>
                    </a:p>
                  </a:txBody>
                  <a:tcPr/>
                </a:tc>
                <a:tc>
                  <a:txBody>
                    <a:bodyPr/>
                    <a:lstStyle/>
                    <a:p>
                      <a:pPr algn="l">
                        <a:defRPr sz="1600"/>
                      </a:pPr>
                      <a:r>
                        <a:t>Triangles are everywhere—what do they NOT predict?</a:t>
                      </a:r>
                    </a:p>
                  </a:txBody>
                  <a:tcPr/>
                </a:tc>
              </a:tr>
              <a:tr h="365760">
                <a:tc>
                  <a:txBody>
                    <a:bodyPr/>
                    <a:lstStyle/>
                    <a:p>
                      <a:pPr algn="l">
                        <a:defRPr sz="1600"/>
                      </a:pPr>
                      <a:r>
                        <a:t>**Reference to seminal thinker**</a:t>
                      </a:r>
                    </a:p>
                  </a:txBody>
                  <a:tcPr/>
                </a:tc>
                <a:tc>
                  <a:txBody>
                    <a:bodyPr/>
                    <a:lstStyle/>
                    <a:p>
                      <a:pPr algn="l">
                        <a:defRPr sz="1600"/>
                      </a:pPr>
                      <a:r>
                        <a:t>Arguments cite Bowen rather than testable models</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1.6 The Lung Cancer Test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Some 16-year-old creates a model that predicts lung cancer from imaging with 80% accuracy instead of 40%. Everyone gets it instantly—no mythology required. The focus shifts to the technology and the problem.</a:t>
            </a:r>
          </a:p>
          <a:p>
            <a:pPr>
              <a:spcBef>
                <a:spcPts val="800"/>
              </a:spcBef>
              <a:spcAft>
                <a:spcPts val="400"/>
              </a:spcAft>
              <a:defRPr sz="2200" b="0"/>
            </a:pPr>
            <a:r>
              <a:t>**If Bowen Theory had explicit predictive models that work, we'd talk about the models, not the mythology.** We wouldn't reference the Nim project and Murray Bowen's biography. We'd point to the predictions.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1.7 What Formal Research Actually Requires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All rigorous, formal research requires **data**.</a:t>
            </a:r>
          </a:p>
          <a:p>
            <a:pPr>
              <a:spcBef>
                <a:spcPts val="800"/>
              </a:spcBef>
              <a:spcAft>
                <a:spcPts val="400"/>
              </a:spcAft>
              <a:defRPr sz="2200" b="0"/>
            </a:pPr>
            <a:r>
              <a:t>Not impressions. Not case narratives. Not "I've seen this pattern." **Data.**</a:t>
            </a:r>
          </a:p>
          <a:p>
            <a:pPr>
              <a:spcBef>
                <a:spcPts val="800"/>
              </a:spcBef>
              <a:spcAft>
                <a:spcPts val="400"/>
              </a:spcAft>
              <a:defRPr sz="2200" b="0"/>
            </a:pPr>
            <a:r>
              <a:t>And data has requirements:</a:t>
            </a:r>
          </a:p>
          <a:p>
            <a:pPr>
              <a:spcBef>
                <a:spcPts val="800"/>
              </a:spcBef>
              <a:spcAft>
                <a:spcPts val="400"/>
              </a:spcAft>
              <a:defRPr sz="2200" b="1"/>
            </a:pPr>
            <a:r>
              <a:t>Systematically collected — Same method every time, not ad hoc</a:t>
            </a:r>
          </a:p>
          <a:p>
            <a:pPr>
              <a:spcBef>
                <a:spcPts val="800"/>
              </a:spcBef>
              <a:spcAft>
                <a:spcPts val="400"/>
              </a:spcAft>
              <a:defRPr sz="2200" b="1"/>
            </a:pPr>
            <a:r>
              <a:t>Cleanly recorded — Defined fields, not free-form notes</a:t>
            </a:r>
          </a:p>
          <a:p>
            <a:pPr>
              <a:spcBef>
                <a:spcPts val="800"/>
              </a:spcBef>
              <a:spcAft>
                <a:spcPts val="400"/>
              </a:spcAft>
              <a:defRPr sz="2200" b="1"/>
            </a:pPr>
            <a:r>
              <a:t>Sufficient sample size — N &gt; 1, ideally much larger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1.7 What Formal Research Actually Requires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Comparable across cases — Same format so you can aggregate</a:t>
            </a:r>
          </a:p>
          <a:p>
            <a:pPr>
              <a:spcBef>
                <a:spcPts val="800"/>
              </a:spcBef>
              <a:spcAft>
                <a:spcPts val="400"/>
              </a:spcAft>
              <a:defRPr sz="2200" b="1"/>
            </a:pPr>
            <a:r>
              <a:t>Available for critique — Others can inspect it, challenge it, reanalyze it</a:t>
            </a:r>
          </a:p>
          <a:p>
            <a:pPr>
              <a:spcBef>
                <a:spcPts val="800"/>
              </a:spcBef>
              <a:spcAft>
                <a:spcPts val="400"/>
              </a:spcAft>
              <a:defRPr sz="2200" b="0"/>
            </a:pPr>
            <a:r>
              <a:t>Without data that meets these criteria, you don't have research. You have stories.</a:t>
            </a:r>
          </a:p>
          <a:p>
            <a:pPr>
              <a:spcBef>
                <a:spcPts val="800"/>
              </a:spcBef>
              <a:spcAft>
                <a:spcPts val="400"/>
              </a:spcAft>
              <a:defRPr sz="2200" b="0"/>
            </a:pPr>
            <a:r>
              <a:t>The question for Bowen Theory: What would we even collect? What's the data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2: SARF — THE MINIMAL DATA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2.1 What's Needed</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Before you can have a predictive model, you need a **data model**—a formal definition of what gets tracked.</a:t>
            </a:r>
          </a:p>
          <a:p>
            <a:pPr>
              <a:spcBef>
                <a:spcPts val="800"/>
              </a:spcBef>
              <a:spcAft>
                <a:spcPts val="400"/>
              </a:spcAft>
              <a:defRPr sz="2200" b="0"/>
            </a:pPr>
            <a:r>
              <a:t>A data model answers:</a:t>
            </a:r>
          </a:p>
          <a:p>
            <a:pPr>
              <a:spcBef>
                <a:spcPts val="800"/>
              </a:spcBef>
              <a:spcAft>
                <a:spcPts val="400"/>
              </a:spcAft>
              <a:defRPr sz="2200" b="0"/>
            </a:pPr>
            <a:r>
              <a:t>What exactly do you record to capture what theory describes?</a:t>
            </a:r>
          </a:p>
          <a:p>
            <a:pPr>
              <a:spcBef>
                <a:spcPts val="800"/>
              </a:spcBef>
              <a:spcAft>
                <a:spcPts val="400"/>
              </a:spcAft>
              <a:defRPr sz="2200" b="0"/>
            </a:pPr>
            <a:r>
              <a:t>What applies across every case—not just this family, but any family?</a:t>
            </a:r>
          </a:p>
          <a:p>
            <a:pPr>
              <a:spcBef>
                <a:spcPts val="800"/>
              </a:spcBef>
              <a:spcAft>
                <a:spcPts val="400"/>
              </a:spcAft>
              <a:defRPr sz="2200" b="0"/>
            </a:pPr>
            <a:r>
              <a:t>How do you track triangles in a way that's not just mental, but recorded?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2.2 The SARF Pipeline</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R → A → S</a:t>
            </a:r>
          </a:p>
          <a:p>
            <a:pPr>
              <a:spcBef>
                <a:spcPts val="800"/>
              </a:spcBef>
              <a:spcAft>
                <a:spcPts val="400"/>
              </a:spcAft>
              <a:defRPr sz="2200" b="1"/>
            </a:pPr>
            <a:r>
              <a:t>(R)elationship shifts modulate (A)nxiety</a:t>
            </a:r>
          </a:p>
          <a:p>
            <a:pPr>
              <a:spcBef>
                <a:spcPts val="800"/>
              </a:spcBef>
              <a:spcAft>
                <a:spcPts val="400"/>
              </a:spcAft>
              <a:defRPr sz="2200" b="1"/>
            </a:pPr>
            <a:r>
              <a:t>(A)nxiety modulates (S)ymptoms</a:t>
            </a:r>
          </a:p>
          <a:p>
            <a:pPr>
              <a:spcBef>
                <a:spcPts val="800"/>
              </a:spcBef>
              <a:spcAft>
                <a:spcPts val="400"/>
              </a:spcAft>
              <a:defRPr sz="2200" b="1"/>
            </a:pPr>
            <a:r>
              <a:t>(F)unctioning is the independent clinical variable</a:t>
            </a:r>
          </a:p>
          <a:p>
            <a:pPr>
              <a:spcBef>
                <a:spcPts val="800"/>
              </a:spcBef>
              <a:spcAft>
                <a:spcPts val="400"/>
              </a:spcAft>
              <a:defRPr sz="2200" b="0"/>
            </a:pPr>
            <a:r>
              <a:t>Value space for R: conflict, distance, reciprocal functioning, child-focus, cutoff, inside (triangle), outside (triangle), define-self</a:t>
            </a:r>
          </a:p>
          <a:p>
            <a:pPr>
              <a:spcBef>
                <a:spcPts val="800"/>
              </a:spcBef>
              <a:spcAft>
                <a:spcPts val="400"/>
              </a:spcAft>
              <a:defRPr sz="2200" b="0"/>
            </a:pPr>
            <a:r>
              <a:t>Value space for S, A, F: up, down, same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2.3 A Clinical Vignette: Coding in SARF</a:t>
            </a:r>
          </a:p>
        </p:txBody>
      </p:sp>
      <p:graphicFrame>
        <p:nvGraphicFramePr>
          <p:cNvPr id="3" name="Table 2"/>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lgn="l">
                        <a:defRPr sz="1600" b="1"/>
                      </a:pPr>
                      <a:r>
                        <a:t>Variable</a:t>
                      </a:r>
                    </a:p>
                  </a:txBody>
                  <a:tcPr/>
                </a:tc>
                <a:tc>
                  <a:txBody>
                    <a:bodyPr/>
                    <a:lstStyle/>
                    <a:p>
                      <a:pPr algn="l">
                        <a:defRPr sz="1600" b="1"/>
                      </a:pPr>
                      <a:r>
                        <a:t>What I Found</a:t>
                      </a:r>
                    </a:p>
                  </a:txBody>
                  <a:tcPr/>
                </a:tc>
              </a:tr>
              <a:tr h="365760">
                <a:tc>
                  <a:txBody>
                    <a:bodyPr/>
                    <a:lstStyle/>
                    <a:p>
                      <a:pPr algn="l">
                        <a:defRPr sz="1600"/>
                      </a:pPr>
                      <a:r>
                        <a:t>**S**</a:t>
                      </a:r>
                    </a:p>
                  </a:txBody>
                  <a:tcPr/>
                </a:tc>
                <a:tc>
                  <a:txBody>
                    <a:bodyPr/>
                    <a:lstStyle/>
                    <a:p>
                      <a:pPr algn="l">
                        <a:defRPr sz="1600"/>
                      </a:pPr>
                      <a:r>
                        <a:t>Nail-biting in daughter</a:t>
                      </a:r>
                    </a:p>
                  </a:txBody>
                  <a:tcPr/>
                </a:tc>
              </a:tr>
              <a:tr h="365760">
                <a:tc>
                  <a:txBody>
                    <a:bodyPr/>
                    <a:lstStyle/>
                    <a:p>
                      <a:pPr algn="l">
                        <a:defRPr sz="1600"/>
                      </a:pPr>
                      <a:r>
                        <a:t>**R**</a:t>
                      </a:r>
                    </a:p>
                  </a:txBody>
                  <a:tcPr/>
                </a:tc>
                <a:tc>
                  <a:txBody>
                    <a:bodyPr/>
                    <a:lstStyle/>
                    <a:p>
                      <a:pPr algn="l">
                        <a:defRPr sz="1600"/>
                      </a:pPr>
                      <a:r>
                        <a:t>Boyfriend fled → Mother's relationship system destabilized</a:t>
                      </a:r>
                    </a:p>
                  </a:txBody>
                  <a:tcPr/>
                </a:tc>
              </a:tr>
              <a:tr h="365760">
                <a:tc>
                  <a:txBody>
                    <a:bodyPr/>
                    <a:lstStyle/>
                    <a:p>
                      <a:pPr algn="l">
                        <a:defRPr sz="1600"/>
                      </a:pPr>
                      <a:r>
                        <a:t>**A**</a:t>
                      </a:r>
                    </a:p>
                  </a:txBody>
                  <a:tcPr/>
                </a:tc>
                <a:tc>
                  <a:txBody>
                    <a:bodyPr/>
                    <a:lstStyle/>
                    <a:p>
                      <a:pPr algn="l">
                        <a:defRPr sz="1600"/>
                      </a:pPr>
                      <a:r>
                        <a:t>Mother's anxiety spiked</a:t>
                      </a:r>
                    </a:p>
                  </a:txBody>
                  <a:tcPr/>
                </a:tc>
              </a:tr>
              <a:tr h="365760">
                <a:tc>
                  <a:txBody>
                    <a:bodyPr/>
                    <a:lstStyle/>
                    <a:p>
                      <a:pPr algn="l">
                        <a:defRPr sz="1600"/>
                      </a:pPr>
                      <a:r>
                        <a:t>**S**</a:t>
                      </a:r>
                    </a:p>
                  </a:txBody>
                  <a:tcPr/>
                </a:tc>
                <a:tc>
                  <a:txBody>
                    <a:bodyPr/>
                    <a:lstStyle/>
                    <a:p>
                      <a:pPr algn="l">
                        <a:defRPr sz="1600"/>
                      </a:pPr>
                      <a:r>
                        <a:t>Daughter's nail-biting started at the same time</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2.4 The Atomic Operation</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smallest indivisible action: A **toward** or **away** move.</a:t>
            </a:r>
          </a:p>
          <a:p>
            <a:pPr>
              <a:spcBef>
                <a:spcPts val="800"/>
              </a:spcBef>
              <a:spcAft>
                <a:spcPts val="400"/>
              </a:spcAft>
              <a:defRPr sz="2200" b="0"/>
            </a:pPr>
            <a:r>
              <a:t>One mover, one or more recipients</a:t>
            </a:r>
          </a:p>
          <a:p>
            <a:pPr>
              <a:spcBef>
                <a:spcPts val="800"/>
              </a:spcBef>
              <a:spcAft>
                <a:spcPts val="400"/>
              </a:spcAft>
              <a:defRPr sz="2200" b="0"/>
            </a:pPr>
            <a:r>
              <a:t>Toward = increased contact</a:t>
            </a:r>
          </a:p>
          <a:p>
            <a:pPr>
              <a:spcBef>
                <a:spcPts val="800"/>
              </a:spcBef>
              <a:spcAft>
                <a:spcPts val="400"/>
              </a:spcAft>
              <a:defRPr sz="2200" b="0"/>
            </a:pPr>
            <a:r>
              <a:t>Away = decreased contact</a:t>
            </a:r>
          </a:p>
          <a:p>
            <a:pPr>
              <a:spcBef>
                <a:spcPts val="800"/>
              </a:spcBef>
              <a:spcAft>
                <a:spcPts val="400"/>
              </a:spcAft>
              <a:defRPr sz="2200" b="0"/>
            </a:pPr>
            <a:r>
              <a:t>Track arousal (operational definition of anxiety)</a:t>
            </a:r>
          </a:p>
          <a:p>
            <a:pPr>
              <a:spcBef>
                <a:spcPts val="800"/>
              </a:spcBef>
              <a:spcAft>
                <a:spcPts val="400"/>
              </a:spcAft>
              <a:defRPr sz="2200" b="0"/>
            </a:pPr>
            <a:r>
              <a:t>**What is a triangle?** One move that is simultaneously toward one and away from another.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2.5 Vertical Alignment</a:t>
            </a:r>
          </a:p>
        </p:txBody>
      </p:sp>
      <p:graphicFrame>
        <p:nvGraphicFramePr>
          <p:cNvPr id="3" name="Table 2"/>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lgn="l">
                        <a:defRPr sz="1600" b="1"/>
                      </a:pPr>
                      <a:r>
                        <a:t>You code...</a:t>
                      </a:r>
                    </a:p>
                  </a:txBody>
                  <a:tcPr/>
                </a:tc>
                <a:tc>
                  <a:txBody>
                    <a:bodyPr/>
                    <a:lstStyle/>
                    <a:p>
                      <a:pPr algn="l">
                        <a:defRPr sz="1600" b="1"/>
                      </a:pPr>
                      <a:r>
                        <a:t>You get...</a:t>
                      </a:r>
                    </a:p>
                  </a:txBody>
                  <a:tcPr/>
                </a:tc>
              </a:tr>
              <a:tr h="365760">
                <a:tc>
                  <a:txBody>
                    <a:bodyPr/>
                    <a:lstStyle/>
                    <a:p>
                      <a:pPr algn="l">
                        <a:defRPr sz="1600"/>
                      </a:pPr>
                      <a:r>
                        <a:t>Structured SARF entries</a:t>
                      </a:r>
                    </a:p>
                  </a:txBody>
                  <a:tcPr/>
                </a:tc>
                <a:tc>
                  <a:txBody>
                    <a:bodyPr/>
                    <a:lstStyle/>
                    <a:p>
                      <a:pPr algn="l">
                        <a:defRPr sz="1600"/>
                      </a:pPr>
                      <a:r>
                        <a:t>Direct comparison to AI extraction</a:t>
                      </a:r>
                    </a:p>
                  </a:txBody>
                  <a:tcPr/>
                </a:tc>
              </a:tr>
              <a:tr h="365760">
                <a:tc>
                  <a:txBody>
                    <a:bodyPr/>
                    <a:lstStyle/>
                    <a:p>
                      <a:pPr algn="l">
                        <a:defRPr sz="1600"/>
                      </a:pPr>
                      <a:r>
                        <a:t>Stream of changes</a:t>
                      </a:r>
                    </a:p>
                  </a:txBody>
                  <a:tcPr/>
                </a:tc>
                <a:tc>
                  <a:txBody>
                    <a:bodyPr/>
                    <a:lstStyle/>
                    <a:p>
                      <a:pPr algn="l">
                        <a:defRPr sz="1600"/>
                      </a:pPr>
                      <a:r>
                        <a:t>Real-time coding while interviewing</a:t>
                      </a:r>
                    </a:p>
                  </a:txBody>
                  <a:tcPr/>
                </a:tc>
              </a:tr>
              <a:tr h="365760">
                <a:tc>
                  <a:txBody>
                    <a:bodyPr/>
                    <a:lstStyle/>
                    <a:p>
                      <a:pPr algn="l">
                        <a:defRPr sz="1600"/>
                      </a:pPr>
                      <a:r>
                        <a:t>Defined fields</a:t>
                      </a:r>
                    </a:p>
                  </a:txBody>
                  <a:tcPr/>
                </a:tc>
                <a:tc>
                  <a:txBody>
                    <a:bodyPr/>
                    <a:lstStyle/>
                    <a:p>
                      <a:pPr algn="l">
                        <a:defRPr sz="1600"/>
                      </a:pPr>
                      <a:r>
                        <a:t>Stats without transformation</a:t>
                      </a:r>
                    </a:p>
                  </a:txBody>
                  <a:tcPr/>
                </a:tc>
              </a:tr>
              <a:tr h="365760">
                <a:tc>
                  <a:txBody>
                    <a:bodyPr/>
                    <a:lstStyle/>
                    <a:p>
                      <a:pPr algn="l">
                        <a:defRPr sz="1600"/>
                      </a:pPr>
                      <a:r>
                        <a:t>Same format</a:t>
                      </a:r>
                    </a:p>
                  </a:txBody>
                  <a:tcPr/>
                </a:tc>
                <a:tc>
                  <a:txBody>
                    <a:bodyPr/>
                    <a:lstStyle/>
                    <a:p>
                      <a:pPr algn="l">
                        <a:defRPr sz="1600"/>
                      </a:pPr>
                      <a:r>
                        <a:t>Replicable studies</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2.6 Early Findings from the R&amp;D</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Even at this early stage, systematic data collection has revealed things we couldn't see before:</a:t>
            </a:r>
          </a:p>
          <a:p>
            <a:pPr>
              <a:spcBef>
                <a:spcPts val="800"/>
              </a:spcBef>
              <a:spcAft>
                <a:spcPts val="400"/>
              </a:spcAft>
              <a:defRPr sz="2200" b="0"/>
            </a:pPr>
            <a:r>
              <a:t>Mutual discovery: You can't survey for this data like a knee problem. The therapist must be in a process of *mutual discovery* with the client—exploring together, not extracting answers. The relationship affects what emerges. If you just interrogate, you don't get the data you need.</a:t>
            </a:r>
          </a:p>
          <a:p>
            <a:pPr>
              <a:spcBef>
                <a:spcPts val="800"/>
              </a:spcBef>
              <a:spcAft>
                <a:spcPts val="400"/>
              </a:spcAft>
              <a:defRPr sz="2200" b="0"/>
            </a:pPr>
            <a:r>
              <a:t>Synthetic data trains faster: The working group learned SARF coding faster on synthetic (AI-generated) clinical discussions than on real case recordings. Cleaner examples, known ground truth, faster iteration. Real recordings remain the goal—synthetic data accelerates getting there.</a:t>
            </a:r>
          </a:p>
          <a:p>
            <a:pPr>
              <a:spcBef>
                <a:spcPts val="800"/>
              </a:spcBef>
              <a:spcAft>
                <a:spcPts val="400"/>
              </a:spcAft>
              <a:defRPr sz="2200" b="0"/>
            </a:pPr>
            <a:r>
              <a:t>The responsibility pattern: Two 45-minute interviews with one person. They see for the first time—laid out on a timeline—a pattern of constantly picking up responsibility. Saying yes to everything, no filter. Anxiety going up and up. No downs. Just seeing the data organized was the breakthrough. No sophisticated analysis required.</a:t>
            </a:r>
          </a:p>
          <a:p>
            <a:pPr>
              <a:spcBef>
                <a:spcPts val="800"/>
              </a:spcBef>
              <a:spcAft>
                <a:spcPts val="400"/>
              </a:spcAft>
              <a:defRPr sz="2200" b="1"/>
            </a:pPr>
            <a:r>
              <a:t>Timeline data clusters:** When you capture timeseries data in a standard Bowen-theory-driven clinical interview, the data naturally clusters into **3-5 notable periods**. Why? The client's own internal/emotional "sampling bias" determines which periods they report—they tell you about the times that are emotionally salient to *them*. These clusters ARE the "emotional process" described in Bowen theory. They typically follow a nodal/triggering event and reveal acute/episodic fluctuations in SARF variables over the baseline. The baseline is the state in the relatively quiet periods between clusters. **The clustering itself is the signal—you don't have to know what to look for.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2.7 What You Get for Free</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Here's the thing: **if you just focus on clean, correct, data-driven scientific practice, you get something you can actually call "Bowen theory."**</a:t>
            </a:r>
          </a:p>
          <a:p>
            <a:pPr>
              <a:spcBef>
                <a:spcPts val="800"/>
              </a:spcBef>
              <a:spcAft>
                <a:spcPts val="400"/>
              </a:spcAft>
              <a:defRPr sz="2200" b="0"/>
            </a:pPr>
            <a:r>
              <a:t>Bowen is in every family therapy textbook. But it's almost always misrepresented. The textbooks don't understand that Bowen was focused on natural science and predictive theory—not therapy. Most of the field still doesn't know the difference between theory and therapy. They think therapy *is* theory.</a:t>
            </a:r>
          </a:p>
          <a:p>
            <a:pPr>
              <a:spcBef>
                <a:spcPts val="800"/>
              </a:spcBef>
              <a:spcAft>
                <a:spcPts val="400"/>
              </a:spcAft>
              <a:defRPr sz="2200" b="0"/>
            </a:pPr>
            <a:r>
              <a:t>And right now, it takes practically unlimited reading and a three-year training program to understand how Bowen theory is actually different from everything else. You have to absorb so much to see the distinction.</a:t>
            </a:r>
          </a:p>
          <a:p>
            <a:pPr>
              <a:spcBef>
                <a:spcPts val="800"/>
              </a:spcBef>
              <a:spcAft>
                <a:spcPts val="400"/>
              </a:spcAft>
              <a:defRPr sz="2200" b="0"/>
            </a:pPr>
            <a:r>
              <a:t>But look at SARF. At the conceptual level, it's **obviously** different:</a:t>
            </a:r>
          </a:p>
          <a:p>
            <a:pPr>
              <a:spcBef>
                <a:spcPts val="800"/>
              </a:spcBef>
              <a:spcAft>
                <a:spcPts val="400"/>
              </a:spcAft>
              <a:defRPr sz="2200" b="0"/>
            </a:pPr>
            <a:r>
              <a:t>Different from individual therapy (the unit of analysis is the relationship system, not the individual)</a:t>
            </a:r>
          </a:p>
          <a:p>
            <a:pPr>
              <a:spcBef>
                <a:spcPts val="800"/>
              </a:spcBef>
              <a:spcAft>
                <a:spcPts val="400"/>
              </a:spcAft>
              <a:defRPr sz="2200" b="0"/>
            </a:pPr>
            <a:r>
              <a:t>Different from any other psychological data model (tracking R → A → S across a timeline of family functioning)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2.7 What You Get for Free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You don't need three years of training to see that this is something else. The data model makes the distinctiveness self-evident.</a:t>
            </a:r>
          </a:p>
          <a:p>
            <a:pPr>
              <a:spcBef>
                <a:spcPts val="800"/>
              </a:spcBef>
              <a:spcAft>
                <a:spcPts val="400"/>
              </a:spcAft>
              <a:defRPr sz="2200" b="1"/>
            </a:pPr>
            <a:r>
              <a:t>Focus on the science, and you end up with Bowen theory—recognizably, demonstrably.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MID-PRESENTATION DISCUSSION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Discussion Prompts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historical catastrophes:** What's your reaction? Could you see yourself caught up in something like that?</a:t>
            </a:r>
          </a:p>
          <a:p>
            <a:pPr>
              <a:spcBef>
                <a:spcPts val="800"/>
              </a:spcBef>
              <a:spcAft>
                <a:spcPts val="400"/>
              </a:spcAft>
              <a:defRPr sz="2200" b="0"/>
            </a:pPr>
            <a:r>
              <a:t>**The pseudoscience markers:** Which ones hit closest to home?</a:t>
            </a:r>
          </a:p>
          <a:p>
            <a:pPr>
              <a:spcBef>
                <a:spcPts val="800"/>
              </a:spcBef>
              <a:spcAft>
                <a:spcPts val="400"/>
              </a:spcAft>
              <a:defRPr sz="2200" b="0"/>
            </a:pPr>
            <a:r>
              <a:t>**The SARF model:** Does this capture what you observe clinically? What's missing?</a:t>
            </a:r>
          </a:p>
          <a:p>
            <a:pPr>
              <a:spcBef>
                <a:spcPts val="800"/>
              </a:spcBef>
              <a:spcAft>
                <a:spcPts val="400"/>
              </a:spcAft>
              <a:defRPr sz="2200" b="0"/>
            </a:pPr>
            <a:r>
              <a:t>**The nail-biting vignette:** How would you have coded it? What would you add?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3: WHAT WE'RE BUILDING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3.1 The Tool Ecosystem</a:t>
            </a:r>
          </a:p>
        </p:txBody>
      </p:sp>
      <p:graphicFrame>
        <p:nvGraphicFramePr>
          <p:cNvPr id="3" name="Table 2"/>
          <p:cNvGraphicFramePr>
            <a:graphicFrameLocks noGrp="1"/>
          </p:cNvGraphicFramePr>
          <p:nvPr/>
        </p:nvGraphicFramePr>
        <p:xfrm>
          <a:off x="822960" y="1280160"/>
          <a:ext cx="10515600" cy="146304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lgn="l">
                        <a:defRPr sz="1600" b="1"/>
                      </a:pPr>
                      <a:r>
                        <a:t>Tool</a:t>
                      </a:r>
                    </a:p>
                  </a:txBody>
                  <a:tcPr/>
                </a:tc>
                <a:tc>
                  <a:txBody>
                    <a:bodyPr/>
                    <a:lstStyle/>
                    <a:p>
                      <a:pPr algn="l">
                        <a:defRPr sz="1600" b="1"/>
                      </a:pPr>
                      <a:r>
                        <a:t>Status</a:t>
                      </a:r>
                    </a:p>
                  </a:txBody>
                  <a:tcPr/>
                </a:tc>
                <a:tc>
                  <a:txBody>
                    <a:bodyPr/>
                    <a:lstStyle/>
                    <a:p>
                      <a:pPr algn="l">
                        <a:defRPr sz="1600" b="1"/>
                      </a:pPr>
                      <a:r>
                        <a:t>Function</a:t>
                      </a:r>
                    </a:p>
                  </a:txBody>
                  <a:tcPr/>
                </a:tc>
              </a:tr>
              <a:tr h="365760">
                <a:tc>
                  <a:txBody>
                    <a:bodyPr/>
                    <a:lstStyle/>
                    <a:p>
                      <a:pPr algn="l">
                        <a:defRPr sz="1600"/>
                      </a:pPr>
                      <a:r>
                        <a:t>**Family Diagram Pro**</a:t>
                      </a:r>
                    </a:p>
                  </a:txBody>
                  <a:tcPr/>
                </a:tc>
                <a:tc>
                  <a:txBody>
                    <a:bodyPr/>
                    <a:lstStyle/>
                    <a:p>
                      <a:pPr algn="l">
                        <a:defRPr sz="1600"/>
                      </a:pPr>
                      <a:r>
                        <a:t>Released</a:t>
                      </a:r>
                    </a:p>
                  </a:txBody>
                  <a:tcPr/>
                </a:tc>
                <a:tc>
                  <a:txBody>
                    <a:bodyPr/>
                    <a:lstStyle/>
                    <a:p>
                      <a:pPr algn="l">
                        <a:defRPr sz="1600"/>
                      </a:pPr>
                      <a:r>
                        <a:t>Timeline + diagram for clinicians</a:t>
                      </a:r>
                    </a:p>
                  </a:txBody>
                  <a:tcPr/>
                </a:tc>
              </a:tr>
              <a:tr h="365760">
                <a:tc>
                  <a:txBody>
                    <a:bodyPr/>
                    <a:lstStyle/>
                    <a:p>
                      <a:pPr algn="l">
                        <a:defRPr sz="1600"/>
                      </a:pPr>
                      <a:r>
                        <a:t>**Family Diagram Personal**</a:t>
                      </a:r>
                    </a:p>
                  </a:txBody>
                  <a:tcPr/>
                </a:tc>
                <a:tc>
                  <a:txBody>
                    <a:bodyPr/>
                    <a:lstStyle/>
                    <a:p>
                      <a:pPr algn="l">
                        <a:defRPr sz="1600"/>
                      </a:pPr>
                      <a:r>
                        <a:t>In development</a:t>
                      </a:r>
                    </a:p>
                  </a:txBody>
                  <a:tcPr/>
                </a:tc>
                <a:tc>
                  <a:txBody>
                    <a:bodyPr/>
                    <a:lstStyle/>
                    <a:p>
                      <a:pPr algn="l">
                        <a:defRPr sz="1600"/>
                      </a:pPr>
                      <a:r>
                        <a:t>AI intake, generates timeline/diagram via conversation</a:t>
                      </a:r>
                    </a:p>
                  </a:txBody>
                  <a:tcPr/>
                </a:tc>
              </a:tr>
              <a:tr h="365760">
                <a:tc>
                  <a:txBody>
                    <a:bodyPr/>
                    <a:lstStyle/>
                    <a:p>
                      <a:pPr algn="l">
                        <a:defRPr sz="1600"/>
                      </a:pPr>
                      <a:r>
                        <a:t>**IRR System**</a:t>
                      </a:r>
                    </a:p>
                  </a:txBody>
                  <a:tcPr/>
                </a:tc>
                <a:tc>
                  <a:txBody>
                    <a:bodyPr/>
                    <a:lstStyle/>
                    <a:p>
                      <a:pPr algn="l">
                        <a:defRPr sz="1600"/>
                      </a:pPr>
                      <a:r>
                        <a:t>In use</a:t>
                      </a:r>
                    </a:p>
                  </a:txBody>
                  <a:tcPr/>
                </a:tc>
                <a:tc>
                  <a:txBody>
                    <a:bodyPr/>
                    <a:lstStyle/>
                    <a:p>
                      <a:pPr algn="l">
                        <a:defRPr sz="1600"/>
                      </a:pPr>
                      <a:r>
                        <a:t>Research infrastructure, blind coding workflow</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3.2 APP DEMO — Family Diagram Pro</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[LIVE DEMO]</a:t>
            </a:r>
          </a:p>
          <a:p>
            <a:pPr>
              <a:spcBef>
                <a:spcPts val="800"/>
              </a:spcBef>
              <a:spcAft>
                <a:spcPts val="400"/>
              </a:spcAft>
              <a:defRPr sz="2200" b="0"/>
            </a:pPr>
            <a:r>
              <a:t>Timeline construction</a:t>
            </a:r>
          </a:p>
          <a:p>
            <a:pPr>
              <a:spcBef>
                <a:spcPts val="800"/>
              </a:spcBef>
              <a:spcAft>
                <a:spcPts val="400"/>
              </a:spcAft>
              <a:defRPr sz="2200" b="0"/>
            </a:pPr>
            <a:r>
              <a:t>Functional facts</a:t>
            </a:r>
          </a:p>
          <a:p>
            <a:pPr>
              <a:spcBef>
                <a:spcPts val="800"/>
              </a:spcBef>
              <a:spcAft>
                <a:spcPts val="400"/>
              </a:spcAft>
              <a:defRPr sz="2200" b="0"/>
            </a:pPr>
            <a:r>
              <a:t>Emotional process symbols with timestamps and notes</a:t>
            </a:r>
          </a:p>
          <a:p>
            <a:pPr>
              <a:spcBef>
                <a:spcPts val="800"/>
              </a:spcBef>
              <a:spcAft>
                <a:spcPts val="400"/>
              </a:spcAft>
              <a:defRPr sz="2200" b="0"/>
            </a:pPr>
            <a:r>
              <a:t>Dynamic visualization</a:t>
            </a:r>
          </a:p>
          <a:p>
            <a:pPr>
              <a:spcBef>
                <a:spcPts val="800"/>
              </a:spcBef>
              <a:spcAft>
                <a:spcPts val="400"/>
              </a:spcAft>
              <a:defRPr sz="2200" b="0"/>
            </a:pPr>
            <a:r>
              <a:t>How it simplifies presenting a case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3.2 APP DEMO — Family Diagram Pro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Key point: This is the technology that makes it possible to present a clean argument in under 3 minutes. The data entry is designed so that cleaning it up and presenting it to a good-faith critic becomes feasible.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3.3 The IRR Working Group: What Humans Are Doing</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This is where the ground truth gets established. People trained in Bowen theory are doing the work that makes everything else possible.</a:t>
            </a:r>
          </a:p>
          <a:p>
            <a:pPr>
              <a:spcBef>
                <a:spcPts val="800"/>
              </a:spcBef>
              <a:spcAft>
                <a:spcPts val="400"/>
              </a:spcAft>
              <a:defRPr sz="2200" b="0"/>
            </a:pPr>
            <a:r>
              <a:t>What IRR means: Inter-Rater Reliability. Can two trained coders, working independently, code the same case the same way?</a:t>
            </a:r>
          </a:p>
          <a:p>
            <a:pPr>
              <a:spcBef>
                <a:spcPts val="800"/>
              </a:spcBef>
              <a:spcAft>
                <a:spcPts val="400"/>
              </a:spcAft>
              <a:defRPr sz="2200" b="1"/>
            </a:pPr>
            <a:r>
              <a:t>The workflow:</a:t>
            </a:r>
          </a:p>
          <a:p>
            <a:pPr>
              <a:spcBef>
                <a:spcPts val="800"/>
              </a:spcBef>
              <a:spcAft>
                <a:spcPts val="400"/>
              </a:spcAft>
              <a:defRPr sz="2200" b="0"/>
            </a:pPr>
            <a:r>
              <a:t>**Training materials** — Coders learn the SARF data model and coding rules</a:t>
            </a:r>
          </a:p>
          <a:p>
            <a:pPr>
              <a:spcBef>
                <a:spcPts val="800"/>
              </a:spcBef>
              <a:spcAft>
                <a:spcPts val="400"/>
              </a:spcAft>
              <a:defRPr sz="2200" b="0"/>
            </a:pPr>
            <a:r>
              <a:t>**Blind coding** — Each coder codes a case independently, without seeing others' work</a:t>
            </a:r>
          </a:p>
          <a:p>
            <a:pPr>
              <a:spcBef>
                <a:spcPts val="800"/>
              </a:spcBef>
              <a:spcAft>
                <a:spcPts val="400"/>
              </a:spcAft>
              <a:defRPr sz="2200" b="0"/>
            </a:pPr>
            <a:r>
              <a:t>**Comparison** — Codings are compared to measure agreement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3.3 The IRR Working Group: What Humans Are Doing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**Reconciliation** — Where coders disagree, they discuss and resolve</a:t>
            </a:r>
          </a:p>
          <a:p>
            <a:pPr>
              <a:spcBef>
                <a:spcPts val="800"/>
              </a:spcBef>
              <a:spcAft>
                <a:spcPts val="400"/>
              </a:spcAft>
              <a:defRPr sz="2200" b="0"/>
            </a:pPr>
            <a:r>
              <a:t>**Ground truth emerges** — Agreed-upon codings become the standard</a:t>
            </a:r>
          </a:p>
          <a:p>
            <a:pPr>
              <a:spcBef>
                <a:spcPts val="800"/>
              </a:spcBef>
              <a:spcAft>
                <a:spcPts val="400"/>
              </a:spcAft>
              <a:defRPr sz="2200" b="1"/>
            </a:pPr>
            <a:r>
              <a:t>What coders are actually doing:</a:t>
            </a:r>
          </a:p>
          <a:p>
            <a:pPr>
              <a:spcBef>
                <a:spcPts val="800"/>
              </a:spcBef>
              <a:spcAft>
                <a:spcPts val="400"/>
              </a:spcAft>
              <a:defRPr sz="2200" b="0"/>
            </a:pPr>
            <a:r>
              <a:t>Listening to case recordings or reading transcripts</a:t>
            </a:r>
          </a:p>
          <a:p>
            <a:pPr>
              <a:spcBef>
                <a:spcPts val="800"/>
              </a:spcBef>
              <a:spcAft>
                <a:spcPts val="400"/>
              </a:spcAft>
              <a:defRPr sz="2200" b="0"/>
            </a:pPr>
            <a:r>
              <a:t>Identifying SARF variables: What's the symptom? What relationship shifts preceded it? What happened to anxiety?</a:t>
            </a:r>
          </a:p>
          <a:p>
            <a:pPr>
              <a:spcBef>
                <a:spcPts val="800"/>
              </a:spcBef>
              <a:spcAft>
                <a:spcPts val="400"/>
              </a:spcAft>
              <a:defRPr sz="2200" b="0"/>
            </a:pPr>
            <a:r>
              <a:t>Coding toward/away moves and triangles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3.3 The IRR Working Group: What Humans Are Doing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Timestamping events on a timeline</a:t>
            </a:r>
          </a:p>
          <a:p>
            <a:pPr>
              <a:spcBef>
                <a:spcPts val="800"/>
              </a:spcBef>
              <a:spcAft>
                <a:spcPts val="400"/>
              </a:spcAft>
              <a:defRPr sz="2200" b="0"/>
            </a:pPr>
            <a:r>
              <a:t>Producing structured data that can be aggregated across cases</a:t>
            </a:r>
          </a:p>
          <a:p>
            <a:pPr>
              <a:spcBef>
                <a:spcPts val="800"/>
              </a:spcBef>
              <a:spcAft>
                <a:spcPts val="400"/>
              </a:spcAft>
              <a:defRPr sz="2200" b="0"/>
            </a:pPr>
            <a:r>
              <a:t>Why this matters: Without human agreement, there's no ground truth. Without ground truth, AI has nothing to learn from. The IRR working group IS the foundation—everything else depends on what they produce.</a:t>
            </a:r>
          </a:p>
          <a:p>
            <a:pPr>
              <a:spcBef>
                <a:spcPts val="800"/>
              </a:spcBef>
              <a:spcAft>
                <a:spcPts val="400"/>
              </a:spcAft>
              <a:defRPr sz="2200" b="0"/>
            </a:pPr>
            <a:r>
              <a:t>Current status: Working group active. Synthetic data has accelerated training. Real case recordings in exploration.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3.4 The R&amp;D Project: btcopilot (Brief Overview)</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This is an open-source R&amp;D project taking AI-assisted Bowen theory application to a professional level.</a:t>
            </a:r>
          </a:p>
          <a:p>
            <a:pPr>
              <a:spcBef>
                <a:spcPts val="800"/>
              </a:spcBef>
              <a:spcAft>
                <a:spcPts val="400"/>
              </a:spcAft>
              <a:defRPr sz="2200" b="1"/>
            </a:pPr>
            <a:r>
              <a:t>The core idea:</a:t>
            </a:r>
          </a:p>
          <a:p>
            <a:pPr>
              <a:spcBef>
                <a:spcPts val="800"/>
              </a:spcBef>
              <a:spcAft>
                <a:spcPts val="400"/>
              </a:spcAft>
              <a:defRPr sz="2200" b="0"/>
            </a:pPr>
            <a:r>
              <a:t>LLMs can read and understand the Bowen literature (which is remarkably internally consistent)</a:t>
            </a:r>
          </a:p>
          <a:p>
            <a:pPr>
              <a:spcBef>
                <a:spcPts val="800"/>
              </a:spcBef>
              <a:spcAft>
                <a:spcPts val="400"/>
              </a:spcAft>
              <a:defRPr sz="2200" b="0"/>
            </a:pPr>
            <a:r>
              <a:t>Chain multiple AI calls together as "building blocks"—each analyzing a different piece of the problem</a:t>
            </a:r>
          </a:p>
          <a:p>
            <a:pPr>
              <a:spcBef>
                <a:spcPts val="800"/>
              </a:spcBef>
              <a:spcAft>
                <a:spcPts val="400"/>
              </a:spcAft>
              <a:defRPr sz="2200" b="0"/>
            </a:pPr>
            <a:r>
              <a:t>Combine the results into a coherent evaluation</a:t>
            </a:r>
          </a:p>
          <a:p>
            <a:pPr>
              <a:spcBef>
                <a:spcPts val="800"/>
              </a:spcBef>
              <a:spcAft>
                <a:spcPts val="400"/>
              </a:spcAft>
              <a:defRPr sz="2200" b="1"/>
            </a:pPr>
            <a:r>
              <a:t>Building blocks example: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3.4 The R&amp;D Project: btcopilot (Brief Overview)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One call: Where are the key triangles?</a:t>
            </a:r>
          </a:p>
          <a:p>
            <a:pPr>
              <a:spcBef>
                <a:spcPts val="800"/>
              </a:spcBef>
              <a:spcAft>
                <a:spcPts val="400"/>
              </a:spcAft>
              <a:defRPr sz="2200" b="0"/>
            </a:pPr>
            <a:r>
              <a:t>Another: What's the baseline anxiety vs. fluctuations?</a:t>
            </a:r>
          </a:p>
          <a:p>
            <a:pPr>
              <a:spcBef>
                <a:spcPts val="800"/>
              </a:spcBef>
              <a:spcAft>
                <a:spcPts val="400"/>
              </a:spcAft>
              <a:defRPr sz="2200" b="0"/>
            </a:pPr>
            <a:r>
              <a:t>Another: What's the hypothetical baseline configuration?</a:t>
            </a:r>
          </a:p>
          <a:p>
            <a:pPr>
              <a:spcBef>
                <a:spcPts val="800"/>
              </a:spcBef>
              <a:spcAft>
                <a:spcPts val="400"/>
              </a:spcAft>
              <a:defRPr sz="2200" b="0"/>
            </a:pPr>
            <a:r>
              <a:t>Final call: Synthesize into an overall formulation</a:t>
            </a:r>
          </a:p>
          <a:p>
            <a:pPr>
              <a:spcBef>
                <a:spcPts val="800"/>
              </a:spcBef>
              <a:spcAft>
                <a:spcPts val="400"/>
              </a:spcAft>
              <a:defRPr sz="2200" b="1"/>
            </a:pPr>
            <a:r>
              <a:t>[SCREENSHOTS]</a:t>
            </a:r>
          </a:p>
          <a:p>
            <a:pPr>
              <a:spcBef>
                <a:spcPts val="800"/>
              </a:spcBef>
              <a:spcAft>
                <a:spcPts val="400"/>
              </a:spcAft>
              <a:defRPr sz="2200" b="0"/>
            </a:pPr>
            <a:r>
              <a:t>Mobile app interface with timeline data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3.4 The R&amp;D Project: btcopilot (Brief Overview)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clustering visualization (3-5 notable periods visible)</a:t>
            </a:r>
          </a:p>
          <a:p>
            <a:pPr>
              <a:spcBef>
                <a:spcPts val="800"/>
              </a:spcBef>
              <a:spcAft>
                <a:spcPts val="400"/>
              </a:spcAft>
              <a:defRPr sz="2200" b="0"/>
            </a:pPr>
            <a:r>
              <a:t>Example of AI-generated case formulation</a:t>
            </a:r>
          </a:p>
          <a:p>
            <a:pPr>
              <a:spcBef>
                <a:spcPts val="800"/>
              </a:spcBef>
              <a:spcAft>
                <a:spcPts val="400"/>
              </a:spcAft>
              <a:defRPr sz="2200" b="0"/>
            </a:pPr>
            <a:r>
              <a:t>*Let the screenshots speak for themselves.*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3.5 The IRR + AI Pipeline</a:t>
            </a:r>
          </a:p>
        </p:txBody>
      </p:sp>
      <p:graphicFrame>
        <p:nvGraphicFramePr>
          <p:cNvPr id="3" name="Table 2"/>
          <p:cNvGraphicFramePr>
            <a:graphicFrameLocks noGrp="1"/>
          </p:cNvGraphicFramePr>
          <p:nvPr/>
        </p:nvGraphicFramePr>
        <p:xfrm>
          <a:off x="822960" y="1280160"/>
          <a:ext cx="10515600" cy="146304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lgn="l">
                        <a:defRPr sz="1600" b="1"/>
                      </a:pPr>
                      <a:r>
                        <a:t>What AI Requires</a:t>
                      </a:r>
                    </a:p>
                  </a:txBody>
                  <a:tcPr/>
                </a:tc>
                <a:tc>
                  <a:txBody>
                    <a:bodyPr/>
                    <a:lstStyle/>
                    <a:p>
                      <a:pPr algn="l">
                        <a:defRPr sz="1600" b="1"/>
                      </a:pPr>
                      <a:r>
                        <a:t>What IRR Provides</a:t>
                      </a:r>
                    </a:p>
                  </a:txBody>
                  <a:tcPr/>
                </a:tc>
              </a:tr>
              <a:tr h="365760">
                <a:tc>
                  <a:txBody>
                    <a:bodyPr/>
                    <a:lstStyle/>
                    <a:p>
                      <a:pPr algn="l">
                        <a:defRPr sz="1600"/>
                      </a:pPr>
                      <a:r>
                        <a:t>Labeled examples</a:t>
                      </a:r>
                    </a:p>
                  </a:txBody>
                  <a:tcPr/>
                </a:tc>
                <a:tc>
                  <a:txBody>
                    <a:bodyPr/>
                    <a:lstStyle/>
                    <a:p>
                      <a:pPr algn="l">
                        <a:defRPr sz="1600"/>
                      </a:pPr>
                      <a:r>
                        <a:t>Human-coded cases</a:t>
                      </a:r>
                    </a:p>
                  </a:txBody>
                  <a:tcPr/>
                </a:tc>
              </a:tr>
              <a:tr h="365760">
                <a:tc>
                  <a:txBody>
                    <a:bodyPr/>
                    <a:lstStyle/>
                    <a:p>
                      <a:pPr algn="l">
                        <a:defRPr sz="1600"/>
                      </a:pPr>
                      <a:r>
                        <a:t>Consistent labels</a:t>
                      </a:r>
                    </a:p>
                  </a:txBody>
                  <a:tcPr/>
                </a:tc>
                <a:tc>
                  <a:txBody>
                    <a:bodyPr/>
                    <a:lstStyle/>
                    <a:p>
                      <a:pPr algn="l">
                        <a:defRPr sz="1600"/>
                      </a:pPr>
                      <a:r>
                        <a:t>Agreement-verified coding</a:t>
                      </a:r>
                    </a:p>
                  </a:txBody>
                  <a:tcPr/>
                </a:tc>
              </a:tr>
              <a:tr h="365760">
                <a:tc>
                  <a:txBody>
                    <a:bodyPr/>
                    <a:lstStyle/>
                    <a:p>
                      <a:pPr algn="l">
                        <a:defRPr sz="1600"/>
                      </a:pPr>
                      <a:r>
                        <a:t>Scale</a:t>
                      </a:r>
                    </a:p>
                  </a:txBody>
                  <a:tcPr/>
                </a:tc>
                <a:tc>
                  <a:txBody>
                    <a:bodyPr/>
                    <a:lstStyle/>
                    <a:p>
                      <a:pPr algn="l">
                        <a:defRPr sz="1600"/>
                      </a:pPr>
                      <a:r>
                        <a:t>Growing database</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4: IMPLICATIONS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4.1 If This Works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Certification</a:t>
            </a:r>
          </a:p>
          <a:p>
            <a:pPr>
              <a:spcBef>
                <a:spcPts val="800"/>
              </a:spcBef>
              <a:spcAft>
                <a:spcPts val="400"/>
              </a:spcAft>
              <a:defRPr sz="2200" b="0"/>
            </a:pPr>
            <a:r>
              <a:t>Objective competency testing</a:t>
            </a:r>
          </a:p>
          <a:p>
            <a:pPr>
              <a:spcBef>
                <a:spcPts val="800"/>
              </a:spcBef>
              <a:spcAft>
                <a:spcPts val="400"/>
              </a:spcAft>
              <a:defRPr sz="2200" b="0"/>
            </a:pPr>
            <a:r>
              <a:t>Compare trainee coding to ground truth</a:t>
            </a:r>
          </a:p>
          <a:p>
            <a:pPr>
              <a:spcBef>
                <a:spcPts val="800"/>
              </a:spcBef>
              <a:spcAft>
                <a:spcPts val="400"/>
              </a:spcAft>
              <a:defRPr sz="2200" b="1"/>
            </a:pPr>
            <a:r>
              <a:t>Standardized Training</a:t>
            </a:r>
          </a:p>
          <a:p>
            <a:pPr>
              <a:spcBef>
                <a:spcPts val="800"/>
              </a:spcBef>
              <a:spcAft>
                <a:spcPts val="400"/>
              </a:spcAft>
              <a:defRPr sz="2200" b="0"/>
            </a:pPr>
            <a:r>
              <a:t>Measurable outcomes</a:t>
            </a:r>
          </a:p>
          <a:p>
            <a:pPr>
              <a:spcBef>
                <a:spcPts val="800"/>
              </a:spcBef>
              <a:spcAft>
                <a:spcPts val="400"/>
              </a:spcAft>
              <a:defRPr sz="2200" b="0"/>
            </a:pPr>
            <a:r>
              <a:t>Curriculum based on validated method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4.1 If This Works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Aggregate Research</a:t>
            </a:r>
          </a:p>
          <a:p>
            <a:pPr>
              <a:spcBef>
                <a:spcPts val="800"/>
              </a:spcBef>
              <a:spcAft>
                <a:spcPts val="400"/>
              </a:spcAft>
              <a:defRPr sz="2200" b="0"/>
            </a:pPr>
            <a:r>
              <a:t>Data across practitioners</a:t>
            </a:r>
          </a:p>
          <a:p>
            <a:pPr>
              <a:spcBef>
                <a:spcPts val="800"/>
              </a:spcBef>
              <a:spcAft>
                <a:spcPts val="400"/>
              </a:spcAft>
              <a:defRPr sz="2200" b="0"/>
            </a:pPr>
            <a:r>
              <a:t>Statistical patterns emerge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4.2 Honest Assessment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Where we are:</a:t>
            </a:r>
          </a:p>
          <a:p>
            <a:pPr>
              <a:spcBef>
                <a:spcPts val="800"/>
              </a:spcBef>
              <a:spcAft>
                <a:spcPts val="400"/>
              </a:spcAft>
              <a:defRPr sz="2200" b="0"/>
            </a:pPr>
            <a:r>
              <a:t>IRR working group active</a:t>
            </a:r>
          </a:p>
          <a:p>
            <a:pPr>
              <a:spcBef>
                <a:spcPts val="800"/>
              </a:spcBef>
              <a:spcAft>
                <a:spcPts val="400"/>
              </a:spcAft>
              <a:defRPr sz="2200" b="0"/>
            </a:pPr>
            <a:r>
              <a:t>Synthetic data working</a:t>
            </a:r>
          </a:p>
          <a:p>
            <a:pPr>
              <a:spcBef>
                <a:spcPts val="800"/>
              </a:spcBef>
              <a:spcAft>
                <a:spcPts val="400"/>
              </a:spcAft>
              <a:defRPr sz="2200" b="0"/>
            </a:pPr>
            <a:r>
              <a:t>Real recordings in exploration</a:t>
            </a:r>
          </a:p>
          <a:p>
            <a:pPr>
              <a:spcBef>
                <a:spcPts val="800"/>
              </a:spcBef>
              <a:spcAft>
                <a:spcPts val="400"/>
              </a:spcAft>
              <a:defRPr sz="2200" b="0"/>
            </a:pPr>
            <a:r>
              <a:t>This is what real R&amp;D looks like. Early stage. Showing the process.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5: THE CHALLENGE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5.1 The 3-Minute Challenge</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I challenge anyone who believes Bowen Theory to be factual—even if not verified—to:</a:t>
            </a:r>
          </a:p>
          <a:p>
            <a:pPr>
              <a:spcBef>
                <a:spcPts val="800"/>
              </a:spcBef>
              <a:spcAft>
                <a:spcPts val="400"/>
              </a:spcAft>
              <a:defRPr sz="2200" b="0"/>
            </a:pPr>
            <a:r>
              <a:t>**Make a case presentation under 3 minutes** (ideally 2 minutes)</a:t>
            </a:r>
          </a:p>
          <a:p>
            <a:pPr>
              <a:spcBef>
                <a:spcPts val="800"/>
              </a:spcBef>
              <a:spcAft>
                <a:spcPts val="400"/>
              </a:spcAft>
              <a:defRPr sz="2200" b="0"/>
            </a:pPr>
            <a:r>
              <a:t>**Include only the minimum necessary data** for a clean argument</a:t>
            </a:r>
          </a:p>
          <a:p>
            <a:pPr>
              <a:spcBef>
                <a:spcPts val="800"/>
              </a:spcBef>
              <a:spcAft>
                <a:spcPts val="400"/>
              </a:spcAft>
              <a:defRPr sz="2200" b="0"/>
            </a:pPr>
            <a:r>
              <a:t>**Present to a good-faith critic** (someone who doesn't share the bias—like a physicist)</a:t>
            </a:r>
          </a:p>
          <a:p>
            <a:pPr>
              <a:spcBef>
                <a:spcPts val="800"/>
              </a:spcBef>
              <a:spcAft>
                <a:spcPts val="400"/>
              </a:spcAft>
              <a:defRPr sz="2200" b="0"/>
            </a:pPr>
            <a:r>
              <a:t>**Use a generalized formula, not ad hoc** (applies word-for-word to another family)</a:t>
            </a:r>
          </a:p>
          <a:p>
            <a:pPr>
              <a:spcBef>
                <a:spcPts val="800"/>
              </a:spcBef>
              <a:spcAft>
                <a:spcPts val="400"/>
              </a:spcAft>
              <a:defRPr sz="2200" b="0"/>
            </a:pPr>
            <a:r>
              <a:t>**Repeat with 3 more cases** (prove it replicates)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5.1 The 3-Minute Challenge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If that can be done, I would love to see it.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5.2 Why This Matters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This is the difference between:</a:t>
            </a:r>
          </a:p>
          <a:p>
            <a:pPr>
              <a:spcBef>
                <a:spcPts val="800"/>
              </a:spcBef>
              <a:spcAft>
                <a:spcPts val="400"/>
              </a:spcAft>
              <a:defRPr sz="2200" b="0"/>
            </a:pPr>
            <a:r>
              <a:t>A belief system that only makes sense to the in-group</a:t>
            </a:r>
          </a:p>
          <a:p>
            <a:pPr>
              <a:spcBef>
                <a:spcPts val="800"/>
              </a:spcBef>
              <a:spcAft>
                <a:spcPts val="400"/>
              </a:spcAft>
              <a:defRPr sz="2200" b="0"/>
            </a:pPr>
            <a:r>
              <a:t>A scientific claim that anyone can test</a:t>
            </a:r>
          </a:p>
          <a:p>
            <a:pPr>
              <a:spcBef>
                <a:spcPts val="800"/>
              </a:spcBef>
              <a:spcAft>
                <a:spcPts val="400"/>
              </a:spcAft>
              <a:defRPr sz="2200" b="0"/>
            </a:pPr>
            <a:r>
              <a:t>If we can't make a clean 3-minute case to someone outside the network, we haven't proven anything.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5.3 The App Seminar</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Family Diagram App Seminar** is where this work happens.</a:t>
            </a:r>
          </a:p>
          <a:p>
            <a:pPr>
              <a:spcBef>
                <a:spcPts val="800"/>
              </a:spcBef>
              <a:spcAft>
                <a:spcPts val="400"/>
              </a:spcAft>
              <a:defRPr sz="2200" b="0"/>
            </a:pPr>
            <a:r>
              <a:t>What it is:</a:t>
            </a:r>
          </a:p>
          <a:p>
            <a:pPr>
              <a:spcBef>
                <a:spcPts val="800"/>
              </a:spcBef>
              <a:spcAft>
                <a:spcPts val="400"/>
              </a:spcAft>
              <a:defRPr sz="2200" b="0"/>
            </a:pPr>
            <a:r>
              <a:t>Monthly Zoom sessions</a:t>
            </a:r>
          </a:p>
          <a:p>
            <a:pPr>
              <a:spcBef>
                <a:spcPts val="800"/>
              </a:spcBef>
              <a:spcAft>
                <a:spcPts val="400"/>
              </a:spcAft>
              <a:defRPr sz="2200" b="0"/>
            </a:pPr>
            <a:r>
              <a:t>Exploring cases and methodology</a:t>
            </a:r>
          </a:p>
          <a:p>
            <a:pPr>
              <a:spcBef>
                <a:spcPts val="800"/>
              </a:spcBef>
              <a:spcAft>
                <a:spcPts val="400"/>
              </a:spcAft>
              <a:defRPr sz="2200" b="0"/>
            </a:pPr>
            <a:r>
              <a:t>Building the skills to make clean arguments</a:t>
            </a:r>
          </a:p>
          <a:p>
            <a:pPr>
              <a:spcBef>
                <a:spcPts val="800"/>
              </a:spcBef>
              <a:spcAft>
                <a:spcPts val="400"/>
              </a:spcAft>
              <a:defRPr sz="2200" b="0"/>
            </a:pPr>
            <a:r>
              <a:t>Contributing to the research effort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5.3 The App Seminar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1"/>
            </a:pPr>
            <a:r>
              <a:t>Who it's for:</a:t>
            </a:r>
          </a:p>
          <a:p>
            <a:pPr>
              <a:spcBef>
                <a:spcPts val="800"/>
              </a:spcBef>
              <a:spcAft>
                <a:spcPts val="400"/>
              </a:spcAft>
              <a:defRPr sz="2200" b="0"/>
            </a:pPr>
            <a:r>
              <a:t>Clinicians who want to apply rigorous thinking to their cases</a:t>
            </a:r>
          </a:p>
          <a:p>
            <a:pPr>
              <a:spcBef>
                <a:spcPts val="800"/>
              </a:spcBef>
              <a:spcAft>
                <a:spcPts val="400"/>
              </a:spcAft>
              <a:defRPr sz="2200" b="0"/>
            </a:pPr>
            <a:r>
              <a:t>People who want to contribute to the formal research effort</a:t>
            </a:r>
          </a:p>
          <a:p>
            <a:pPr>
              <a:spcBef>
                <a:spcPts val="800"/>
              </a:spcBef>
              <a:spcAft>
                <a:spcPts val="400"/>
              </a:spcAft>
              <a:defRPr sz="2200" b="0"/>
            </a:pPr>
            <a:r>
              <a:t>PGP trainees are often the most interested and appropriate for this narrow scope</a:t>
            </a:r>
          </a:p>
          <a:p>
            <a:pPr>
              <a:spcBef>
                <a:spcPts val="800"/>
              </a:spcBef>
              <a:spcAft>
                <a:spcPts val="400"/>
              </a:spcAft>
              <a:defRPr sz="2200" b="0"/>
            </a:pPr>
            <a:r>
              <a:t>The PGP gives you the conceptual model. The app seminar is where you operationalize it.</a:t>
            </a:r>
          </a:p>
          <a:p>
            <a:pPr>
              <a:spcBef>
                <a:spcPts val="800"/>
              </a:spcBef>
              <a:spcAft>
                <a:spcPts val="400"/>
              </a:spcAft>
              <a:defRPr sz="2200" b="1"/>
            </a:pPr>
            <a:r>
              <a:t>alaskafamilysystems.com/family-diagram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PART 6: CLOSING DISCUSSION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Discussion Threads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implicit model in your own practice:** Where do your predictions come from? Could you write them down?</a:t>
            </a:r>
          </a:p>
          <a:p>
            <a:pPr>
              <a:spcBef>
                <a:spcPts val="800"/>
              </a:spcBef>
              <a:spcAft>
                <a:spcPts val="400"/>
              </a:spcAft>
              <a:defRPr sz="2200" b="0"/>
            </a:pPr>
            <a:r>
              <a:t>**The 3-minute challenge:** Who wants to try it? What would you need?</a:t>
            </a:r>
          </a:p>
          <a:p>
            <a:pPr>
              <a:spcBef>
                <a:spcPts val="800"/>
              </a:spcBef>
              <a:spcAft>
                <a:spcPts val="400"/>
              </a:spcAft>
              <a:defRPr sz="2200" b="0"/>
            </a:pPr>
            <a:r>
              <a:t>**The differentiation question:** Is the modeling effort compatible with differentiation of self?</a:t>
            </a:r>
          </a:p>
          <a:p>
            <a:pPr>
              <a:spcBef>
                <a:spcPts val="800"/>
              </a:spcBef>
              <a:spcAft>
                <a:spcPts val="400"/>
              </a:spcAft>
              <a:defRPr sz="2200" b="0"/>
            </a:pPr>
            <a:r>
              <a:t>**The IRR contribution:** Who's interested in becoming a coder?</a:t>
            </a:r>
          </a:p>
          <a:p>
            <a:pPr>
              <a:spcBef>
                <a:spcPts val="800"/>
              </a:spcBef>
              <a:spcAft>
                <a:spcPts val="400"/>
              </a:spcAft>
              <a:defRPr sz="2200" b="0"/>
            </a:pPr>
            <a:r>
              <a:t>**Getting involved:** What's the next step for someone who wants to contribute?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defRPr sz="4000" b="1"/>
            </a:pPr>
            <a:r>
              <a:t>PRESENTER NOTES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Timing Guide</a:t>
            </a:r>
          </a:p>
        </p:txBody>
      </p:sp>
      <p:graphicFrame>
        <p:nvGraphicFramePr>
          <p:cNvPr id="3" name="Table 2"/>
          <p:cNvGraphicFramePr>
            <a:graphicFrameLocks noGrp="1"/>
          </p:cNvGraphicFramePr>
          <p:nvPr/>
        </p:nvGraphicFramePr>
        <p:xfrm>
          <a:off x="822960" y="1280160"/>
          <a:ext cx="10515600" cy="2926080"/>
        </p:xfrm>
        <a:graphic>
          <a:graphicData uri="http://schemas.openxmlformats.org/drawingml/2006/table">
            <a:tbl>
              <a:tblPr firstRow="1" bandRow="1">
                <a:tableStyleId>{5C22544A-7EE6-4342-B048-85BDC9FD1C3A}</a:tableStyleId>
              </a:tblPr>
              <a:tblGrid>
                <a:gridCol w="3505200"/>
                <a:gridCol w="3505200"/>
                <a:gridCol w="3505200"/>
              </a:tblGrid>
              <a:tr h="365760">
                <a:tc>
                  <a:txBody>
                    <a:bodyPr/>
                    <a:lstStyle/>
                    <a:p>
                      <a:pPr algn="l">
                        <a:defRPr sz="1600" b="1"/>
                      </a:pPr>
                      <a:r>
                        <a:t>Part</a:t>
                      </a:r>
                    </a:p>
                  </a:txBody>
                  <a:tcPr/>
                </a:tc>
                <a:tc>
                  <a:txBody>
                    <a:bodyPr/>
                    <a:lstStyle/>
                    <a:p>
                      <a:pPr algn="l">
                        <a:defRPr sz="1600" b="1"/>
                      </a:pPr>
                      <a:r>
                        <a:t>Duration</a:t>
                      </a:r>
                    </a:p>
                  </a:txBody>
                  <a:tcPr/>
                </a:tc>
                <a:tc>
                  <a:txBody>
                    <a:bodyPr/>
                    <a:lstStyle/>
                    <a:p>
                      <a:pPr algn="l">
                        <a:defRPr sz="1600" b="1"/>
                      </a:pPr>
                      <a:r>
                        <a:t>Cumulative</a:t>
                      </a:r>
                    </a:p>
                  </a:txBody>
                  <a:tcPr/>
                </a:tc>
              </a:tr>
              <a:tr h="365760">
                <a:tc>
                  <a:txBody>
                    <a:bodyPr/>
                    <a:lstStyle/>
                    <a:p>
                      <a:pPr algn="l">
                        <a:defRPr sz="1600"/>
                      </a:pPr>
                      <a:r>
                        <a:t>1. The Problem</a:t>
                      </a:r>
                    </a:p>
                  </a:txBody>
                  <a:tcPr/>
                </a:tc>
                <a:tc>
                  <a:txBody>
                    <a:bodyPr/>
                    <a:lstStyle/>
                    <a:p>
                      <a:pPr algn="l">
                        <a:defRPr sz="1600"/>
                      </a:pPr>
                      <a:r>
                        <a:t>35 min</a:t>
                      </a:r>
                    </a:p>
                  </a:txBody>
                  <a:tcPr/>
                </a:tc>
                <a:tc>
                  <a:txBody>
                    <a:bodyPr/>
                    <a:lstStyle/>
                    <a:p>
                      <a:pPr algn="l">
                        <a:defRPr sz="1600"/>
                      </a:pPr>
                      <a:r>
                        <a:t>0:35</a:t>
                      </a:r>
                    </a:p>
                  </a:txBody>
                  <a:tcPr/>
                </a:tc>
              </a:tr>
              <a:tr h="365760">
                <a:tc>
                  <a:txBody>
                    <a:bodyPr/>
                    <a:lstStyle/>
                    <a:p>
                      <a:pPr algn="l">
                        <a:defRPr sz="1600"/>
                      </a:pPr>
                      <a:r>
                        <a:t>2. SARF</a:t>
                      </a:r>
                    </a:p>
                  </a:txBody>
                  <a:tcPr/>
                </a:tc>
                <a:tc>
                  <a:txBody>
                    <a:bodyPr/>
                    <a:lstStyle/>
                    <a:p>
                      <a:pPr algn="l">
                        <a:defRPr sz="1600"/>
                      </a:pPr>
                      <a:r>
                        <a:t>25 min</a:t>
                      </a:r>
                    </a:p>
                  </a:txBody>
                  <a:tcPr/>
                </a:tc>
                <a:tc>
                  <a:txBody>
                    <a:bodyPr/>
                    <a:lstStyle/>
                    <a:p>
                      <a:pPr algn="l">
                        <a:defRPr sz="1600"/>
                      </a:pPr>
                      <a:r>
                        <a:t>1:00</a:t>
                      </a:r>
                    </a:p>
                  </a:txBody>
                  <a:tcPr/>
                </a:tc>
              </a:tr>
              <a:tr h="365760">
                <a:tc>
                  <a:txBody>
                    <a:bodyPr/>
                    <a:lstStyle/>
                    <a:p>
                      <a:pPr algn="l">
                        <a:defRPr sz="1600"/>
                      </a:pPr>
                      <a:r>
                        <a:t>Mid-Discussion</a:t>
                      </a:r>
                    </a:p>
                  </a:txBody>
                  <a:tcPr/>
                </a:tc>
                <a:tc>
                  <a:txBody>
                    <a:bodyPr/>
                    <a:lstStyle/>
                    <a:p>
                      <a:pPr algn="l">
                        <a:defRPr sz="1600"/>
                      </a:pPr>
                      <a:r>
                        <a:t>20 min</a:t>
                      </a:r>
                    </a:p>
                  </a:txBody>
                  <a:tcPr/>
                </a:tc>
                <a:tc>
                  <a:txBody>
                    <a:bodyPr/>
                    <a:lstStyle/>
                    <a:p>
                      <a:pPr algn="l">
                        <a:defRPr sz="1600"/>
                      </a:pPr>
                      <a:r>
                        <a:t>1:20</a:t>
                      </a:r>
                    </a:p>
                  </a:txBody>
                  <a:tcPr/>
                </a:tc>
              </a:tr>
              <a:tr h="365760">
                <a:tc>
                  <a:txBody>
                    <a:bodyPr/>
                    <a:lstStyle/>
                    <a:p>
                      <a:pPr algn="l">
                        <a:defRPr sz="1600"/>
                      </a:pPr>
                      <a:r>
                        <a:t>3. What We're Building (w/ demos)</a:t>
                      </a:r>
                    </a:p>
                  </a:txBody>
                  <a:tcPr/>
                </a:tc>
                <a:tc>
                  <a:txBody>
                    <a:bodyPr/>
                    <a:lstStyle/>
                    <a:p>
                      <a:pPr algn="l">
                        <a:defRPr sz="1600"/>
                      </a:pPr>
                      <a:r>
                        <a:t>30 min</a:t>
                      </a:r>
                    </a:p>
                  </a:txBody>
                  <a:tcPr/>
                </a:tc>
                <a:tc>
                  <a:txBody>
                    <a:bodyPr/>
                    <a:lstStyle/>
                    <a:p>
                      <a:pPr algn="l">
                        <a:defRPr sz="1600"/>
                      </a:pPr>
                      <a:r>
                        <a:t>1:50</a:t>
                      </a:r>
                    </a:p>
                  </a:txBody>
                  <a:tcPr/>
                </a:tc>
              </a:tr>
              <a:tr h="365760">
                <a:tc>
                  <a:txBody>
                    <a:bodyPr/>
                    <a:lstStyle/>
                    <a:p>
                      <a:pPr algn="l">
                        <a:defRPr sz="1600"/>
                      </a:pPr>
                      <a:r>
                        <a:t>4. Implications</a:t>
                      </a:r>
                    </a:p>
                  </a:txBody>
                  <a:tcPr/>
                </a:tc>
                <a:tc>
                  <a:txBody>
                    <a:bodyPr/>
                    <a:lstStyle/>
                    <a:p>
                      <a:pPr algn="l">
                        <a:defRPr sz="1600"/>
                      </a:pPr>
                      <a:r>
                        <a:t>15 min</a:t>
                      </a:r>
                    </a:p>
                  </a:txBody>
                  <a:tcPr/>
                </a:tc>
                <a:tc>
                  <a:txBody>
                    <a:bodyPr/>
                    <a:lstStyle/>
                    <a:p>
                      <a:pPr algn="l">
                        <a:defRPr sz="1600"/>
                      </a:pPr>
                      <a:r>
                        <a:t>2:05</a:t>
                      </a:r>
                    </a:p>
                  </a:txBody>
                  <a:tcPr/>
                </a:tc>
              </a:tr>
              <a:tr h="365760">
                <a:tc>
                  <a:txBody>
                    <a:bodyPr/>
                    <a:lstStyle/>
                    <a:p>
                      <a:pPr algn="l">
                        <a:defRPr sz="1600"/>
                      </a:pPr>
                      <a:r>
                        <a:t>5. The Challenge + App Seminar</a:t>
                      </a:r>
                    </a:p>
                  </a:txBody>
                  <a:tcPr/>
                </a:tc>
                <a:tc>
                  <a:txBody>
                    <a:bodyPr/>
                    <a:lstStyle/>
                    <a:p>
                      <a:pPr algn="l">
                        <a:defRPr sz="1600"/>
                      </a:pPr>
                      <a:r>
                        <a:t>15 min</a:t>
                      </a:r>
                    </a:p>
                  </a:txBody>
                  <a:tcPr/>
                </a:tc>
                <a:tc>
                  <a:txBody>
                    <a:bodyPr/>
                    <a:lstStyle/>
                    <a:p>
                      <a:pPr algn="l">
                        <a:defRPr sz="1600"/>
                      </a:pPr>
                      <a:r>
                        <a:t>2:20</a:t>
                      </a:r>
                    </a:p>
                  </a:txBody>
                  <a:tcPr/>
                </a:tc>
              </a:tr>
              <a:tr h="365760">
                <a:tc>
                  <a:txBody>
                    <a:bodyPr/>
                    <a:lstStyle/>
                    <a:p>
                      <a:pPr algn="l">
                        <a:defRPr sz="1600"/>
                      </a:pPr>
                      <a:r>
                        <a:t>6. Closing Discussion</a:t>
                      </a:r>
                    </a:p>
                  </a:txBody>
                  <a:tcPr/>
                </a:tc>
                <a:tc>
                  <a:txBody>
                    <a:bodyPr/>
                    <a:lstStyle/>
                    <a:p>
                      <a:pPr algn="l">
                        <a:defRPr sz="1600"/>
                      </a:pPr>
                      <a:r>
                        <a:t>25 min</a:t>
                      </a:r>
                    </a:p>
                  </a:txBody>
                  <a:tcPr/>
                </a:tc>
                <a:tc>
                  <a:txBody>
                    <a:bodyPr/>
                    <a:lstStyle/>
                    <a:p>
                      <a:pPr algn="l">
                        <a:defRPr sz="1600"/>
                      </a:pPr>
                      <a:r>
                        <a:t>2:45</a:t>
                      </a:r>
                    </a:p>
                  </a:txBody>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Demo/Screenshot Checklist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 ] Family Diagram Pro open and ready for live demo</a:t>
            </a:r>
          </a:p>
          <a:p>
            <a:pPr>
              <a:spcBef>
                <a:spcPts val="800"/>
              </a:spcBef>
              <a:spcAft>
                <a:spcPts val="400"/>
              </a:spcAft>
              <a:defRPr sz="2200" b="0"/>
            </a:pPr>
            <a:r>
              <a:t>[ ] Sample case loaded with timeline</a:t>
            </a:r>
          </a:p>
          <a:p>
            <a:pPr>
              <a:spcBef>
                <a:spcPts val="800"/>
              </a:spcBef>
              <a:spcAft>
                <a:spcPts val="400"/>
              </a:spcAft>
              <a:defRPr sz="2200" b="0"/>
            </a:pPr>
            <a:r>
              <a:t>[ ] Screen share tested on Zoom</a:t>
            </a:r>
          </a:p>
          <a:p>
            <a:pPr>
              <a:spcBef>
                <a:spcPts val="800"/>
              </a:spcBef>
              <a:spcAft>
                <a:spcPts val="400"/>
              </a:spcAft>
              <a:defRPr sz="2200" b="0"/>
            </a:pPr>
            <a:r>
              <a:t>[ ] btcopilot R&amp;D screenshots prepared:</a:t>
            </a:r>
          </a:p>
          <a:p>
            <a:pPr>
              <a:spcBef>
                <a:spcPts val="800"/>
              </a:spcBef>
              <a:spcAft>
                <a:spcPts val="400"/>
              </a:spcAft>
              <a:defRPr sz="2200" b="0"/>
            </a:pPr>
            <a:r>
              <a:t>[ ] Mobile app interface with timeline</a:t>
            </a:r>
          </a:p>
          <a:p>
            <a:pPr>
              <a:spcBef>
                <a:spcPts val="800"/>
              </a:spcBef>
              <a:spcAft>
                <a:spcPts val="400"/>
              </a:spcAft>
              <a:defRPr sz="2200" b="0"/>
            </a:pPr>
            <a:r>
              <a:t>[ ] Clustering visualization (3-5 periods visible)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Demo/Screenshot Checklist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 ] Example AI-generated case formulation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Key Lines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"We're doing more than ever. Why isn't it working?"</a:t>
            </a:r>
          </a:p>
          <a:p>
            <a:pPr>
              <a:spcBef>
                <a:spcPts val="800"/>
              </a:spcBef>
              <a:spcAft>
                <a:spcPts val="400"/>
              </a:spcAft>
              <a:defRPr sz="2200" b="0"/>
            </a:pPr>
            <a:r>
              <a:t>"We're studying the blade of grass and ignoring the wind."</a:t>
            </a:r>
          </a:p>
          <a:p>
            <a:pPr>
              <a:spcBef>
                <a:spcPts val="800"/>
              </a:spcBef>
              <a:spcAft>
                <a:spcPts val="400"/>
              </a:spcAft>
              <a:defRPr sz="2200" b="0"/>
            </a:pPr>
            <a:r>
              <a:t>"More therapists than ever. More funding than ever. More awareness than ever. Problems got worse."</a:t>
            </a:r>
          </a:p>
          <a:p>
            <a:pPr>
              <a:spcBef>
                <a:spcPts val="800"/>
              </a:spcBef>
              <a:spcAft>
                <a:spcPts val="400"/>
              </a:spcAft>
              <a:defRPr sz="2200" b="0"/>
            </a:pPr>
            <a:r>
              <a:t>"The counselors loved these boys. The boys reported the program positively changed their lives. And it killed them faster."</a:t>
            </a:r>
          </a:p>
          <a:p>
            <a:pPr>
              <a:spcBef>
                <a:spcPts val="800"/>
              </a:spcBef>
              <a:spcAft>
                <a:spcPts val="400"/>
              </a:spcAft>
              <a:defRPr sz="2200" b="0"/>
            </a:pPr>
            <a:r>
              <a:t>"These were licensed professionals with good intentions following the accepted practices of their field."</a:t>
            </a:r>
          </a:p>
          <a:p>
            <a:pPr>
              <a:spcBef>
                <a:spcPts val="800"/>
              </a:spcBef>
              <a:spcAft>
                <a:spcPts val="400"/>
              </a:spcAft>
              <a:defRPr sz="2200" b="0"/>
            </a:pPr>
            <a:r>
              <a:t>"This is not about bad people. It's about what happens when caring professionals don't think scientifically."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Key Lines (cont.)</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"The model is in the coach's head—the brain is literally the material the calculation runs on."</a:t>
            </a:r>
          </a:p>
          <a:p>
            <a:pPr>
              <a:spcBef>
                <a:spcPts val="800"/>
              </a:spcBef>
              <a:spcAft>
                <a:spcPts val="400"/>
              </a:spcAft>
              <a:defRPr sz="2200" b="0"/>
            </a:pPr>
            <a:r>
              <a:t>"If we can't test it, how do we know we're not the next Cambridge-Somerville?"</a:t>
            </a:r>
          </a:p>
          <a:p>
            <a:pPr>
              <a:spcBef>
                <a:spcPts val="800"/>
              </a:spcBef>
              <a:spcAft>
                <a:spcPts val="400"/>
              </a:spcAft>
              <a:defRPr sz="2200" b="0"/>
            </a:pPr>
            <a:r>
              <a:t>"If Bowen Theory had explicit predictive models that work, we'd talk about the models, not the mythology."</a:t>
            </a:r>
          </a:p>
          <a:p>
            <a:pPr>
              <a:spcBef>
                <a:spcPts val="800"/>
              </a:spcBef>
              <a:spcAft>
                <a:spcPts val="400"/>
              </a:spcAft>
              <a:defRPr sz="2200" b="0"/>
            </a:pPr>
            <a:r>
              <a:t>"Without human agreement, there's no ground truth. Without ground truth, AI has nothing to learn from."</a:t>
            </a:r>
          </a:p>
          <a:p>
            <a:pPr>
              <a:spcBef>
                <a:spcPts val="800"/>
              </a:spcBef>
              <a:spcAft>
                <a:spcPts val="400"/>
              </a:spcAft>
              <a:defRPr sz="2200" b="0"/>
            </a:pPr>
            <a:r>
              <a:t>"Make a 3-minute case to a good-faith critic. Prove it."</a:t>
            </a:r>
          </a:p>
          <a:p>
            <a:pPr>
              <a:spcBef>
                <a:spcPts val="800"/>
              </a:spcBef>
              <a:spcAft>
                <a:spcPts val="400"/>
              </a:spcAft>
              <a:defRPr sz="2200" b="0"/>
            </a:pPr>
            <a:r>
              <a:t>"The PGP gives you the conceptual model. The app seminar is where you operationalize it."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pPr>
            <a:r>
              <a:t>Audience Notes</a:t>
            </a:r>
          </a:p>
        </p:txBody>
      </p:sp>
      <p:sp>
        <p:nvSpPr>
          <p:cNvPr id="3" name="TextBox 2"/>
          <p:cNvSpPr txBox="1"/>
          <p:nvPr/>
        </p:nvSpPr>
        <p:spPr>
          <a:xfrm>
            <a:off x="640080" y="1280160"/>
            <a:ext cx="10881360" cy="5029200"/>
          </a:xfrm>
          <a:prstGeom prst="rect">
            <a:avLst/>
          </a:prstGeom>
          <a:noFill/>
        </p:spPr>
        <p:txBody>
          <a:bodyPr wrap="square">
            <a:spAutoFit/>
          </a:bodyPr>
          <a:lstStyle/>
          <a:p>
            <a:pPr>
              <a:spcBef>
                <a:spcPts val="800"/>
              </a:spcBef>
              <a:spcAft>
                <a:spcPts val="400"/>
              </a:spcAft>
              <a:defRPr sz="2200" b="0"/>
            </a:pPr>
            <a:r>
              <a:t>PGP trainees: sophisticated, already trained in Bowen theory</a:t>
            </a:r>
          </a:p>
          <a:p>
            <a:pPr>
              <a:spcBef>
                <a:spcPts val="800"/>
              </a:spcBef>
              <a:spcAft>
                <a:spcPts val="400"/>
              </a:spcAft>
              <a:defRPr sz="2200" b="0"/>
            </a:pPr>
            <a:r>
              <a:t>Don't soften the pseudoscience thesis—it went over well at the Symposium</a:t>
            </a:r>
          </a:p>
          <a:p>
            <a:pPr>
              <a:spcBef>
                <a:spcPts val="800"/>
              </a:spcBef>
              <a:spcAft>
                <a:spcPts val="400"/>
              </a:spcAft>
              <a:defRPr sz="2200" b="0"/>
            </a:pPr>
            <a:r>
              <a:t>These people often become the most interested in the app seminar</a:t>
            </a:r>
          </a:p>
          <a:p>
            <a:pPr>
              <a:spcBef>
                <a:spcPts val="800"/>
              </a:spcBef>
              <a:spcAft>
                <a:spcPts val="400"/>
              </a:spcAft>
              <a:defRPr sz="2200" b="0"/>
            </a:pPr>
            <a:r>
              <a:t>They've felt the frustration of trying to communicate outside the network</a:t>
            </a:r>
          </a:p>
          <a:p>
            <a:pPr>
              <a:spcBef>
                <a:spcPts val="800"/>
              </a:spcBef>
              <a:spcAft>
                <a:spcPts val="400"/>
              </a:spcAft>
              <a:defRPr sz="2200" b="0"/>
            </a:pPr>
            <a:r>
              <a:t>Potential IRR contributors—make the invitation clear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