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4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4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4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4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4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TITLE SLIDE</a:t>
            </a:r>
          </a:p>
          <a:p>
            <a:r>
              <a:rPr sz="4200"/>
              <a:t>"Why Family? The State of Behavioral Health"</a:t>
            </a:r>
          </a:p>
          <a:p>
            <a:r>
              <a:rPr sz="4200"/>
              <a:t>Dr. Patrick Stinson — Alaska Family Systems</a:t>
            </a:r>
          </a:p>
          <a:p>
            <a:r>
              <a:rPr sz="4200"/>
              <a:t>Presentation 1 of 5, FFRN Conference Feb 28, 2025</a:t>
            </a:r>
          </a:p>
          <a:p/>
          <a:p>
            <a:r>
              <a:rPr sz="4200"/>
              <a:t>"I'll be speaking in the context of clinical psychology since it's a formalized domain with the most concrete examples. But these patterns apply across all helping professions—LCSW, LPC, MFT, and others."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MATERIALS &amp; SOURCES ONLINE (1 min)</a:t>
            </a:r>
          </a:p>
          <a:p/>
          <a:p>
            <a:r>
              <a:rPr sz="4200"/>
              <a:t>"All of the notes and sources for today's presentations are available online. If you want to follow along, review later, or share with colleagues, the link is right here."</a:t>
            </a:r>
          </a:p>
          <a:p/>
          <a:p>
            <a:r>
              <a:rPr sz="4200"/>
              <a:t>https://github.com/patrickkidd/ffrn-2026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SECTION II: THE ENGINEER'S CONFESSION (3 min)</a:t>
            </a:r>
          </a:p>
          <a:p/>
          <a:p>
            <a:r>
              <a:rPr sz="4200"/>
              <a:t>Your story: engineer enters behavioral health field.</a:t>
            </a:r>
          </a:p>
          <a:p>
            <a:r>
              <a:rPr sz="4200"/>
              <a:t>Expected: if it doesn't work, measure it, fix it, or discard it.</a:t>
            </a:r>
          </a:p>
          <a:p>
            <a:r>
              <a:rPr sz="4200"/>
              <a:t>Found: a field that doesn't work that way.</a:t>
            </a:r>
          </a:p>
          <a:p/>
          <a:p>
            <a:r>
              <a:rPr sz="4200"/>
              <a:t>"I'm not here to attack anyone's training. I'm here to make a case that everyone—not just engineers—needs scientific thinking."</a:t>
            </a:r>
          </a:p>
          <a:p/>
          <a:p>
            <a:r>
              <a:rPr sz="4200"/>
              <a:t>Transition: "Let me show you the data."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SECTION III: THE FIELD IS BROKEN (8 min)</a:t>
            </a:r>
          </a:p>
          <a:p/>
          <a:p>
            <a:r>
              <a:rPr sz="4200"/>
              <a:t>This section presents the hard data showing the field isn't working as expected. Treatment is increasing but outcomes aren't improving. The research base itself is unreliable.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THE TREATMENT-PREVALENCE PARADOX (Centerpiece)</a:t>
            </a:r>
          </a:p>
          <a:p>
            <a:r>
              <a:rPr sz="4200"/>
              <a:t>Source: Ormel et al. (2022)</a:t>
            </a:r>
          </a:p>
          <a:p/>
          <a:p>
            <a:r>
              <a:rPr sz="4200"/>
              <a:t>Treatment for depression increased 4x from 1987-2007.</a:t>
            </a:r>
          </a:p>
          <a:p>
            <a:r>
              <a:rPr sz="4200"/>
              <a:t>Prevalence of depression: stayed the same or increased.</a:t>
            </a:r>
          </a:p>
          <a:p/>
          <a:p>
            <a:r>
              <a:rPr sz="4200"/>
              <a:t>Researchers' conclusion: "Significant prevalence reduction requires not only better treatment but foremost long-term structurally funded prevention targeting powerful determinants."</a:t>
            </a:r>
          </a:p>
          <a:p/>
          <a:p>
            <a:r>
              <a:rPr sz="4200"/>
              <a:t>"More treatment does not mean less depression."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THE RELAPSE PROBLEM</a:t>
            </a:r>
          </a:p>
          <a:p>
            <a:r>
              <a:rPr sz="4200"/>
              <a:t>Sources: BMC Psychiatry, BJGP</a:t>
            </a:r>
          </a:p>
          <a:p/>
          <a:p>
            <a:r>
              <a:rPr sz="4200"/>
              <a:t>After first episode: 50% relapse.</a:t>
            </a:r>
          </a:p>
          <a:p>
            <a:r>
              <a:rPr sz="4200"/>
              <a:t>After second: 70%. After third: 90%.</a:t>
            </a:r>
          </a:p>
          <a:p>
            <a:r>
              <a:rPr sz="4200"/>
              <a:t>85% recurrence within a decade.</a:t>
            </a:r>
          </a:p>
          <a:p>
            <a:r>
              <a:rPr sz="4200"/>
              <a:t>79% of relapses occur within first 6 months.</a:t>
            </a:r>
          </a:p>
          <a:p/>
          <a:p>
            <a:r>
              <a:rPr sz="4200"/>
              <a:t>"The fire keeps getting relit."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THE YOUTH CRISIS</a:t>
            </a:r>
          </a:p>
          <a:p>
            <a:r>
              <a:rPr sz="4200"/>
              <a:t>Sources: CDC MMWR 2023, JED Foundation</a:t>
            </a:r>
          </a:p>
          <a:p/>
          <a:p>
            <a:r>
              <a:rPr sz="4200"/>
              <a:t>Teen depression: 145% increase (2010-2021).</a:t>
            </a:r>
          </a:p>
          <a:p>
            <a:r>
              <a:rPr sz="4200"/>
              <a:t>Suicide deaths ages 10-24: 62% increase (2007-2021).</a:t>
            </a:r>
          </a:p>
          <a:p>
            <a:r>
              <a:rPr sz="4200"/>
              <a:t>1 in 5 high school students seriously considered suicide in 2023.</a:t>
            </a:r>
          </a:p>
          <a:p>
            <a:r>
              <a:rPr sz="4200"/>
              <a:t>Preteen suicide (ages 8+): 8.2% annual increase (2008-2022).</a:t>
            </a:r>
          </a:p>
          <a:p/>
          <a:p>
            <a:r>
              <a:rPr sz="4200"/>
              <a:t>More therapists, more spending, more awareness than 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THE REPLICATION CRISIS + INSTITUTIONAL LOSS OF CONFIDENCE</a:t>
            </a:r>
          </a:p>
          <a:p>
            <a:r>
              <a:rPr sz="4200"/>
              <a:t>Source: Northwestern IPR</a:t>
            </a:r>
          </a:p>
          <a:p/>
          <a:p>
            <a:r>
              <a:rPr sz="4200"/>
              <a:t>~40% of psychology studies replicate. The research base itself is unreliable.</a:t>
            </a:r>
          </a:p>
          <a:p/>
          <a:p>
            <a:r>
              <a:rPr sz="4200"/>
              <a:t>NIMH stopped funding DSM-only research (2013).</a:t>
            </a:r>
          </a:p>
          <a:p>
            <a:r>
              <a:rPr sz="4200"/>
              <a:t>Thomas Insel: DSM diagnoses are "consensus about clusters of clinical symptoms, not any objective laboratory measure."</a:t>
            </a:r>
          </a:p>
          <a:p/>
          <a:p>
            <a:r>
              <a:rPr sz="4200"/>
              <a:t>The field's own institutions have lost confidence in its diagnostic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PUBLIC SKEPTICISM</a:t>
            </a:r>
          </a:p>
          <a:p>
            <a:r>
              <a:rPr sz="4200"/>
              <a:t>Source: Roper Center / Psychology Today polls</a:t>
            </a:r>
          </a:p>
          <a:p/>
          <a:p>
            <a:r>
              <a:rPr sz="4200"/>
              <a:t>43% say costs of therapy outweigh benefits (2004).</a:t>
            </a:r>
          </a:p>
          <a:p>
            <a:r>
              <a:rPr sz="4200"/>
              <a:t>38% believe most therapists need therapy themselves (2004).</a:t>
            </a:r>
          </a:p>
          <a:p>
            <a:r>
              <a:rPr sz="4200"/>
              <a:t>Public perceives therapy effective in only 26-50% of cases.</a:t>
            </a:r>
          </a:p>
          <a:p>
            <a:r>
              <a:rPr sz="4200"/>
              <a:t>Psychiatrists rated lower than doctors, nurses, pharmacists, even dentists for honesty/ethics (2012).</a:t>
            </a:r>
          </a:p>
          <a:p/>
          <a:p>
            <a:r>
              <a:rPr sz="4200"/>
              <a:t>"The public senses something is wrong—even if they can't articulate it. This skepticism has a basis."</a:t>
            </a:r>
          </a:p>
          <a:p/>
          <a:p>
            <a:r>
              <a:rPr sz="4200"/>
              <a:t>Transition: "How does a field stay broken this long? Let me show you a pattern."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SECTION IV: HISTORICAL CATASTROPHES (14 min)</a:t>
            </a:r>
          </a:p>
          <a:p/>
          <a:p>
            <a:r>
              <a:rPr sz="4200"/>
              <a:t>Setup: These aren't ancient history. These are cases where caring professionals, lacking objective frameworks, got swept up in collective beliefs that destroyed lives. The pattern repeats because the conditions repeat.</a:t>
            </a:r>
          </a:p>
          <a:p/>
          <a:p>
            <a:r>
              <a:rPr sz="4200"/>
              <a:t>For each case, note the structure: The Belief, The Evidence, The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SALEM WITCH TRIALS (1692)</a:t>
            </a:r>
          </a:p>
          <a:p/>
          <a:p>
            <a:r>
              <a:rPr sz="4200"/>
              <a:t>THE BELIEF: Witches are identifiable by symptoms and accusations. Supernatural forces explain community afflictions.</a:t>
            </a:r>
          </a:p>
          <a:p/>
          <a:p>
            <a:r>
              <a:rPr sz="4200"/>
              <a:t>THE EVIDENCE: Spectral evidence — visions, fits, accusations from afflicted girls. No physical evidence. No objective test. Testimony of the accusers was sufficient.</a:t>
            </a:r>
          </a:p>
          <a:p/>
          <a:p>
            <a:r>
              <a:rPr sz="4200"/>
              <a:t>THE OUTCOME: 25+ dead, 200+ accused, families destroyed. Within years, jurors signed public apologies. The court that convicted them was dissolved.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LOBOTOMY EPIDEMIC (1940s-1950s)</a:t>
            </a:r>
          </a:p>
          <a:p/>
          <a:p>
            <a:r>
              <a:rPr sz="4200"/>
              <a:t>THE BELIEF: Mental illness can be cured by severing connections in the brain. The frontal lobe is the seat of the problem.</a:t>
            </a:r>
          </a:p>
          <a:p/>
          <a:p>
            <a:r>
              <a:rPr sz="4200"/>
              <a:t>THE EVIDENCE: Patients seemed "calmer" after the procedure. No controlled studies. No long-term outcome tracking. Freeman personally performed 4,000 — on patients as young as 4.</a:t>
            </a:r>
          </a:p>
          <a:p/>
          <a:p>
            <a:r>
              <a:rPr sz="4200"/>
              <a:t>THE OUTCOME: 50,000+ lobotomies in the US. ~5% mortality rate. Thousands permanently damaged. Rosemary Kennedy permanently incapacitated. Freeman was celebrated — until he was banned. The Soviet Union banned it in 1950 as "contrary to the principles of humanity."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REFRIGERATOR MOTHER THEORY (1950s-1970s)</a:t>
            </a:r>
          </a:p>
          <a:p/>
          <a:p>
            <a:r>
              <a:rPr sz="4200"/>
              <a:t>THE BELIEF: Autism is caused by cold, unloving mothers who fail to bond with their children. The mother's emotional deficiency causes the child to withdraw.</a:t>
            </a:r>
          </a:p>
          <a:p/>
          <a:p>
            <a:r>
              <a:rPr sz="4200"/>
              <a:t>THE EVIDENCE: Psychoanalytic interpretation. No empirical studies. No biological evidence. Bruno Bettelheim was the main proponent.</a:t>
            </a:r>
          </a:p>
          <a:p/>
          <a:p>
            <a:r>
              <a:rPr sz="4200"/>
              <a:t>THE OUTCOME: 20 years blaming mothers for autism. Immense guilt inflicted on families. Children institutionalized rather than supported. Bettelheim was later exposed as a fraud who lied about his credentials and abused patients in his care.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THE RECOVERED MEMORY CATASTROPHE (1980s-1990s)</a:t>
            </a:r>
          </a:p>
          <a:p>
            <a:r>
              <a:rPr sz="4200"/>
              <a:t>One bad implicit model — repressed memory theory — simultaneously produced three interlocking disasters from a single flawed assumption.</a:t>
            </a:r>
          </a:p>
          <a:p/>
          <a:p>
            <a:r>
              <a:rPr sz="4200"/>
              <a:t>THE BELIEF: Childhood trauma is routinely repressed, and recoverable through suggestive therapy (hypnosis, guided imagery, leading questions). Repressed abuse supposedly causes personality to "split" into alters. Recovered memories supplied the content — satanic cults ritually abusing children.</a:t>
            </a:r>
          </a:p>
          <a:p/>
          <a:p>
            <a:r>
              <a:rPr sz="4200"/>
              <a:t>THE EVIDENCE: Patients "remembered" under therapeutic guidance. 95% of adult satanic ritual abuse allegations originated in therapy sessions. Psychiatrist Bennett Braun (1988) linked MPD to satanic cults at a national conference, lending professional credibility. No corroborating physical evidence for any of it. FBI Special Agent Kenneth Lanning's investigation: zero evidence.</a:t>
            </a:r>
          </a:p>
          <a:p/>
          <a:p>
            <a:r>
              <a:rPr sz="4200"/>
              <a:t>THE OUTCOME:</a:t>
            </a:r>
          </a:p>
          <a:p>
            <a:r>
              <a:rPr sz="4200"/>
              <a:t>• Recovered Memory Therapy: Est. 1 million patients convinced they had repressed memories. "Tens of thousands of families" destroyed by false accusations. People imprisoned on fabricated testimony.</a:t>
            </a:r>
          </a:p>
          <a:p>
            <a:r>
              <a:rPr sz="4200"/>
              <a:t>• MPD/DID Epidemic: 50,000 diagnoses (vs. ~200 in all prior history). 25-50% of MPD patients also "recovered" satanic abuse memories. Patients got worse. Epidemic disappeared when practices stopped — iatrogenic.</a:t>
            </a:r>
          </a:p>
          <a:p>
            <a:r>
              <a:rPr sz="4200"/>
              <a:t>• Satanic Panic: 12,000+ cases alleged. McMartin trial: 7 years, $15M, zero convictions.</a:t>
            </a:r>
          </a:p>
          <a:p/>
          <a:p>
            <a:r>
              <a:rPr sz="4200"/>
              <a:t>All three fell together. False Memory Syndrome Foundation (1992) countered recovered memory claims. Malpractice suits, license revocations. By 1995 the therapy, the diagnoses, and the panic had all receded.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THE COMMON PATTERN</a:t>
            </a:r>
          </a:p>
          <a:p>
            <a:r>
              <a:rPr sz="4200"/>
              <a:t>All cases share:</a:t>
            </a:r>
          </a:p>
          <a:p>
            <a:r>
              <a:rPr sz="4200"/>
              <a:t>• No objective evidence</a:t>
            </a:r>
          </a:p>
          <a:p>
            <a:r>
              <a:rPr sz="4200"/>
              <a:t>• No way to test validity</a:t>
            </a:r>
          </a:p>
          <a:p>
            <a:r>
              <a:rPr sz="4200"/>
              <a:t>• Emotion as the glue (fear, care, outrage)</a:t>
            </a:r>
          </a:p>
          <a:p>
            <a:r>
              <a:rPr sz="4200"/>
              <a:t>• Spread through professionals</a:t>
            </a:r>
          </a:p>
          <a:p>
            <a:r>
              <a:rPr sz="4200"/>
              <a:t>• Ended in calamity (deaths, imprisonment, families destroyed)</a:t>
            </a:r>
          </a:p>
          <a:p/>
          <a:p>
            <a:r>
              <a:rPr sz="4200"/>
              <a:t>The pattern repeats because the conditions repeat: caring professionals without objective frameworks get swept up in collective beliefs.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WHAT ABOUT NOW?</a:t>
            </a:r>
          </a:p>
          <a:p>
            <a:r>
              <a:rPr sz="4200"/>
              <a:t>"I want to pause and invite you to wonder: What social contagions might be happening right now? What topics feel off-limits to question? What beliefs are held with such emotional intensity that questioning them makes you suspect?"</a:t>
            </a:r>
          </a:p>
          <a:p/>
          <a:p>
            <a:r>
              <a:rPr sz="4200"/>
              <a:t>"I'm not going to name them. You can think of your own."</a:t>
            </a:r>
          </a:p>
          <a:p/>
          <a:p>
            <a:r>
              <a:rPr sz="4200"/>
              <a:t>"But I want to be clear: I have deep respect for the power of these forces. They are not to be taken lightly. They are not an invitation to convenient rebellion."</a:t>
            </a:r>
          </a:p>
          <a:p/>
          <a:p>
            <a:r>
              <a:rPr sz="4200"/>
              <a:t>"These forces are real. They serve a function—I believe a biological function. The question is not whether they exist, but whether we can recognize them and respond more thoughtfully than our ancestors did."</a:t>
            </a:r>
          </a:p>
          <a:p/>
          <a:p>
            <a:r>
              <a:rPr sz="4200"/>
              <a:t>Transition: "Which brings us to: Why does this keep happening?"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SECTION V: WHY THIS KEEPS HAPPENING (12 min)</a:t>
            </a:r>
          </a:p>
          <a:p/>
          <a:p>
            <a:r>
              <a:rPr sz="4200"/>
              <a:t>This section introduces the anxiety model: Anxiety = Perceived Uncertainty + Urgency. This is the "A" in SARF. When anxious, people seek any explanation to reduce uncertainty. Untestable, oversimplified ideologies provide psychological relief — but at great expense.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ANXIETY = PERCEIVED UNCERTAINTY + URGENCY</a:t>
            </a:r>
          </a:p>
          <a:p/>
          <a:p>
            <a:r>
              <a:rPr sz="4200"/>
              <a:t>Core concept (the "A" in SARF): Anxiety occurs when people perceive uncertainty combined with urgency.</a:t>
            </a:r>
          </a:p>
          <a:p/>
          <a:p>
            <a:r>
              <a:rPr sz="4200"/>
              <a:t>Something in the environment — or in relationships — creates this perception. When anxious, the first thing people do is look for a way to reduce uncertainty. Any explanation feels better than no explanation.</a:t>
            </a:r>
          </a:p>
          <a:p/>
          <a:p>
            <a:r>
              <a:rPr sz="4200"/>
              <a:t>What all these contagions have in common: They offer an explanation that is (1) Untestable — can't prove it wrong, and (2) Simple — but oversimplified.</a:t>
            </a:r>
          </a:p>
          <a:p/>
          <a:p>
            <a:r>
              <a:rPr sz="4200"/>
              <a:t>This combination: "explains" the problem, cuts the uncertainty, people perceive uncertainty has gone away, they calm down. "The ideology provides psychological relief. The believers feel better. That's why it spreads."</a:t>
            </a:r>
          </a:p>
          <a:p/>
          <a:p>
            <a:r>
              <a:rPr sz="4200"/>
              <a:t>Short-term: the ideology solves the suffering of anxiety for believers.</a:t>
            </a:r>
          </a:p>
          <a:p>
            <a:r>
              <a:rPr sz="4200"/>
              <a:t>Long-term: it obscures the true problem — which is that these problems are not well understood.</a:t>
            </a:r>
          </a:p>
          <a:p/>
          <a:p>
            <a:r>
              <a:rPr sz="4200"/>
              <a:t>The band-aid analogy: One person reacts to a cut knee by calmly applying a band-aid. Another runs into the house screaming bloody murder, breaking furniture, distressing their spouse who leaves the stove on rushing to the hospital, burning the house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CAMBRIDGE-SOMERVILLE YOUTH STUDY</a:t>
            </a:r>
          </a:p>
          <a:p>
            <a:r>
              <a:rPr sz="4200"/>
              <a:t>506 boys, matched pairs, random assignment. Treatment: counseling, mentorship, summer camp, caring adults.</a:t>
            </a:r>
          </a:p>
          <a:p/>
          <a:p>
            <a:r>
              <a:rPr sz="4200"/>
              <a:t>30-year result (Joan McCord follow-up): treatment group had more criminal offending, more alcohol abuse, more mental illness symptoms, lower occupational prestige, lower job satisfaction, more stress disorders, and earlier death.</a:t>
            </a:r>
          </a:p>
          <a:p/>
          <a:p>
            <a:r>
              <a:rPr sz="4200"/>
              <a:t>Joan McCord: "No one had ever discussed the possibility that intervention... that there is any potential for harmful effects."</a:t>
            </a:r>
          </a:p>
          <a:p/>
          <a:p>
            <a:r>
              <a:rPr sz="4200"/>
              <a:t>Also: DARE (80% of schools, no effect), Scared Straight (kids did worse).</a:t>
            </a:r>
          </a:p>
          <a:p/>
          <a:p>
            <a:r>
              <a:rPr sz="4200"/>
              <a:t>"Caring isn't enough. Without measurement, caring can hurt."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SECTION VI: THE PROPOSAL (12 min)</a:t>
            </a:r>
          </a:p>
          <a:p/>
          <a:p>
            <a:r>
              <a:rPr sz="4200"/>
              <a:t>Scientific thinking is the antidote. Scientific thinking = "What would have to be true for me to be wrong?" The willingness to be falsified. Nobody in these historical cases asked: "What if we're making it worse?"</a:t>
            </a:r>
          </a:p>
          <a:p/>
          <a:p>
            <a:r>
              <a:rPr sz="4200"/>
              <a:t>"A field that doesn't ask 'what if we're wrong?' will eventually be wrong in catastrophic ways."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THE BLADE OF GRASS</a:t>
            </a:r>
          </a:p>
          <a:p>
            <a:r>
              <a:rPr sz="4200"/>
              <a:t>Studying a blade of grass to understand why it bends. Measuring angle, position, structure. Still can't predict movement.</a:t>
            </a:r>
          </a:p>
          <a:p/>
          <a:p>
            <a:r>
              <a:rPr sz="4200"/>
              <a:t>Because the grass isn't the phenomenon. The wind is.</a:t>
            </a:r>
          </a:p>
          <a:p/>
          <a:p>
            <a:r>
              <a:rPr sz="4200"/>
              <a:t>"We've spent 80 years studying individuals. The pattern is in the system."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WHY FAMILY?</a:t>
            </a:r>
          </a:p>
          <a:p>
            <a:r>
              <a:rPr sz="4200"/>
              <a:t>Family is the smallest system where the pattern is visible.</a:t>
            </a:r>
          </a:p>
          <a:p>
            <a:r>
              <a:rPr sz="4200"/>
              <a:t>Not society (too big, can't intervene).</a:t>
            </a:r>
          </a:p>
          <a:p>
            <a:r>
              <a:rPr sz="4200"/>
              <a:t>Not the individual (misses the pattern).</a:t>
            </a:r>
          </a:p>
          <a:p>
            <a:r>
              <a:rPr sz="4200"/>
              <a:t>One level up from the blade of grass.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FACTS CALM PEOPLE DOWN</a:t>
            </a:r>
          </a:p>
          <a:p/>
          <a:p>
            <a:r>
              <a:rPr sz="4200"/>
              <a:t>The Common Currency Argument: Everyone knows what a dollar is — global markets. Without common currency — barter — no coordination. Without measurable concepts — opinion vs. opinion — loudest voice wins.</a:t>
            </a:r>
          </a:p>
          <a:p/>
          <a:p>
            <a:r>
              <a:rPr sz="4200"/>
              <a:t>First move in family therapy: gather facts. A fact = something everyone can easily agree on. Facts establish a depolarized baseline. Without facts: tribal hierarchy — emotionally determined outcomes.</a:t>
            </a:r>
          </a:p>
          <a:p/>
          <a:p>
            <a:r>
              <a:rPr sz="4200"/>
              <a:t>"Measurability provides a healthier way to reduce uncertainty than ideology. Facts calm people down without the catastrophic side effects."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WHAT YOU'LL GET TODAY</a:t>
            </a:r>
          </a:p>
          <a:p>
            <a:r>
              <a:rPr sz="4200"/>
              <a:t>Preview of the day's remaining sessions:</a:t>
            </a:r>
          </a:p>
          <a:p>
            <a:r>
              <a:rPr sz="4200"/>
              <a:t>• SARF: Measurable concepts for family-level patterns — including "A" for anxiety</a:t>
            </a:r>
          </a:p>
          <a:p>
            <a:r>
              <a:rPr sz="4200"/>
              <a:t>• AI Tools: Technology to capture what we're learning to see</a:t>
            </a:r>
          </a:p>
          <a:p>
            <a:r>
              <a:rPr sz="4200"/>
              <a:t>• App Demo: Practical tools you can use Monday</a:t>
            </a:r>
          </a:p>
          <a:p>
            <a:r>
              <a:rPr sz="4200"/>
              <a:t>• Clinical Case: Evidence it 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4200"/>
              <a:t>CLOSING / CALL TO ACTION</a:t>
            </a:r>
          </a:p>
          <a:p/>
          <a:p>
            <a:r>
              <a:rPr sz="4200"/>
              <a:t>"Everyone needs scientific thinking."</a:t>
            </a:r>
          </a:p>
          <a:p/>
          <a:p>
            <a:r>
              <a:rPr sz="4200"/>
              <a:t>"Before your next intake, draw the family."</a:t>
            </a:r>
          </a:p>
          <a:p/>
          <a:p>
            <a:r>
              <a:rPr sz="4200"/>
              <a:t>"Before your next intervention, ask: How would I know if this is making things worse?"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Family?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Behavioral Health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200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1 of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Patrick Stinson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Alaska Family Systems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 &amp; Sources Online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notes and sources for today's presentations are available online.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along, review later, or share with colleagues.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371600" y="2743200"/>
            <a:ext cx="6400800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1371600" y="2743200"/>
            <a:ext cx="64008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8346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github.com/patrickkidd/ffrn-2026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74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2011680" y="1371600"/>
            <a:ext cx="36576" cy="6400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0" y="10058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Engineer's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Confession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74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2011680" y="1371600"/>
            <a:ext cx="36576" cy="6400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0" y="10058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Field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Broken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Treatment-Prevalence Paradox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6576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80160"/>
            <a:ext cx="36576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087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4x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treatment for depression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(1987–2007)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6576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280160"/>
            <a:ext cx="36576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5087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0%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5029200" y="2331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prevalence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(stayed the same or increased)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566160"/>
            <a:ext cx="7680960" cy="6400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5661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treatment does not mean less depression.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4389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Ormel et al., 2022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Fire Keeps Getting Relit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200400" cy="5943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280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50%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103120" y="12801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1st episode relapse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057400"/>
            <a:ext cx="4572000" cy="5943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5740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103120" y="20574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2nd episode relapse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6400800" cy="5943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83464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103120" y="28346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3rd episode relapse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3566160"/>
            <a:ext cx="7680960" cy="5943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56616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within a decade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Youth Crisis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54864" cy="8229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18872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145%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926080" y="11887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 teen depression (2010–2021)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240280"/>
            <a:ext cx="76809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240280"/>
            <a:ext cx="54864" cy="8229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2402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62%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926080" y="224028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 suicide deaths ages 10–24 (2007–2021)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291840"/>
            <a:ext cx="76809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3291840"/>
            <a:ext cx="54864" cy="8229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2918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in 5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2926080" y="32918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school students seriously considered suicide (2023)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755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therapists, more spending, more awareness than ever.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Research Base Itself Is Unreliable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828800" y="1188720"/>
            <a:ext cx="54864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828800" y="12344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~40%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82880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psychology studies replicate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7680960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24612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NIMH stopped funding DSM-only research (2013)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703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Insel: DSM diagnoses are "consensus about clusters of clinical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symptoms, not any objective laboratory measure."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Public Senses Something Is Wrong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54864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1887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43%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834640" y="118872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costs of therapy outweigh benefits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057400"/>
            <a:ext cx="768096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057400"/>
            <a:ext cx="54864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0574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834640" y="205740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 most therapists need therapy themselves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768096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2926080"/>
            <a:ext cx="54864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9260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26–50%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834640" y="292608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estimate of therapy effectiveness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114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skepticism has a basis.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74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2011680" y="1371600"/>
            <a:ext cx="36576" cy="6400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0" y="10058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Historical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Catastrophes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aren't ancient history. These are cases where caring professionals,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lacking objective frameworks, got swept up in collective beliefs that destroyed lives.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minutes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Salem Witch Trials (1692)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657600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258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25+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657600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3258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200+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475488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accused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2004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spectral visions, fits, accusations.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years, jurors signed public apologies.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Lobotomy Epidemic (1940s–1950s)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12801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50,000+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lobotomies in the United States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97280" y="2743200"/>
            <a:ext cx="694944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743200"/>
            <a:ext cx="54864" cy="3657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~5% mortality rate. Thousands permanently damaged.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97280" y="3246120"/>
            <a:ext cx="694944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0" y="3246120"/>
            <a:ext cx="54864" cy="3657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3246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Freeman performed 4,000 personally — on patients as young as 4.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97280" y="3749040"/>
            <a:ext cx="694944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7280" y="3749040"/>
            <a:ext cx="54864" cy="3657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1417320" y="3749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Celebrated with a Nobel Prize. Soviet Union banned it in 1950.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"Refrigerator Mother" Theory (1950s–1970s)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286000" y="1188720"/>
            <a:ext cx="4572000" cy="12801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0" y="1234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years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228600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blaming mothers for autism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Belief: Autism caused by cold, unloving mothers.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Psychoanalytic interpretation.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institutionalized. Immense guilt inflicted.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Bettelheim exposed as fraud who lied about credentials and abused patients.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Recovered Memory Catastrophe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engine.  3 disasters.  Zero evidence.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24688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260604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087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Memory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~1M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convinced of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repressed memories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880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thousands of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destroyed.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imprisoned.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68980" y="1371600"/>
            <a:ext cx="2606040" cy="24688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Shape 9"/>
          <p:cNvSpPr/>
          <p:nvPr/>
        </p:nvSpPr>
        <p:spPr>
          <a:xfrm>
            <a:off x="3268980" y="1371600"/>
            <a:ext cx="260604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3268980" y="15087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MPD/DID Epidemic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68980" y="18288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50,000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3451860" y="2331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diagnoses vs. ~200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all prior history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51860" y="2880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Iatrogenic — created by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therapy itself.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Disappeared when stopped.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80760" y="1371600"/>
            <a:ext cx="2606040" cy="24688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Shape 15"/>
          <p:cNvSpPr/>
          <p:nvPr/>
        </p:nvSpPr>
        <p:spPr>
          <a:xfrm>
            <a:off x="6080760" y="1371600"/>
            <a:ext cx="260604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6080760" y="15087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Satanic Panic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80760" y="18288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12,000+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263640" y="2331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alleged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2880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McMartin: 7 yrs, $15M,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convictions.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FBI: zero evidence.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4114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fell together. False Memory Syndrome Foundation (1992). Malpractice suits, license revocations.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Common Pattern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188720"/>
          <a:ext cx="64008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 in All Cases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objective evidence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89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way to test validity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89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Emotion as the glue (fear, care, outrage)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89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 through professionals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89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Ended in calamity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89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73152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About Now?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1371600" y="3108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social contagions might be happening right now?</a:t>
            </a:r>
            <a:endParaRPr lang="en-US" sz="17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topics feel off-limits to question?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914400" y="40233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forces are real. They serve a function — likely a biological function.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whether we can recognize them.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74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2011680" y="1371600"/>
            <a:ext cx="36576" cy="6400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0" y="10058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Keeps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Happening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Anxiety = Perceived Uncertainty + Urgency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25603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80160"/>
            <a:ext cx="25603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17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in the environment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this perception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91840" y="137160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3840480" y="1280160"/>
            <a:ext cx="25603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40480" y="1280160"/>
            <a:ext cx="25603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3840480" y="1417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840480" y="18745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act now, can't wait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more information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37160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6949440" y="1280160"/>
            <a:ext cx="1463040" cy="10972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0" y="1417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949440" y="1874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relief begins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ideology provides psychological relief: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31520" y="3108960"/>
            <a:ext cx="36576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3108960"/>
            <a:ext cx="54864" cy="7315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3108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Untestable 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can't prove it wrong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54880" y="3108960"/>
            <a:ext cx="36576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3108960"/>
            <a:ext cx="54864" cy="7315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3108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but oversimplified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4114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Believers feel better. That's why it spreads.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Cambridge-Somerville Youth Study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506 boys. Matched pairs. Random assignment. 30-year follow-up.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group received: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Counseling, mentorship, summer camp, caring adults.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group had: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97280" y="2514600"/>
            <a:ext cx="6949440" cy="2743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2514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More criminal offending (2+ crimes)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2862072"/>
            <a:ext cx="6949440" cy="2743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28620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More alcohol abuse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97280" y="3209544"/>
            <a:ext cx="6949440" cy="2743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32095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More mental illness symptoms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7280" y="3557016"/>
            <a:ext cx="6949440" cy="2743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3557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Lower job satisfaction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97280" y="3904488"/>
            <a:ext cx="6949440" cy="2743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39044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Earlier death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4297680"/>
            <a:ext cx="7680960" cy="5486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2976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Caring isn't enough. Without measurement, caring can hurt.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74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2011680" y="1371600"/>
            <a:ext cx="36576" cy="6400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0" y="10972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Proposal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minutes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Blade of Grass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280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12801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Studying a blade of grass to understand why it bends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1645920" y="17830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angle, position, structure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645920" y="22860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can't predict movement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1520" y="2926080"/>
            <a:ext cx="7680960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5"/>
          <p:cNvSpPr/>
          <p:nvPr/>
        </p:nvSpPr>
        <p:spPr>
          <a:xfrm>
            <a:off x="1005840" y="29260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Because the grass isn't the phenomenon.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wind is.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31520" y="41148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We've spent 80 years studying individuals.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pattern is in the system.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Family?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251460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05840" y="1463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Individual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20116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the pattern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566160" y="1188720"/>
            <a:ext cx="251460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840480" y="1463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Society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840480" y="20116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big to measure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intervene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1188720"/>
            <a:ext cx="2514600" cy="219456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675120" y="1463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75120" y="201168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system where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is visible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level up from the blade of grass.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Facts Calm People Down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36576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Common Currency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828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 vs. opinion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Loudest voice wins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Tribal hierarchy determines outcomes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6576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188720"/>
            <a:ext cx="36576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Measurable Concepts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1828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Depolarized baseline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at scale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Healthier uncertainty reduction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7680960" cy="6400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3832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Measurability reduces uncertainty without the catastrophic side effects.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Get 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54864" cy="11887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417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SARF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508760" y="1737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concepts for family-level patterns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188720"/>
            <a:ext cx="3657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54880" y="1188720"/>
            <a:ext cx="54864" cy="11887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173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3212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Tools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532120" y="1737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to capture what we're learning to see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2606040"/>
            <a:ext cx="3657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2606040"/>
            <a:ext cx="54864" cy="11887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8346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2743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Demo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508760" y="3154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tools you can use Monday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754880" y="2606040"/>
            <a:ext cx="3657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754880" y="2606040"/>
            <a:ext cx="54864" cy="11887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8346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32120" y="2743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Case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532120" y="3154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it works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Everyone needs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scientific thinking.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your next intake, draw the family.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3749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your next intervention, ask: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would I know if this is making things worse?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 Family? The State of Behavioral Health</dc:title>
  <dc:subject>PptxGenJS Presentation</dc:subject>
  <dc:creator>Dr. Patrick Stinson</dc:creator>
  <cp:lastModifiedBy>Dr. Patrick Stinson</cp:lastModifiedBy>
  <cp:revision>1</cp:revision>
  <dcterms:created xsi:type="dcterms:W3CDTF">2026-02-27T02:51:39Z</dcterms:created>
  <dcterms:modified xsi:type="dcterms:W3CDTF">2026-02-27T02:51:39Z</dcterms:modified>
</cp:coreProperties>
</file>