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4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4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4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4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4200" kern="1200">
        <a:solidFill>
          <a:schemeClr val="tx1"/>
        </a:solidFill>
        <a:latin typeface="+mn-lt"/>
        <a:ea typeface="+mn-ea"/>
        <a:cs typeface="+mn-cs"/>
      </a:defRPr>
    </a:lvl1pPr>
    <a:lvl2pPr marL="457200" algn="l" defTabSz="914400" rtl="0" eaLnBrk="1" latinLnBrk="0" hangingPunct="1">
      <a:defRPr sz="4200" kern="1200">
        <a:solidFill>
          <a:schemeClr val="tx1"/>
        </a:solidFill>
        <a:latin typeface="+mn-lt"/>
        <a:ea typeface="+mn-ea"/>
        <a:cs typeface="+mn-cs"/>
      </a:defRPr>
    </a:lvl2pPr>
    <a:lvl3pPr marL="914400" algn="l" defTabSz="914400" rtl="0" eaLnBrk="1" latinLnBrk="0" hangingPunct="1">
      <a:defRPr sz="4200" kern="1200">
        <a:solidFill>
          <a:schemeClr val="tx1"/>
        </a:solidFill>
        <a:latin typeface="+mn-lt"/>
        <a:ea typeface="+mn-ea"/>
        <a:cs typeface="+mn-cs"/>
      </a:defRPr>
    </a:lvl3pPr>
    <a:lvl4pPr marL="1371600" algn="l" defTabSz="914400" rtl="0" eaLnBrk="1" latinLnBrk="0" hangingPunct="1">
      <a:defRPr sz="4200" kern="1200">
        <a:solidFill>
          <a:schemeClr val="tx1"/>
        </a:solidFill>
        <a:latin typeface="+mn-lt"/>
        <a:ea typeface="+mn-ea"/>
        <a:cs typeface="+mn-cs"/>
      </a:defRPr>
    </a:lvl4pPr>
    <a:lvl5pPr marL="1828800" algn="l" defTabSz="914400" rtl="0" eaLnBrk="1" latinLnBrk="0" hangingPunct="1">
      <a:defRPr sz="4200" kern="1200">
        <a:solidFill>
          <a:schemeClr val="tx1"/>
        </a:solidFill>
        <a:latin typeface="+mn-lt"/>
        <a:ea typeface="+mn-ea"/>
        <a:cs typeface="+mn-cs"/>
      </a:defRPr>
    </a:lvl5pPr>
    <a:lvl6pPr marL="2286000" algn="l" defTabSz="914400" rtl="0" eaLnBrk="1" latinLnBrk="0" hangingPunct="1">
      <a:defRPr sz="4200" kern="1200">
        <a:solidFill>
          <a:schemeClr val="tx1"/>
        </a:solidFill>
        <a:latin typeface="+mn-lt"/>
        <a:ea typeface="+mn-ea"/>
        <a:cs typeface="+mn-cs"/>
      </a:defRPr>
    </a:lvl6pPr>
    <a:lvl7pPr marL="2743200" algn="l" defTabSz="914400" rtl="0" eaLnBrk="1" latinLnBrk="0" hangingPunct="1">
      <a:defRPr sz="4200" kern="1200">
        <a:solidFill>
          <a:schemeClr val="tx1"/>
        </a:solidFill>
        <a:latin typeface="+mn-lt"/>
        <a:ea typeface="+mn-ea"/>
        <a:cs typeface="+mn-cs"/>
      </a:defRPr>
    </a:lvl7pPr>
    <a:lvl8pPr marL="3200400" algn="l" defTabSz="914400" rtl="0" eaLnBrk="1" latinLnBrk="0" hangingPunct="1">
      <a:defRPr sz="4200" kern="1200">
        <a:solidFill>
          <a:schemeClr val="tx1"/>
        </a:solidFill>
        <a:latin typeface="+mn-lt"/>
        <a:ea typeface="+mn-ea"/>
        <a:cs typeface="+mn-cs"/>
      </a:defRPr>
    </a:lvl8pPr>
    <a:lvl9pPr marL="3657600" algn="l" defTabSz="914400" rtl="0" eaLnBrk="1" latinLnBrk="0" hangingPunct="1">
      <a:defRPr sz="4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"Why Family? The State of Behavioral Health"</a:t>
            </a:r>
          </a:p>
          <a:p>
            <a:r>
              <a:rPr sz="4200"/>
              <a:t>Presentation 1 of 5. Sets up the scientific problems in behavioral health field.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 THE ENGINEER'S CONFESSION (3 min)</a:t>
            </a:r>
          </a:p>
          <a:p>
            <a:r>
              <a:rPr sz="4200"/>
              <a:t>Your story: engineer enters behavioral health field.</a:t>
            </a:r>
          </a:p>
          <a:p>
            <a:r>
              <a:rPr sz="4200"/>
              <a:t>Expected: if it doesn't work, measure it, fix it, or discard it.</a:t>
            </a:r>
          </a:p>
          <a:p>
            <a:r>
              <a:rPr sz="4200"/>
              <a:t>Found: a field that doesn't work that way.</a:t>
            </a:r>
          </a:p>
          <a:p>
            <a:r>
              <a:rPr sz="4200"/>
              <a:t>"I'm not here to attack anyone's training. I'm here to make a case that everyone—not just engineers—needs scientific thinking."</a:t>
            </a:r>
          </a:p>
          <a:p>
            <a:r>
              <a:rPr sz="4200"/>
              <a:t>Transition: "Let me show you the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 THE FIELD IS BROKEN (8 min)</a:t>
            </a:r>
          </a:p>
          <a:p>
            <a:r>
              <a:rPr sz="4200"/>
              <a:t>This section presents the data showing the field is broken.</a:t>
            </a:r>
          </a:p>
          <a:p>
            <a:r>
              <a:rPr sz="4200"/>
              <a:t>Scope note: "I'll be speaking in the context of clinical psychology since it's a formalized domain with the most concrete examples. But these patterns apply across all helping professions—LCSW, LPC, MFT, and others."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TREATMENT-PREVALENCE PARADOX (Centerpiece)</a:t>
            </a:r>
          </a:p>
          <a:p>
            <a:r>
              <a:rPr sz="4200"/>
              <a:t>Source: Ormel et al. (2022)</a:t>
            </a:r>
          </a:p>
          <a:p>
            <a:r>
              <a:rPr sz="4200"/>
              <a:t>Treatment for depression increased 4x from 1987-2007.</a:t>
            </a:r>
          </a:p>
          <a:p>
            <a:r>
              <a:rPr sz="4200"/>
              <a:t>Prevalence of depression: stayed the same or increased.</a:t>
            </a:r>
          </a:p>
          <a:p>
            <a:r>
              <a:rPr sz="4200"/>
              <a:t>Researchers' conclusion: "Significant prevalence reduction requires not only better treatment but foremost long-term structurally funded prevention targeting powerful determinants."</a:t>
            </a:r>
          </a:p>
          <a:p>
            <a:r>
              <a:rPr sz="4200"/>
              <a:t>Key line: "More treatment does not mean less depression."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RELAPSE PROBLEM</a:t>
            </a:r>
          </a:p>
          <a:p>
            <a:r>
              <a:rPr sz="4200"/>
              <a:t>Sources: BMC Psychiatry, BJGP</a:t>
            </a:r>
          </a:p>
          <a:p>
            <a:r>
              <a:rPr sz="4200"/>
              <a:t>After first episode: 50% relapse. After second: 70%. After third: 90%.</a:t>
            </a:r>
          </a:p>
          <a:p>
            <a:r>
              <a:rPr sz="4200"/>
              <a:t>85% recurrence within a decade. 79% of relapses within first 6 months.</a:t>
            </a:r>
          </a:p>
          <a:p>
            <a:r>
              <a:rPr sz="4200"/>
              <a:t>Key line: "The fire keeps getting relit."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YOUTH CRISIS</a:t>
            </a:r>
          </a:p>
          <a:p>
            <a:r>
              <a:rPr sz="4200"/>
              <a:t>Sources: CDC MMWR 2023, JED Foundation</a:t>
            </a:r>
          </a:p>
          <a:p>
            <a:r>
              <a:rPr sz="4200"/>
              <a:t>Teen depression: 145% increase (2010-2021).</a:t>
            </a:r>
          </a:p>
          <a:p>
            <a:r>
              <a:rPr sz="4200"/>
              <a:t>Suicide deaths ages 10-24: 62% increase (2007-2021).</a:t>
            </a:r>
          </a:p>
          <a:p>
            <a:r>
              <a:rPr sz="4200"/>
              <a:t>1 in 5 high school students seriously considered suicide in 2023.</a:t>
            </a:r>
          </a:p>
          <a:p>
            <a:r>
              <a:rPr sz="4200"/>
              <a:t>Preteen suicide (ages 8+): 8.2% annual increase (2008-2022).</a:t>
            </a:r>
          </a:p>
          <a:p>
            <a:r>
              <a:rPr sz="4200"/>
              <a:t>More therapists, more spending, more awareness than ever.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REPLICATION CRISIS + INSTITUTIONAL LOSS OF CONFIDENCE</a:t>
            </a:r>
          </a:p>
          <a:p>
            <a:r>
              <a:rPr sz="4200"/>
              <a:t>Source: Northwestern IPR</a:t>
            </a:r>
          </a:p>
          <a:p>
            <a:r>
              <a:rPr sz="4200"/>
              <a:t>~40% of psychology studies replicate. "The research base itself is unreliable."</a:t>
            </a:r>
          </a:p>
          <a:p>
            <a:r>
              <a:rPr sz="4200"/>
              <a:t>NIMH stopped funding DSM-only research (2013).</a:t>
            </a:r>
          </a:p>
          <a:p>
            <a:r>
              <a:rPr sz="4200"/>
              <a:t>Thomas Insel: DSM diagnoses are "consensus about clusters of clinical symptoms, not any objective laboratory measure."</a:t>
            </a:r>
          </a:p>
          <a:p>
            <a:r>
              <a:rPr sz="4200"/>
              <a:t>"The field's own institutions have lost confidence in its diagnostic framework."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PUBLIC SKEPTICISM</a:t>
            </a:r>
          </a:p>
          <a:p>
            <a:r>
              <a:rPr sz="4200"/>
              <a:t>Source: Roper Center / Psychology Today polls</a:t>
            </a:r>
          </a:p>
          <a:p>
            <a:r>
              <a:rPr sz="4200"/>
              <a:t>43% say costs of therapy outweigh benefits (2004).</a:t>
            </a:r>
          </a:p>
          <a:p>
            <a:r>
              <a:rPr sz="4200"/>
              <a:t>38% believe most therapists need therapy themselves (2004).</a:t>
            </a:r>
          </a:p>
          <a:p>
            <a:r>
              <a:rPr sz="4200"/>
              <a:t>Public perceives therapy effective in only 26-50% of cases.</a:t>
            </a:r>
          </a:p>
          <a:p>
            <a:r>
              <a:rPr sz="4200"/>
              <a:t>"The public senses something is wrong—even if they can't articulate it. This skepticism has a basis."</a:t>
            </a:r>
          </a:p>
          <a:p>
            <a:r>
              <a:rPr sz="4200"/>
              <a:t>Transition: "How does a field stay broken this long? Let me show you a pattern."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III: HISTORICAL CATASTROPHES (14 min)</a:t>
            </a:r>
          </a:p>
          <a:p>
            <a:r>
              <a:rPr sz="4200"/>
              <a:t>Setup: These aren't ancient history. These are cases where caring professionals, lacking objective frameworks, got swept up in collective beliefs that destroyed lives. The pattern repeats because the conditions repeat.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SALEM WITCH TRIALS (1692)</a:t>
            </a:r>
          </a:p>
          <a:p>
            <a:r>
              <a:rPr sz="4200"/>
              <a:t>The Belief: Witches identifiable by symptoms and accusations.</a:t>
            </a:r>
          </a:p>
          <a:p>
            <a:r>
              <a:rPr sz="4200"/>
              <a:t>The Evidence: Spectral evidence, fits, accusations.</a:t>
            </a:r>
          </a:p>
          <a:p>
            <a:r>
              <a:rPr sz="4200"/>
              <a:t>The Outcome: 25+ dead, 200+ accused, families destroyed.</a:t>
            </a:r>
          </a:p>
          <a:p>
            <a:r>
              <a:rPr sz="4200"/>
              <a:t>The End: Within years, jurors signed public apologies.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LOBOTOMY EPIDEMIC (1940s-1950s)</a:t>
            </a:r>
          </a:p>
          <a:p>
            <a:r>
              <a:rPr sz="4200"/>
              <a:t>The Belief: Mental illness cured by severing brain connections.</a:t>
            </a:r>
          </a:p>
          <a:p>
            <a:r>
              <a:rPr sz="4200"/>
              <a:t>The Evidence: Patients seemed "calmer."</a:t>
            </a:r>
          </a:p>
          <a:p>
            <a:r>
              <a:rPr sz="4200"/>
              <a:t>50,000+ lobotomies in the US. ~5% mortality rate. Thousands permanently damaged.</a:t>
            </a:r>
          </a:p>
          <a:p>
            <a:r>
              <a:rPr sz="4200"/>
              <a:t>Walter Freeman performed 4,000 personally—on patients as young as 4.</a:t>
            </a:r>
          </a:p>
          <a:p>
            <a:r>
              <a:rPr sz="4200"/>
              <a:t>Rosemary Kennedy permanently incapacitated.</a:t>
            </a:r>
          </a:p>
          <a:p>
            <a:r>
              <a:rPr sz="4200"/>
              <a:t>Freeman celebrated—until banned. Soviet Union banned it in 1950.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REFRIGERATOR MOTHER THEORY (1950s-1970s)</a:t>
            </a:r>
          </a:p>
          <a:p>
            <a:r>
              <a:rPr sz="4200"/>
              <a:t>The Belief: Autism caused by cold, unloving mothers.</a:t>
            </a:r>
          </a:p>
          <a:p>
            <a:r>
              <a:rPr sz="4200"/>
              <a:t>The Evidence: Psychoanalytic interpretation.</a:t>
            </a:r>
          </a:p>
          <a:p>
            <a:r>
              <a:rPr sz="4200"/>
              <a:t>20 years blaming mothers. Immense guilt. Children institutionalized.</a:t>
            </a:r>
          </a:p>
          <a:p>
            <a:r>
              <a:rPr sz="4200"/>
              <a:t>Bettelheim (main proponent) exposed as fraud who lied about credentials and abused patients.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RECOVERED MEMORY THERAPY (1980s-1990s)</a:t>
            </a:r>
          </a:p>
          <a:p>
            <a:r>
              <a:rPr sz="4200"/>
              <a:t>The Belief: Repressed memories recoverable through therapy.</a:t>
            </a:r>
          </a:p>
          <a:p>
            <a:r>
              <a:rPr sz="4200"/>
              <a:t>The Evidence: Patients "remembered" under guidance.</a:t>
            </a:r>
          </a:p>
          <a:p>
            <a:r>
              <a:rPr sz="4200"/>
              <a:t>Est. 1 million patients convinced they had repressed memories.</a:t>
            </a:r>
          </a:p>
          <a:p>
            <a:r>
              <a:rPr sz="4200"/>
              <a:t>"Tens of thousands of families" destroyed. People imprisoned on false accusations.</a:t>
            </a:r>
          </a:p>
          <a:p>
            <a:r>
              <a:rPr sz="4200"/>
              <a:t>Malpractice suits, license revocations. FBI found zero evidence of satanic abuse.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SATANIC PANIC / DAYCARE ABUSE + MPD/DID EPIDEMIC (1980s-1990s)</a:t>
            </a:r>
          </a:p>
          <a:p>
            <a:r>
              <a:rPr sz="4200"/>
              <a:t>Satanic Panic: 12,000+ cases alleged. McMartin: 7 years, $15M, zero convictions. FBI found no evidence.</a:t>
            </a:r>
          </a:p>
          <a:p>
            <a:r>
              <a:rPr sz="4200"/>
              <a:t>MPD/DID: 50,000 diagnoses by 1990s (vs. ~200 in all prior history). Patients got worse. Largely iatrogenic—created by the therapy. Epidemic disappeared when practices stopped.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COMMON PATTERN</a:t>
            </a:r>
          </a:p>
          <a:p>
            <a:r>
              <a:rPr sz="4200"/>
              <a:t>All cases share: No objective evidence, no way to test validity, emotion as the glue (fear, care, outrage), spread through professionals, ended in calamity.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ABOUT NOW?</a:t>
            </a:r>
          </a:p>
          <a:p>
            <a:r>
              <a:rPr sz="4200"/>
              <a:t>"I want to pause and invite you to wonder: What social contagions might be happening right now? What topics feel off-limits to question? What beliefs are held with such emotional intensity that questioning them makes you suspect?"</a:t>
            </a:r>
          </a:p>
          <a:p>
            <a:r>
              <a:rPr sz="4200"/>
              <a:t>"I'm not going to name them. You can think of your own."</a:t>
            </a:r>
          </a:p>
          <a:p>
            <a:r>
              <a:rPr sz="4200"/>
              <a:t>"But I want to be clear: I have deep respect for the power of these forces. They are not to be taken lightly. They are not an invitation to convenient rebellion."</a:t>
            </a:r>
          </a:p>
          <a:p>
            <a:r>
              <a:rPr sz="4200"/>
              <a:t>"These forces are real. They serve a function—I believe a biological function. The question is not whether they exist, but whether we can recognize them and respond more thoughtfully than our ancestors did."</a:t>
            </a:r>
          </a:p>
          <a:p>
            <a:r>
              <a:rPr sz="4200"/>
              <a:t>Transition: "Which brings us to: Why does this keep happening?"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IV: WHY THIS KEEPS HAPPENING (12 min)</a:t>
            </a:r>
          </a:p>
          <a:p>
            <a:r>
              <a:rPr sz="4200"/>
              <a:t>This section covers the anxiety mechanism that drives these contagions.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ANXIETY = PERCEIVED UNCERTAINTY + URGENCY</a:t>
            </a:r>
          </a:p>
          <a:p>
            <a:r>
              <a:rPr sz="4200"/>
              <a:t>Core concept (the "A" in SARF): Anxiety occurs when people perceive uncertainty combined with urgency.</a:t>
            </a:r>
          </a:p>
          <a:p>
            <a:r>
              <a:rPr sz="4200"/>
              <a:t>When anxious, the first thing people do is look for a way to reduce uncertainty. Any explanation feels better than no explanation.</a:t>
            </a:r>
          </a:p>
          <a:p/>
          <a:p>
            <a:r>
              <a:rPr sz="4200"/>
              <a:t>THE IDEOLOGY PROVIDES RELIEF:</a:t>
            </a:r>
          </a:p>
          <a:p>
            <a:r>
              <a:rPr sz="4200"/>
              <a:t>What all contagions have in common—they offer an explanation that is:</a:t>
            </a:r>
          </a:p>
          <a:p>
            <a:r>
              <a:rPr sz="4200"/>
              <a:t>1. Untestable (unassailable—you can't prove it wrong)</a:t>
            </a:r>
          </a:p>
          <a:p>
            <a:r>
              <a:rPr sz="4200"/>
              <a:t>2. Simple (but oversimplified)</a:t>
            </a:r>
          </a:p>
          <a:p>
            <a:r>
              <a:rPr sz="4200"/>
              <a:t>This cuts the uncertainty. People perceive uncertainty has gone away. They calm down.</a:t>
            </a:r>
          </a:p>
          <a:p>
            <a:r>
              <a:rPr sz="4200"/>
              <a:t>"The ideology provides psychological relief. The believers feel better. That's why it spreads."</a:t>
            </a:r>
          </a:p>
          <a:p/>
          <a:p>
            <a:r>
              <a:rPr sz="4200"/>
              <a:t>Short-term: ideology solves the suffering of anxiety for believers.</a:t>
            </a:r>
          </a:p>
          <a:p>
            <a:r>
              <a:rPr sz="4200"/>
              <a:t>Long-term: it obscures the true problem—which is that these problems aren't well understood.</a:t>
            </a:r>
          </a:p>
          <a:p>
            <a:r>
              <a:rPr sz="4200"/>
              <a:t>The anxious response creates more damage than the original problem.</a:t>
            </a:r>
          </a:p>
          <a:p/>
          <a:p>
            <a:r>
              <a:rPr sz="4200"/>
              <a:t>Band-aid analogy: One person applies a band-aid calmly. Another runs screaming, breaks furniture, spouse leaves the stove on, burns the house down.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CAMBRIDGE-SOMERVILLE YOUTH STUDY</a:t>
            </a:r>
          </a:p>
          <a:p>
            <a:r>
              <a:rPr sz="4200"/>
              <a:t>506 boys, matched pairs, random assignment. Treatment: counseling, mentorship, summer camp, caring adults.</a:t>
            </a:r>
          </a:p>
          <a:p>
            <a:r>
              <a:rPr sz="4200"/>
              <a:t>30-year result: treatment group had more criminal offending, more alcohol abuse, more mental illness, lower job satisfaction, earlier death.</a:t>
            </a:r>
          </a:p>
          <a:p/>
          <a:p>
            <a:r>
              <a:rPr sz="4200"/>
              <a:t>Joan McCord: "No one had ever discussed the possibility that intervention... that there is any potential for harmful effects."</a:t>
            </a:r>
          </a:p>
          <a:p>
            <a:r>
              <a:rPr sz="4200"/>
              <a:t>"Unless social programs are evaluated for potential harm as well as benefit, safety as well as efficacy, the choice of which social programs to use will remain a dangerous guess."</a:t>
            </a:r>
          </a:p>
          <a:p/>
          <a:p>
            <a:r>
              <a:rPr sz="4200"/>
              <a:t>Also: DARE (80% of schools, no effect), Scared Straight (kids did worse).</a:t>
            </a:r>
          </a:p>
          <a:p>
            <a:r>
              <a:rPr sz="4200"/>
              <a:t>Key line: "Caring isn't enough. Without measurement, caring can hurt."</a:t>
            </a:r>
          </a:p>
          <a:p/>
          <a:p>
            <a:r>
              <a:rPr sz="4200"/>
              <a:t>WHY CARING PROFESSIONS ARE ESPECIALLY VULNERABLE:</a:t>
            </a:r>
          </a:p>
          <a:p>
            <a:r>
              <a:rPr sz="4200"/>
              <a:t>Caring professions attract people who want to help. Suffering creates urgency. Uncertainty about what works is intolerable. Any framework that promises clarity is appealing. Questioning the framework feels like abandoning the suffering.</a:t>
            </a:r>
          </a:p>
          <a:p/>
          <a:p>
            <a:r>
              <a:rPr sz="4200"/>
              <a:t>WITHOUT MEASUREMENT, SOCIAL DYNAMICS RULE:</a:t>
            </a:r>
          </a:p>
          <a:p>
            <a:r>
              <a:rPr sz="4200"/>
              <a:t>Concepts spread based on who promotes them, how they feel, what's socially safe to say. Once belief sets in, questioning makes you a heretic. Traditional perspectives that emphasize autonomy/accountability become unmentionable.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V: THE PROPOSAL (13 min)</a:t>
            </a:r>
          </a:p>
          <a:p>
            <a:r>
              <a:rPr sz="4200"/>
              <a:t>Scientific thinking is the antidote. The willingness to be falsified.</a:t>
            </a:r>
          </a:p>
          <a:p>
            <a:r>
              <a:rPr sz="4200"/>
              <a:t>"A field that doesn't ask 'what if we're wrong?' will eventually be wrong in catastrophic ways."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BLADE OF GRASS</a:t>
            </a:r>
          </a:p>
          <a:p>
            <a:r>
              <a:rPr sz="4200"/>
              <a:t>Studying a blade of grass to understand why it bends. Measuring angle, position, structure. Still can't predict movement.</a:t>
            </a:r>
          </a:p>
          <a:p>
            <a:r>
              <a:rPr sz="4200"/>
              <a:t>Because the grass isn't the phenomenon. The wind is.</a:t>
            </a:r>
          </a:p>
          <a:p>
            <a:r>
              <a:rPr sz="4200"/>
              <a:t>"We've spent 80 years studying individuals. The pattern is in the system."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WHY FAMILY?</a:t>
            </a:r>
          </a:p>
          <a:p>
            <a:r>
              <a:rPr sz="4200"/>
              <a:t>Family is the smallest system where the pattern is visible.</a:t>
            </a:r>
          </a:p>
          <a:p>
            <a:r>
              <a:rPr sz="4200"/>
              <a:t>Not society (too big, can't intervene). Not the individual (misses the pattern).</a:t>
            </a:r>
          </a:p>
          <a:p>
            <a:r>
              <a:rPr sz="4200"/>
              <a:t>One level up from the blade of grass.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FACTS CALM PEOPLE DOWN</a:t>
            </a:r>
          </a:p>
          <a:p>
            <a:r>
              <a:rPr sz="4200"/>
              <a:t>The Common Currency Argument: Everyone knows what a dollar is → global markets. Without common currency → barter → no coordination.</a:t>
            </a:r>
          </a:p>
          <a:p>
            <a:r>
              <a:rPr sz="4200"/>
              <a:t>Without measurable concepts → opinion vs. opinion → loudest voice wins.</a:t>
            </a:r>
          </a:p>
          <a:p/>
          <a:p>
            <a:r>
              <a:rPr sz="4200"/>
              <a:t>First move in family therapy: gather facts. What is a fact? Something everyone can easily agree on. Facts establish a depolarized baseline.</a:t>
            </a:r>
          </a:p>
          <a:p>
            <a:r>
              <a:rPr sz="4200"/>
              <a:t>"Measurability provides a healthier way to reduce uncertainty than ideology. Facts calm people down without the catastrophic side effects."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WHAT YOU'LL GET TODAY</a:t>
            </a:r>
          </a:p>
          <a:p>
            <a:r>
              <a:rPr sz="4200"/>
              <a:t>Preview of the day's remaining sessions:</a:t>
            </a:r>
          </a:p>
          <a:p>
            <a:r>
              <a:rPr sz="4200"/>
              <a:t>- SARF: Measurable concepts for family-level patterns—including "A" for anxiety</a:t>
            </a:r>
          </a:p>
          <a:p>
            <a:r>
              <a:rPr sz="4200"/>
              <a:t>- AI Tools: Technology to capture what we're learning to see</a:t>
            </a:r>
          </a:p>
          <a:p>
            <a:r>
              <a:rPr sz="4200"/>
              <a:t>- App Demo: Practical tools you can use Monday</a:t>
            </a:r>
          </a:p>
          <a:p>
            <a:r>
              <a:rPr sz="4200"/>
              <a:t>- Clinical Case: Evidence it works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CLOSING / CALL TO ACTION</a:t>
            </a:r>
          </a:p>
          <a:p>
            <a:r>
              <a:rPr sz="4200"/>
              <a:t>"Everyone needs scientific thinking."</a:t>
            </a:r>
          </a:p>
          <a:p>
            <a:r>
              <a:rPr sz="4200"/>
              <a:t>"Before your next intake, draw the family."</a:t>
            </a:r>
          </a:p>
          <a:p>
            <a:r>
              <a:rPr sz="4200"/>
              <a:t>"Before your next intervention, ask: how would I know if this is making things worse?"</a:t>
            </a:r>
          </a:p>
          <a:p/>
          <a:p>
            <a:r>
              <a:rPr sz="4200"/>
              <a:t>Q&amp;A follows (10 min). Likely questions:</a:t>
            </a:r>
          </a:p>
          <a:p>
            <a:r>
              <a:rPr sz="4200"/>
              <a:t>- "Are you saying therapy doesn't work?"</a:t>
            </a:r>
          </a:p>
          <a:p>
            <a:r>
              <a:rPr sz="4200"/>
              <a:t>- "What about individual factors like genetics?"</a:t>
            </a:r>
          </a:p>
          <a:p>
            <a:r>
              <a:rPr sz="4200"/>
              <a:t>- "How do I apply scientific thinking without being a researcher?"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822960"/>
            <a:ext cx="7680960" cy="1188720"/>
          </a:xfrm>
          <a:prstGeom prst="rect">
            <a:avLst/>
          </a:prstGeom>
          <a:noFill/>
          <a:ln/>
        </p:spPr>
        <p:txBody>
          <a:bodyPr wrap="square" lIns="0" tIns="0" rIns="0" bIns="0" rtlCol="0" anchor="ctr"/>
          <a:lstStyle/>
          <a:p>
            <a:pPr indent="0" marL="0">
              <a:buNone/>
            </a:pPr>
            <a:r>
              <a:rPr lang="en-US" sz="4600" b="1" dirty="0">
                <a:solidFill>
                  <a:srgbClr val="FFFFFF"/>
                </a:solidFill>
                <a:latin typeface="Georgia" pitchFamily="34" charset="0"/>
                <a:ea typeface="Georgia" pitchFamily="34" charset="-122"/>
                <a:cs typeface="Georgia" pitchFamily="34" charset="-120"/>
              </a:rPr>
              <a:t>Why Family?</a:t>
            </a:r>
            <a:endParaRPr lang="en-US" sz="4600" dirty="0"/>
          </a:p>
        </p:txBody>
      </p:sp>
      <p:sp>
        <p:nvSpPr>
          <p:cNvPr id="4" name="Text 2"/>
          <p:cNvSpPr/>
          <p:nvPr/>
        </p:nvSpPr>
        <p:spPr>
          <a:xfrm>
            <a:off x="731520" y="2011680"/>
            <a:ext cx="7680960" cy="731520"/>
          </a:xfrm>
          <a:prstGeom prst="rect">
            <a:avLst/>
          </a:prstGeom>
          <a:noFill/>
          <a:ln/>
        </p:spPr>
        <p:txBody>
          <a:bodyPr wrap="square" lIns="0" tIns="0" rIns="0" bIns="0" rtlCol="0" anchor="ctr"/>
          <a:lstStyle/>
          <a:p>
            <a:pPr indent="0" marL="0">
              <a:buNone/>
            </a:pPr>
            <a:r>
              <a:rPr lang="en-US" sz="2400" dirty="0">
                <a:solidFill>
                  <a:srgbClr val="22D3EE"/>
                </a:solidFill>
                <a:latin typeface="Calibri" pitchFamily="34" charset="0"/>
                <a:ea typeface="Calibri" pitchFamily="34" charset="-122"/>
                <a:cs typeface="Calibri" pitchFamily="34" charset="-120"/>
              </a:rPr>
              <a:t>The State of Behavioral Health</a:t>
            </a:r>
            <a:endParaRPr lang="en-US" sz="2400" dirty="0"/>
          </a:p>
        </p:txBody>
      </p:sp>
      <p:sp>
        <p:nvSpPr>
          <p:cNvPr id="5" name="Shape 3"/>
          <p:cNvSpPr/>
          <p:nvPr/>
        </p:nvSpPr>
        <p:spPr>
          <a:xfrm>
            <a:off x="731520" y="2926080"/>
            <a:ext cx="1097280" cy="36576"/>
          </a:xfrm>
          <a:prstGeom prst="rect">
            <a:avLst/>
          </a:prstGeom>
          <a:solidFill>
            <a:srgbClr val="0891B2"/>
          </a:solidFill>
          <a:ln/>
        </p:spPr>
      </p:sp>
      <p:sp>
        <p:nvSpPr>
          <p:cNvPr id="6" name="Text 4"/>
          <p:cNvSpPr/>
          <p:nvPr/>
        </p:nvSpPr>
        <p:spPr>
          <a:xfrm>
            <a:off x="731520" y="3200400"/>
            <a:ext cx="36576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Presentation 1 of 5</a:t>
            </a:r>
            <a:endParaRPr lang="en-US" sz="1300" dirty="0"/>
          </a:p>
        </p:txBody>
      </p:sp>
      <p:sp>
        <p:nvSpPr>
          <p:cNvPr id="7" name="Text 5"/>
          <p:cNvSpPr/>
          <p:nvPr/>
        </p:nvSpPr>
        <p:spPr>
          <a:xfrm>
            <a:off x="731520" y="3749040"/>
            <a:ext cx="3657600" cy="36576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Dr. Patrick Stinson</a:t>
            </a:r>
            <a:endParaRPr lang="en-US" sz="1600" dirty="0"/>
          </a:p>
        </p:txBody>
      </p:sp>
      <p:sp>
        <p:nvSpPr>
          <p:cNvPr id="8" name="Text 6"/>
          <p:cNvSpPr/>
          <p:nvPr/>
        </p:nvSpPr>
        <p:spPr>
          <a:xfrm>
            <a:off x="731520" y="4114800"/>
            <a:ext cx="36576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Alaska Family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The Engineer's</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Confession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3 minutes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The Field</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Is Broken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8 minutes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Treatment-Prevalence Paradox</a:t>
            </a:r>
            <a:endParaRPr lang="en-US" sz="2800" dirty="0"/>
          </a:p>
        </p:txBody>
      </p:sp>
      <p:sp>
        <p:nvSpPr>
          <p:cNvPr id="3" name="Shape 1"/>
          <p:cNvSpPr/>
          <p:nvPr/>
        </p:nvSpPr>
        <p:spPr>
          <a:xfrm>
            <a:off x="731520" y="1280160"/>
            <a:ext cx="3657600" cy="20116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280160"/>
            <a:ext cx="3657600" cy="54864"/>
          </a:xfrm>
          <a:prstGeom prst="rect">
            <a:avLst/>
          </a:prstGeom>
          <a:solidFill>
            <a:srgbClr val="0891B2"/>
          </a:solidFill>
          <a:ln/>
        </p:spPr>
      </p:sp>
      <p:sp>
        <p:nvSpPr>
          <p:cNvPr id="5" name="Text 3"/>
          <p:cNvSpPr/>
          <p:nvPr/>
        </p:nvSpPr>
        <p:spPr>
          <a:xfrm>
            <a:off x="731520" y="1508760"/>
            <a:ext cx="3657600" cy="822960"/>
          </a:xfrm>
          <a:prstGeom prst="rect">
            <a:avLst/>
          </a:prstGeom>
          <a:noFill/>
          <a:ln/>
        </p:spPr>
        <p:txBody>
          <a:bodyPr wrap="square" lIns="0" tIns="0" rIns="0" bIns="0" rtlCol="0" anchor="ctr"/>
          <a:lstStyle/>
          <a:p>
            <a:pPr algn="ctr" indent="0" marL="0">
              <a:buNone/>
            </a:pPr>
            <a:r>
              <a:rPr lang="en-US" sz="6400" b="1" dirty="0">
                <a:solidFill>
                  <a:srgbClr val="0891B2"/>
                </a:solidFill>
                <a:latin typeface="Georgia" pitchFamily="34" charset="0"/>
                <a:ea typeface="Georgia" pitchFamily="34" charset="-122"/>
                <a:cs typeface="Georgia" pitchFamily="34" charset="-120"/>
              </a:rPr>
              <a:t>4x</a:t>
            </a:r>
            <a:endParaRPr lang="en-US" sz="6400" dirty="0"/>
          </a:p>
        </p:txBody>
      </p:sp>
      <p:sp>
        <p:nvSpPr>
          <p:cNvPr id="6" name="Text 4"/>
          <p:cNvSpPr/>
          <p:nvPr/>
        </p:nvSpPr>
        <p:spPr>
          <a:xfrm>
            <a:off x="1005840" y="2331720"/>
            <a:ext cx="3108960" cy="731520"/>
          </a:xfrm>
          <a:prstGeom prst="rect">
            <a:avLst/>
          </a:prstGeom>
          <a:noFill/>
          <a:ln/>
        </p:spPr>
        <p:txBody>
          <a:bodyPr wrap="square" lIns="0" tIns="0" rIns="0" bIns="0" rtlCol="0" anchor="ctr"/>
          <a:lstStyle/>
          <a:p>
            <a:pPr algn="ctr" indent="0" marL="0">
              <a:buNone/>
            </a:pPr>
            <a:r>
              <a:rPr lang="en-US" sz="1400" dirty="0">
                <a:solidFill>
                  <a:srgbClr val="475569"/>
                </a:solidFill>
                <a:latin typeface="Calibri" pitchFamily="34" charset="0"/>
                <a:ea typeface="Calibri" pitchFamily="34" charset="-122"/>
                <a:cs typeface="Calibri" pitchFamily="34" charset="-120"/>
              </a:rPr>
              <a:t>more treatment for depression</a:t>
            </a:r>
            <a:endParaRPr lang="en-US" sz="1400" dirty="0"/>
          </a:p>
          <a:p>
            <a:pPr algn="ctr" indent="0" marL="0">
              <a:buNone/>
            </a:pPr>
            <a:r>
              <a:rPr lang="en-US" sz="1400" dirty="0">
                <a:solidFill>
                  <a:srgbClr val="475569"/>
                </a:solidFill>
                <a:latin typeface="Calibri" pitchFamily="34" charset="0"/>
                <a:ea typeface="Calibri" pitchFamily="34" charset="-122"/>
                <a:cs typeface="Calibri" pitchFamily="34" charset="-120"/>
              </a:rPr>
              <a:t>(1987–2007)</a:t>
            </a:r>
            <a:endParaRPr lang="en-US" sz="1400" dirty="0"/>
          </a:p>
        </p:txBody>
      </p:sp>
      <p:sp>
        <p:nvSpPr>
          <p:cNvPr id="7" name="Shape 5"/>
          <p:cNvSpPr/>
          <p:nvPr/>
        </p:nvSpPr>
        <p:spPr>
          <a:xfrm>
            <a:off x="4754880" y="1280160"/>
            <a:ext cx="3657600" cy="20116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Shape 6"/>
          <p:cNvSpPr/>
          <p:nvPr/>
        </p:nvSpPr>
        <p:spPr>
          <a:xfrm>
            <a:off x="4754880" y="1280160"/>
            <a:ext cx="3657600" cy="54864"/>
          </a:xfrm>
          <a:prstGeom prst="rect">
            <a:avLst/>
          </a:prstGeom>
          <a:solidFill>
            <a:srgbClr val="D97706"/>
          </a:solidFill>
          <a:ln/>
        </p:spPr>
      </p:sp>
      <p:sp>
        <p:nvSpPr>
          <p:cNvPr id="9" name="Text 7"/>
          <p:cNvSpPr/>
          <p:nvPr/>
        </p:nvSpPr>
        <p:spPr>
          <a:xfrm>
            <a:off x="4754880" y="1508760"/>
            <a:ext cx="3657600" cy="822960"/>
          </a:xfrm>
          <a:prstGeom prst="rect">
            <a:avLst/>
          </a:prstGeom>
          <a:noFill/>
          <a:ln/>
        </p:spPr>
        <p:txBody>
          <a:bodyPr wrap="square" lIns="0" tIns="0" rIns="0" bIns="0" rtlCol="0" anchor="ctr"/>
          <a:lstStyle/>
          <a:p>
            <a:pPr algn="ctr" indent="0" marL="0">
              <a:buNone/>
            </a:pPr>
            <a:r>
              <a:rPr lang="en-US" sz="6400" b="1" dirty="0">
                <a:solidFill>
                  <a:srgbClr val="D97706"/>
                </a:solidFill>
                <a:latin typeface="Georgia" pitchFamily="34" charset="0"/>
                <a:ea typeface="Georgia" pitchFamily="34" charset="-122"/>
                <a:cs typeface="Georgia" pitchFamily="34" charset="-120"/>
              </a:rPr>
              <a:t>0%</a:t>
            </a:r>
            <a:endParaRPr lang="en-US" sz="6400" dirty="0"/>
          </a:p>
        </p:txBody>
      </p:sp>
      <p:sp>
        <p:nvSpPr>
          <p:cNvPr id="10" name="Text 8"/>
          <p:cNvSpPr/>
          <p:nvPr/>
        </p:nvSpPr>
        <p:spPr>
          <a:xfrm>
            <a:off x="5029200" y="2331720"/>
            <a:ext cx="3108960" cy="731520"/>
          </a:xfrm>
          <a:prstGeom prst="rect">
            <a:avLst/>
          </a:prstGeom>
          <a:noFill/>
          <a:ln/>
        </p:spPr>
        <p:txBody>
          <a:bodyPr wrap="square" lIns="0" tIns="0" rIns="0" bIns="0" rtlCol="0" anchor="ctr"/>
          <a:lstStyle/>
          <a:p>
            <a:pPr algn="ctr" indent="0" marL="0">
              <a:buNone/>
            </a:pPr>
            <a:r>
              <a:rPr lang="en-US" sz="1400" dirty="0">
                <a:solidFill>
                  <a:srgbClr val="475569"/>
                </a:solidFill>
                <a:latin typeface="Calibri" pitchFamily="34" charset="0"/>
                <a:ea typeface="Calibri" pitchFamily="34" charset="-122"/>
                <a:cs typeface="Calibri" pitchFamily="34" charset="-120"/>
              </a:rPr>
              <a:t>reduction in prevalence</a:t>
            </a:r>
            <a:endParaRPr lang="en-US" sz="1400" dirty="0"/>
          </a:p>
          <a:p>
            <a:pPr algn="ctr" indent="0" marL="0">
              <a:buNone/>
            </a:pPr>
            <a:r>
              <a:rPr lang="en-US" sz="1400" dirty="0">
                <a:solidFill>
                  <a:srgbClr val="475569"/>
                </a:solidFill>
                <a:latin typeface="Calibri" pitchFamily="34" charset="0"/>
                <a:ea typeface="Calibri" pitchFamily="34" charset="-122"/>
                <a:cs typeface="Calibri" pitchFamily="34" charset="-120"/>
              </a:rPr>
              <a:t>(stayed the same or increased)</a:t>
            </a:r>
            <a:endParaRPr lang="en-US" sz="1400" dirty="0"/>
          </a:p>
        </p:txBody>
      </p:sp>
      <p:sp>
        <p:nvSpPr>
          <p:cNvPr id="11" name="Shape 9"/>
          <p:cNvSpPr/>
          <p:nvPr/>
        </p:nvSpPr>
        <p:spPr>
          <a:xfrm>
            <a:off x="731520" y="3566160"/>
            <a:ext cx="7680960" cy="640080"/>
          </a:xfrm>
          <a:prstGeom prst="rect">
            <a:avLst/>
          </a:prstGeom>
          <a:solidFill>
            <a:srgbClr val="1B2A4A"/>
          </a:solidFill>
          <a:ln/>
        </p:spPr>
      </p:sp>
      <p:sp>
        <p:nvSpPr>
          <p:cNvPr id="12" name="Text 10"/>
          <p:cNvSpPr/>
          <p:nvPr/>
        </p:nvSpPr>
        <p:spPr>
          <a:xfrm>
            <a:off x="1005840" y="3566160"/>
            <a:ext cx="713232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More treatment does not mean less depression.</a:t>
            </a:r>
            <a:endParaRPr lang="en-US" sz="1800" dirty="0"/>
          </a:p>
        </p:txBody>
      </p:sp>
      <p:sp>
        <p:nvSpPr>
          <p:cNvPr id="13" name="Text 11"/>
          <p:cNvSpPr/>
          <p:nvPr/>
        </p:nvSpPr>
        <p:spPr>
          <a:xfrm>
            <a:off x="731520" y="4389120"/>
            <a:ext cx="3657600" cy="36576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Ormel et al., 2022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Fire Keeps Getting Relit</a:t>
            </a:r>
            <a:endParaRPr lang="en-US" sz="2800" dirty="0"/>
          </a:p>
        </p:txBody>
      </p:sp>
      <p:sp>
        <p:nvSpPr>
          <p:cNvPr id="3" name="Shape 1"/>
          <p:cNvSpPr/>
          <p:nvPr/>
        </p:nvSpPr>
        <p:spPr>
          <a:xfrm>
            <a:off x="731520" y="1280160"/>
            <a:ext cx="3200400" cy="594360"/>
          </a:xfrm>
          <a:prstGeom prst="rect">
            <a:avLst/>
          </a:prstGeom>
          <a:solidFill>
            <a:srgbClr val="0891B2"/>
          </a:solidFill>
          <a:ln/>
        </p:spPr>
      </p:sp>
      <p:sp>
        <p:nvSpPr>
          <p:cNvPr id="4" name="Text 2"/>
          <p:cNvSpPr/>
          <p:nvPr/>
        </p:nvSpPr>
        <p:spPr>
          <a:xfrm>
            <a:off x="914400" y="1280160"/>
            <a:ext cx="109728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50%</a:t>
            </a:r>
            <a:endParaRPr lang="en-US" sz="2800" dirty="0"/>
          </a:p>
        </p:txBody>
      </p:sp>
      <p:sp>
        <p:nvSpPr>
          <p:cNvPr id="5" name="Text 3"/>
          <p:cNvSpPr/>
          <p:nvPr/>
        </p:nvSpPr>
        <p:spPr>
          <a:xfrm>
            <a:off x="2103120" y="1280160"/>
            <a:ext cx="3657600" cy="5943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After 1st episode relapse</a:t>
            </a:r>
            <a:endParaRPr lang="en-US" sz="1600" dirty="0"/>
          </a:p>
        </p:txBody>
      </p:sp>
      <p:sp>
        <p:nvSpPr>
          <p:cNvPr id="6" name="Shape 4"/>
          <p:cNvSpPr/>
          <p:nvPr/>
        </p:nvSpPr>
        <p:spPr>
          <a:xfrm>
            <a:off x="731520" y="2057400"/>
            <a:ext cx="4572000" cy="594360"/>
          </a:xfrm>
          <a:prstGeom prst="rect">
            <a:avLst/>
          </a:prstGeom>
          <a:solidFill>
            <a:srgbClr val="0891B2"/>
          </a:solidFill>
          <a:ln/>
        </p:spPr>
      </p:sp>
      <p:sp>
        <p:nvSpPr>
          <p:cNvPr id="7" name="Text 5"/>
          <p:cNvSpPr/>
          <p:nvPr/>
        </p:nvSpPr>
        <p:spPr>
          <a:xfrm>
            <a:off x="914400" y="2057400"/>
            <a:ext cx="109728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70%</a:t>
            </a:r>
            <a:endParaRPr lang="en-US" sz="2800" dirty="0"/>
          </a:p>
        </p:txBody>
      </p:sp>
      <p:sp>
        <p:nvSpPr>
          <p:cNvPr id="8" name="Text 6"/>
          <p:cNvSpPr/>
          <p:nvPr/>
        </p:nvSpPr>
        <p:spPr>
          <a:xfrm>
            <a:off x="2103120" y="2057400"/>
            <a:ext cx="3657600" cy="5943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After 2nd episode relapse</a:t>
            </a:r>
            <a:endParaRPr lang="en-US" sz="1600" dirty="0"/>
          </a:p>
        </p:txBody>
      </p:sp>
      <p:sp>
        <p:nvSpPr>
          <p:cNvPr id="9" name="Shape 7"/>
          <p:cNvSpPr/>
          <p:nvPr/>
        </p:nvSpPr>
        <p:spPr>
          <a:xfrm>
            <a:off x="731520" y="2834640"/>
            <a:ext cx="6400800" cy="594360"/>
          </a:xfrm>
          <a:prstGeom prst="rect">
            <a:avLst/>
          </a:prstGeom>
          <a:solidFill>
            <a:srgbClr val="D97706"/>
          </a:solidFill>
          <a:ln/>
        </p:spPr>
      </p:sp>
      <p:sp>
        <p:nvSpPr>
          <p:cNvPr id="10" name="Text 8"/>
          <p:cNvSpPr/>
          <p:nvPr/>
        </p:nvSpPr>
        <p:spPr>
          <a:xfrm>
            <a:off x="914400" y="2834640"/>
            <a:ext cx="109728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90%</a:t>
            </a:r>
            <a:endParaRPr lang="en-US" sz="2800" dirty="0"/>
          </a:p>
        </p:txBody>
      </p:sp>
      <p:sp>
        <p:nvSpPr>
          <p:cNvPr id="11" name="Text 9"/>
          <p:cNvSpPr/>
          <p:nvPr/>
        </p:nvSpPr>
        <p:spPr>
          <a:xfrm>
            <a:off x="2103120" y="2834640"/>
            <a:ext cx="3657600" cy="5943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After 3rd episode relapse</a:t>
            </a:r>
            <a:endParaRPr lang="en-US" sz="1600" dirty="0"/>
          </a:p>
        </p:txBody>
      </p:sp>
      <p:sp>
        <p:nvSpPr>
          <p:cNvPr id="12" name="Shape 10"/>
          <p:cNvSpPr/>
          <p:nvPr/>
        </p:nvSpPr>
        <p:spPr>
          <a:xfrm>
            <a:off x="731520" y="3566160"/>
            <a:ext cx="7680960" cy="594360"/>
          </a:xfrm>
          <a:prstGeom prst="rect">
            <a:avLst/>
          </a:prstGeom>
          <a:solidFill>
            <a:srgbClr val="1B2A4A"/>
          </a:solidFill>
          <a:ln/>
        </p:spPr>
      </p:sp>
      <p:sp>
        <p:nvSpPr>
          <p:cNvPr id="13" name="Text 11"/>
          <p:cNvSpPr/>
          <p:nvPr/>
        </p:nvSpPr>
        <p:spPr>
          <a:xfrm>
            <a:off x="1005840" y="3566160"/>
            <a:ext cx="7132320" cy="594360"/>
          </a:xfrm>
          <a:prstGeom prst="rect">
            <a:avLst/>
          </a:prstGeom>
          <a:noFill/>
          <a:ln/>
        </p:spPr>
        <p:txBody>
          <a:bodyPr wrap="square" lIns="0" tIns="0" rIns="0" bIns="0" rtlCol="0" anchor="ctr"/>
          <a:lstStyle/>
          <a:p>
            <a:pPr indent="0" marL="0">
              <a:buNone/>
            </a:pPr>
            <a:r>
              <a:rPr lang="en-US" sz="2200" b="1" dirty="0">
                <a:solidFill>
                  <a:srgbClr val="22D3EE"/>
                </a:solidFill>
                <a:latin typeface="Calibri" pitchFamily="34" charset="0"/>
                <a:ea typeface="Calibri" pitchFamily="34" charset="-122"/>
                <a:cs typeface="Calibri" pitchFamily="34" charset="-120"/>
              </a:rPr>
              <a:t>85% </a:t>
            </a:r>
            <a:pPr indent="0" marL="0">
              <a:buNone/>
            </a:pPr>
            <a:r>
              <a:rPr lang="en-US" sz="1600" dirty="0">
                <a:solidFill>
                  <a:srgbClr val="FFFFFF"/>
                </a:solidFill>
                <a:latin typeface="Calibri" pitchFamily="34" charset="0"/>
                <a:ea typeface="Calibri" pitchFamily="34" charset="-122"/>
                <a:cs typeface="Calibri" pitchFamily="34" charset="-120"/>
              </a:rPr>
              <a:t>recurrence within a decade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Youth Crisis</a:t>
            </a:r>
            <a:endParaRPr lang="en-US" sz="2800" dirty="0"/>
          </a:p>
        </p:txBody>
      </p:sp>
      <p:sp>
        <p:nvSpPr>
          <p:cNvPr id="3" name="Shape 1"/>
          <p:cNvSpPr/>
          <p:nvPr/>
        </p:nvSpPr>
        <p:spPr>
          <a:xfrm>
            <a:off x="731520" y="1188720"/>
            <a:ext cx="7680960" cy="8229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822960"/>
          </a:xfrm>
          <a:prstGeom prst="rect">
            <a:avLst/>
          </a:prstGeom>
          <a:solidFill>
            <a:srgbClr val="DC2626"/>
          </a:solidFill>
          <a:ln/>
        </p:spPr>
      </p:sp>
      <p:sp>
        <p:nvSpPr>
          <p:cNvPr id="5" name="Text 3"/>
          <p:cNvSpPr/>
          <p:nvPr/>
        </p:nvSpPr>
        <p:spPr>
          <a:xfrm>
            <a:off x="1005840" y="1188720"/>
            <a:ext cx="1828800" cy="822960"/>
          </a:xfrm>
          <a:prstGeom prst="rect">
            <a:avLst/>
          </a:prstGeom>
          <a:noFill/>
          <a:ln/>
        </p:spPr>
        <p:txBody>
          <a:bodyPr wrap="square" lIns="0" tIns="0" rIns="0" bIns="0" rtlCol="0" anchor="ctr"/>
          <a:lstStyle/>
          <a:p>
            <a:pPr indent="0" marL="0">
              <a:buNone/>
            </a:pPr>
            <a:r>
              <a:rPr lang="en-US" sz="3200" b="1" dirty="0">
                <a:solidFill>
                  <a:srgbClr val="DC2626"/>
                </a:solidFill>
                <a:latin typeface="Georgia" pitchFamily="34" charset="0"/>
                <a:ea typeface="Georgia" pitchFamily="34" charset="-122"/>
                <a:cs typeface="Georgia" pitchFamily="34" charset="-120"/>
              </a:rPr>
              <a:t>145%</a:t>
            </a:r>
            <a:endParaRPr lang="en-US" sz="3200" dirty="0"/>
          </a:p>
        </p:txBody>
      </p:sp>
      <p:sp>
        <p:nvSpPr>
          <p:cNvPr id="6" name="Text 4"/>
          <p:cNvSpPr/>
          <p:nvPr/>
        </p:nvSpPr>
        <p:spPr>
          <a:xfrm>
            <a:off x="2926080" y="1188720"/>
            <a:ext cx="5212080" cy="82296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increase in teen depression (2010–2021)</a:t>
            </a:r>
            <a:endParaRPr lang="en-US" sz="1600" dirty="0"/>
          </a:p>
        </p:txBody>
      </p:sp>
      <p:sp>
        <p:nvSpPr>
          <p:cNvPr id="7" name="Shape 5"/>
          <p:cNvSpPr/>
          <p:nvPr/>
        </p:nvSpPr>
        <p:spPr>
          <a:xfrm>
            <a:off x="731520" y="2240280"/>
            <a:ext cx="7680960" cy="8229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Shape 6"/>
          <p:cNvSpPr/>
          <p:nvPr/>
        </p:nvSpPr>
        <p:spPr>
          <a:xfrm>
            <a:off x="731520" y="2240280"/>
            <a:ext cx="54864" cy="822960"/>
          </a:xfrm>
          <a:prstGeom prst="rect">
            <a:avLst/>
          </a:prstGeom>
          <a:solidFill>
            <a:srgbClr val="DC2626"/>
          </a:solidFill>
          <a:ln/>
        </p:spPr>
      </p:sp>
      <p:sp>
        <p:nvSpPr>
          <p:cNvPr id="9" name="Text 7"/>
          <p:cNvSpPr/>
          <p:nvPr/>
        </p:nvSpPr>
        <p:spPr>
          <a:xfrm>
            <a:off x="1005840" y="2240280"/>
            <a:ext cx="1828800" cy="822960"/>
          </a:xfrm>
          <a:prstGeom prst="rect">
            <a:avLst/>
          </a:prstGeom>
          <a:noFill/>
          <a:ln/>
        </p:spPr>
        <p:txBody>
          <a:bodyPr wrap="square" lIns="0" tIns="0" rIns="0" bIns="0" rtlCol="0" anchor="ctr"/>
          <a:lstStyle/>
          <a:p>
            <a:pPr indent="0" marL="0">
              <a:buNone/>
            </a:pPr>
            <a:r>
              <a:rPr lang="en-US" sz="3200" b="1" dirty="0">
                <a:solidFill>
                  <a:srgbClr val="DC2626"/>
                </a:solidFill>
                <a:latin typeface="Georgia" pitchFamily="34" charset="0"/>
                <a:ea typeface="Georgia" pitchFamily="34" charset="-122"/>
                <a:cs typeface="Georgia" pitchFamily="34" charset="-120"/>
              </a:rPr>
              <a:t>62%</a:t>
            </a:r>
            <a:endParaRPr lang="en-US" sz="3200" dirty="0"/>
          </a:p>
        </p:txBody>
      </p:sp>
      <p:sp>
        <p:nvSpPr>
          <p:cNvPr id="10" name="Text 8"/>
          <p:cNvSpPr/>
          <p:nvPr/>
        </p:nvSpPr>
        <p:spPr>
          <a:xfrm>
            <a:off x="2926080" y="2240280"/>
            <a:ext cx="5212080" cy="82296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increase in suicide deaths ages 10–24 (2007–2021)</a:t>
            </a:r>
            <a:endParaRPr lang="en-US" sz="1600" dirty="0"/>
          </a:p>
        </p:txBody>
      </p:sp>
      <p:sp>
        <p:nvSpPr>
          <p:cNvPr id="11" name="Shape 9"/>
          <p:cNvSpPr/>
          <p:nvPr/>
        </p:nvSpPr>
        <p:spPr>
          <a:xfrm>
            <a:off x="731520" y="3291840"/>
            <a:ext cx="7680960" cy="8229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2" name="Shape 10"/>
          <p:cNvSpPr/>
          <p:nvPr/>
        </p:nvSpPr>
        <p:spPr>
          <a:xfrm>
            <a:off x="731520" y="3291840"/>
            <a:ext cx="54864" cy="822960"/>
          </a:xfrm>
          <a:prstGeom prst="rect">
            <a:avLst/>
          </a:prstGeom>
          <a:solidFill>
            <a:srgbClr val="DC2626"/>
          </a:solidFill>
          <a:ln/>
        </p:spPr>
      </p:sp>
      <p:sp>
        <p:nvSpPr>
          <p:cNvPr id="13" name="Text 11"/>
          <p:cNvSpPr/>
          <p:nvPr/>
        </p:nvSpPr>
        <p:spPr>
          <a:xfrm>
            <a:off x="1005840" y="3291840"/>
            <a:ext cx="1828800" cy="822960"/>
          </a:xfrm>
          <a:prstGeom prst="rect">
            <a:avLst/>
          </a:prstGeom>
          <a:noFill/>
          <a:ln/>
        </p:spPr>
        <p:txBody>
          <a:bodyPr wrap="square" lIns="0" tIns="0" rIns="0" bIns="0" rtlCol="0" anchor="ctr"/>
          <a:lstStyle/>
          <a:p>
            <a:pPr indent="0" marL="0">
              <a:buNone/>
            </a:pPr>
            <a:r>
              <a:rPr lang="en-US" sz="3200" b="1" dirty="0">
                <a:solidFill>
                  <a:srgbClr val="DC2626"/>
                </a:solidFill>
                <a:latin typeface="Georgia" pitchFamily="34" charset="0"/>
                <a:ea typeface="Georgia" pitchFamily="34" charset="-122"/>
                <a:cs typeface="Georgia" pitchFamily="34" charset="-120"/>
              </a:rPr>
              <a:t>1 in 5</a:t>
            </a:r>
            <a:endParaRPr lang="en-US" sz="3200" dirty="0"/>
          </a:p>
        </p:txBody>
      </p:sp>
      <p:sp>
        <p:nvSpPr>
          <p:cNvPr id="14" name="Text 12"/>
          <p:cNvSpPr/>
          <p:nvPr/>
        </p:nvSpPr>
        <p:spPr>
          <a:xfrm>
            <a:off x="2926080" y="3291840"/>
            <a:ext cx="5212080" cy="82296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high school students seriously considered suicide (2023)</a:t>
            </a:r>
            <a:endParaRPr lang="en-US" sz="1600" dirty="0"/>
          </a:p>
        </p:txBody>
      </p:sp>
      <p:sp>
        <p:nvSpPr>
          <p:cNvPr id="15" name="Text 13"/>
          <p:cNvSpPr/>
          <p:nvPr/>
        </p:nvSpPr>
        <p:spPr>
          <a:xfrm>
            <a:off x="731520" y="4389120"/>
            <a:ext cx="7680960" cy="457200"/>
          </a:xfrm>
          <a:prstGeom prst="rect">
            <a:avLst/>
          </a:prstGeom>
          <a:noFill/>
          <a:ln/>
        </p:spPr>
        <p:txBody>
          <a:bodyPr wrap="square" lIns="0" tIns="0" rIns="0" bIns="0" rtlCol="0" anchor="ctr"/>
          <a:lstStyle/>
          <a:p>
            <a:pPr indent="0" marL="0">
              <a:buNone/>
            </a:pPr>
            <a:r>
              <a:rPr lang="en-US" sz="1500" i="1" dirty="0">
                <a:solidFill>
                  <a:srgbClr val="475569"/>
                </a:solidFill>
                <a:latin typeface="Georgia" pitchFamily="34" charset="0"/>
                <a:ea typeface="Georgia" pitchFamily="34" charset="-122"/>
                <a:cs typeface="Georgia" pitchFamily="34" charset="-120"/>
              </a:rPr>
              <a:t>More therapists, more spending, more awareness than ever.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1E293B"/>
                </a:solidFill>
                <a:latin typeface="Georgia" pitchFamily="34" charset="0"/>
                <a:ea typeface="Georgia" pitchFamily="34" charset="-122"/>
                <a:cs typeface="Georgia" pitchFamily="34" charset="-120"/>
              </a:rPr>
              <a:t>The Research Base Itself Is Unreliable</a:t>
            </a:r>
            <a:endParaRPr lang="en-US" sz="2600" dirty="0"/>
          </a:p>
        </p:txBody>
      </p:sp>
      <p:sp>
        <p:nvSpPr>
          <p:cNvPr id="3" name="Shape 1"/>
          <p:cNvSpPr/>
          <p:nvPr/>
        </p:nvSpPr>
        <p:spPr>
          <a:xfrm>
            <a:off x="1828800" y="1188720"/>
            <a:ext cx="5486400" cy="16459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Text 2"/>
          <p:cNvSpPr/>
          <p:nvPr/>
        </p:nvSpPr>
        <p:spPr>
          <a:xfrm>
            <a:off x="1828800" y="1234440"/>
            <a:ext cx="5486400" cy="914400"/>
          </a:xfrm>
          <a:prstGeom prst="rect">
            <a:avLst/>
          </a:prstGeom>
          <a:noFill/>
          <a:ln/>
        </p:spPr>
        <p:txBody>
          <a:bodyPr wrap="square" lIns="0" tIns="0" rIns="0" bIns="0" rtlCol="0" anchor="ctr"/>
          <a:lstStyle/>
          <a:p>
            <a:pPr algn="ctr" indent="0" marL="0">
              <a:buNone/>
            </a:pPr>
            <a:r>
              <a:rPr lang="en-US" sz="6000" b="1" dirty="0">
                <a:solidFill>
                  <a:srgbClr val="D97706"/>
                </a:solidFill>
                <a:latin typeface="Georgia" pitchFamily="34" charset="0"/>
                <a:ea typeface="Georgia" pitchFamily="34" charset="-122"/>
                <a:cs typeface="Georgia" pitchFamily="34" charset="-120"/>
              </a:rPr>
              <a:t>~40%</a:t>
            </a:r>
            <a:endParaRPr lang="en-US" sz="6000" dirty="0"/>
          </a:p>
        </p:txBody>
      </p:sp>
      <p:sp>
        <p:nvSpPr>
          <p:cNvPr id="5" name="Text 3"/>
          <p:cNvSpPr/>
          <p:nvPr/>
        </p:nvSpPr>
        <p:spPr>
          <a:xfrm>
            <a:off x="1828800" y="2103120"/>
            <a:ext cx="5486400" cy="457200"/>
          </a:xfrm>
          <a:prstGeom prst="rect">
            <a:avLst/>
          </a:prstGeom>
          <a:noFill/>
          <a:ln/>
        </p:spPr>
        <p:txBody>
          <a:bodyPr wrap="square" lIns="0" tIns="0" rIns="0" bIns="0" rtlCol="0" anchor="ctr"/>
          <a:lstStyle/>
          <a:p>
            <a:pPr algn="ctr" indent="0" marL="0">
              <a:buNone/>
            </a:pPr>
            <a:r>
              <a:rPr lang="en-US" sz="1800" dirty="0">
                <a:solidFill>
                  <a:srgbClr val="475569"/>
                </a:solidFill>
                <a:latin typeface="Calibri" pitchFamily="34" charset="0"/>
                <a:ea typeface="Calibri" pitchFamily="34" charset="-122"/>
                <a:cs typeface="Calibri" pitchFamily="34" charset="-120"/>
              </a:rPr>
              <a:t>of psychology studies replicate</a:t>
            </a:r>
            <a:endParaRPr lang="en-US" sz="1800" dirty="0"/>
          </a:p>
        </p:txBody>
      </p:sp>
      <p:sp>
        <p:nvSpPr>
          <p:cNvPr id="6" name="Shape 4"/>
          <p:cNvSpPr/>
          <p:nvPr/>
        </p:nvSpPr>
        <p:spPr>
          <a:xfrm>
            <a:off x="731520" y="3200400"/>
            <a:ext cx="7680960" cy="1097280"/>
          </a:xfrm>
          <a:prstGeom prst="rect">
            <a:avLst/>
          </a:prstGeom>
          <a:solidFill>
            <a:srgbClr val="1B2A4A"/>
          </a:solidFill>
          <a:ln/>
        </p:spPr>
      </p:sp>
      <p:sp>
        <p:nvSpPr>
          <p:cNvPr id="7" name="Text 5"/>
          <p:cNvSpPr/>
          <p:nvPr/>
        </p:nvSpPr>
        <p:spPr>
          <a:xfrm>
            <a:off x="1005840" y="3246120"/>
            <a:ext cx="7132320" cy="411480"/>
          </a:xfrm>
          <a:prstGeom prst="rect">
            <a:avLst/>
          </a:prstGeom>
          <a:noFill/>
          <a:ln/>
        </p:spPr>
        <p:txBody>
          <a:bodyPr wrap="square" lIns="0" tIns="0" rIns="0" bIns="0"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NIMH stopped funding DSM-only research (2013)</a:t>
            </a:r>
            <a:endParaRPr lang="en-US" sz="1600" dirty="0"/>
          </a:p>
        </p:txBody>
      </p:sp>
      <p:sp>
        <p:nvSpPr>
          <p:cNvPr id="8" name="Text 6"/>
          <p:cNvSpPr/>
          <p:nvPr/>
        </p:nvSpPr>
        <p:spPr>
          <a:xfrm>
            <a:off x="1005840" y="3703320"/>
            <a:ext cx="7132320" cy="502920"/>
          </a:xfrm>
          <a:prstGeom prst="rect">
            <a:avLst/>
          </a:prstGeom>
          <a:noFill/>
          <a:ln/>
        </p:spPr>
        <p:txBody>
          <a:bodyPr wrap="square" lIns="0" tIns="0" rIns="0" bIns="0"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Thomas Insel: DSM diagnoses are "consensus about clusters of clinical</a:t>
            </a:r>
            <a:endParaRPr lang="en-US" sz="1300" dirty="0"/>
          </a:p>
          <a:p>
            <a:pPr indent="0" marL="0">
              <a:buNone/>
            </a:pPr>
            <a:r>
              <a:rPr lang="en-US" sz="1300" i="1" dirty="0">
                <a:solidFill>
                  <a:srgbClr val="FFFFFF"/>
                </a:solidFill>
                <a:latin typeface="Calibri" pitchFamily="34" charset="0"/>
                <a:ea typeface="Calibri" pitchFamily="34" charset="-122"/>
                <a:cs typeface="Calibri" pitchFamily="34" charset="-120"/>
              </a:rPr>
              <a:t>symptoms, not any objective laboratory measure."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1E293B"/>
                </a:solidFill>
                <a:latin typeface="Georgia" pitchFamily="34" charset="0"/>
                <a:ea typeface="Georgia" pitchFamily="34" charset="-122"/>
                <a:cs typeface="Georgia" pitchFamily="34" charset="-120"/>
              </a:rPr>
              <a:t>The Public Senses Something Is Wrong</a:t>
            </a:r>
            <a:endParaRPr lang="en-US" sz="2600" dirty="0"/>
          </a:p>
        </p:txBody>
      </p:sp>
      <p:sp>
        <p:nvSpPr>
          <p:cNvPr id="3" name="Shape 1"/>
          <p:cNvSpPr/>
          <p:nvPr/>
        </p:nvSpPr>
        <p:spPr>
          <a:xfrm>
            <a:off x="731520" y="1188720"/>
            <a:ext cx="7680960" cy="685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685800"/>
          </a:xfrm>
          <a:prstGeom prst="rect">
            <a:avLst/>
          </a:prstGeom>
          <a:solidFill>
            <a:srgbClr val="D97706"/>
          </a:solidFill>
          <a:ln/>
        </p:spPr>
      </p:sp>
      <p:sp>
        <p:nvSpPr>
          <p:cNvPr id="5" name="Text 3"/>
          <p:cNvSpPr/>
          <p:nvPr/>
        </p:nvSpPr>
        <p:spPr>
          <a:xfrm>
            <a:off x="1005840" y="1188720"/>
            <a:ext cx="1645920" cy="685800"/>
          </a:xfrm>
          <a:prstGeom prst="rect">
            <a:avLst/>
          </a:prstGeom>
          <a:noFill/>
          <a:ln/>
        </p:spPr>
        <p:txBody>
          <a:bodyPr wrap="square" lIns="0" tIns="0" rIns="0" bIns="0" rtlCol="0" anchor="ctr"/>
          <a:lstStyle/>
          <a:p>
            <a:pPr indent="0" marL="0">
              <a:buNone/>
            </a:pPr>
            <a:r>
              <a:rPr lang="en-US" sz="2400" b="1" dirty="0">
                <a:solidFill>
                  <a:srgbClr val="D97706"/>
                </a:solidFill>
                <a:latin typeface="Georgia" pitchFamily="34" charset="0"/>
                <a:ea typeface="Georgia" pitchFamily="34" charset="-122"/>
                <a:cs typeface="Georgia" pitchFamily="34" charset="-120"/>
              </a:rPr>
              <a:t>43%</a:t>
            </a:r>
            <a:endParaRPr lang="en-US" sz="2400" dirty="0"/>
          </a:p>
        </p:txBody>
      </p:sp>
      <p:sp>
        <p:nvSpPr>
          <p:cNvPr id="6" name="Text 4"/>
          <p:cNvSpPr/>
          <p:nvPr/>
        </p:nvSpPr>
        <p:spPr>
          <a:xfrm>
            <a:off x="2834640" y="1188720"/>
            <a:ext cx="5303520" cy="6858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say costs of therapy outweigh benefits</a:t>
            </a:r>
            <a:endParaRPr lang="en-US" sz="1600" dirty="0"/>
          </a:p>
        </p:txBody>
      </p:sp>
      <p:sp>
        <p:nvSpPr>
          <p:cNvPr id="7" name="Shape 5"/>
          <p:cNvSpPr/>
          <p:nvPr/>
        </p:nvSpPr>
        <p:spPr>
          <a:xfrm>
            <a:off x="731520" y="2057400"/>
            <a:ext cx="7680960" cy="685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Shape 6"/>
          <p:cNvSpPr/>
          <p:nvPr/>
        </p:nvSpPr>
        <p:spPr>
          <a:xfrm>
            <a:off x="731520" y="2057400"/>
            <a:ext cx="54864" cy="685800"/>
          </a:xfrm>
          <a:prstGeom prst="rect">
            <a:avLst/>
          </a:prstGeom>
          <a:solidFill>
            <a:srgbClr val="D97706"/>
          </a:solidFill>
          <a:ln/>
        </p:spPr>
      </p:sp>
      <p:sp>
        <p:nvSpPr>
          <p:cNvPr id="9" name="Text 7"/>
          <p:cNvSpPr/>
          <p:nvPr/>
        </p:nvSpPr>
        <p:spPr>
          <a:xfrm>
            <a:off x="1005840" y="2057400"/>
            <a:ext cx="1645920" cy="685800"/>
          </a:xfrm>
          <a:prstGeom prst="rect">
            <a:avLst/>
          </a:prstGeom>
          <a:noFill/>
          <a:ln/>
        </p:spPr>
        <p:txBody>
          <a:bodyPr wrap="square" lIns="0" tIns="0" rIns="0" bIns="0" rtlCol="0" anchor="ctr"/>
          <a:lstStyle/>
          <a:p>
            <a:pPr indent="0" marL="0">
              <a:buNone/>
            </a:pPr>
            <a:r>
              <a:rPr lang="en-US" sz="2400" b="1" dirty="0">
                <a:solidFill>
                  <a:srgbClr val="D97706"/>
                </a:solidFill>
                <a:latin typeface="Georgia" pitchFamily="34" charset="0"/>
                <a:ea typeface="Georgia" pitchFamily="34" charset="-122"/>
                <a:cs typeface="Georgia" pitchFamily="34" charset="-120"/>
              </a:rPr>
              <a:t>38%</a:t>
            </a:r>
            <a:endParaRPr lang="en-US" sz="2400" dirty="0"/>
          </a:p>
        </p:txBody>
      </p:sp>
      <p:sp>
        <p:nvSpPr>
          <p:cNvPr id="10" name="Text 8"/>
          <p:cNvSpPr/>
          <p:nvPr/>
        </p:nvSpPr>
        <p:spPr>
          <a:xfrm>
            <a:off x="2834640" y="2057400"/>
            <a:ext cx="5303520" cy="6858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believe most therapists need therapy themselves</a:t>
            </a:r>
            <a:endParaRPr lang="en-US" sz="1600" dirty="0"/>
          </a:p>
        </p:txBody>
      </p:sp>
      <p:sp>
        <p:nvSpPr>
          <p:cNvPr id="11" name="Shape 9"/>
          <p:cNvSpPr/>
          <p:nvPr/>
        </p:nvSpPr>
        <p:spPr>
          <a:xfrm>
            <a:off x="731520" y="2926080"/>
            <a:ext cx="7680960" cy="685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2" name="Shape 10"/>
          <p:cNvSpPr/>
          <p:nvPr/>
        </p:nvSpPr>
        <p:spPr>
          <a:xfrm>
            <a:off x="731520" y="2926080"/>
            <a:ext cx="54864" cy="685800"/>
          </a:xfrm>
          <a:prstGeom prst="rect">
            <a:avLst/>
          </a:prstGeom>
          <a:solidFill>
            <a:srgbClr val="D97706"/>
          </a:solidFill>
          <a:ln/>
        </p:spPr>
      </p:sp>
      <p:sp>
        <p:nvSpPr>
          <p:cNvPr id="13" name="Text 11"/>
          <p:cNvSpPr/>
          <p:nvPr/>
        </p:nvSpPr>
        <p:spPr>
          <a:xfrm>
            <a:off x="1005840" y="2926080"/>
            <a:ext cx="1645920" cy="685800"/>
          </a:xfrm>
          <a:prstGeom prst="rect">
            <a:avLst/>
          </a:prstGeom>
          <a:noFill/>
          <a:ln/>
        </p:spPr>
        <p:txBody>
          <a:bodyPr wrap="square" lIns="0" tIns="0" rIns="0" bIns="0" rtlCol="0" anchor="ctr"/>
          <a:lstStyle/>
          <a:p>
            <a:pPr indent="0" marL="0">
              <a:buNone/>
            </a:pPr>
            <a:r>
              <a:rPr lang="en-US" sz="2400" b="1" dirty="0">
                <a:solidFill>
                  <a:srgbClr val="D97706"/>
                </a:solidFill>
                <a:latin typeface="Georgia" pitchFamily="34" charset="0"/>
                <a:ea typeface="Georgia" pitchFamily="34" charset="-122"/>
                <a:cs typeface="Georgia" pitchFamily="34" charset="-120"/>
              </a:rPr>
              <a:t>26–50%</a:t>
            </a:r>
            <a:endParaRPr lang="en-US" sz="2400" dirty="0"/>
          </a:p>
        </p:txBody>
      </p:sp>
      <p:sp>
        <p:nvSpPr>
          <p:cNvPr id="14" name="Text 12"/>
          <p:cNvSpPr/>
          <p:nvPr/>
        </p:nvSpPr>
        <p:spPr>
          <a:xfrm>
            <a:off x="2834640" y="2926080"/>
            <a:ext cx="5303520" cy="6858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public estimate of therapy effectiveness</a:t>
            </a:r>
            <a:endParaRPr lang="en-US" sz="1600" dirty="0"/>
          </a:p>
        </p:txBody>
      </p:sp>
      <p:sp>
        <p:nvSpPr>
          <p:cNvPr id="15" name="Text 13"/>
          <p:cNvSpPr/>
          <p:nvPr/>
        </p:nvSpPr>
        <p:spPr>
          <a:xfrm>
            <a:off x="731520" y="411480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This skepticism has a basis.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III</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Historical</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Catastrophes</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14 minutes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Salem Witch Trials (1692)</a:t>
            </a:r>
            <a:endParaRPr lang="en-US" sz="2800" dirty="0"/>
          </a:p>
        </p:txBody>
      </p:sp>
      <p:sp>
        <p:nvSpPr>
          <p:cNvPr id="3" name="Shape 1"/>
          <p:cNvSpPr/>
          <p:nvPr/>
        </p:nvSpPr>
        <p:spPr>
          <a:xfrm>
            <a:off x="731520" y="1280160"/>
            <a:ext cx="3657600" cy="1463040"/>
          </a:xfrm>
          <a:prstGeom prst="rect">
            <a:avLst/>
          </a:prstGeom>
          <a:solidFill>
            <a:srgbClr val="1B2A4A"/>
          </a:solidFill>
          <a:ln/>
        </p:spPr>
      </p:sp>
      <p:sp>
        <p:nvSpPr>
          <p:cNvPr id="4" name="Text 2"/>
          <p:cNvSpPr/>
          <p:nvPr/>
        </p:nvSpPr>
        <p:spPr>
          <a:xfrm>
            <a:off x="731520" y="1325880"/>
            <a:ext cx="3657600" cy="822960"/>
          </a:xfrm>
          <a:prstGeom prst="rect">
            <a:avLst/>
          </a:prstGeom>
          <a:noFill/>
          <a:ln/>
        </p:spPr>
        <p:txBody>
          <a:bodyPr wrap="square" lIns="0" tIns="0" rIns="0" bIns="0" rtlCol="0" anchor="ctr"/>
          <a:lstStyle/>
          <a:p>
            <a:pPr algn="ctr" indent="0" marL="0">
              <a:buNone/>
            </a:pPr>
            <a:r>
              <a:rPr lang="en-US" sz="5600" b="1" dirty="0">
                <a:solidFill>
                  <a:srgbClr val="D97706"/>
                </a:solidFill>
                <a:latin typeface="Georgia" pitchFamily="34" charset="0"/>
                <a:ea typeface="Georgia" pitchFamily="34" charset="-122"/>
                <a:cs typeface="Georgia" pitchFamily="34" charset="-120"/>
              </a:rPr>
              <a:t>25+</a:t>
            </a:r>
            <a:endParaRPr lang="en-US" sz="5600" dirty="0"/>
          </a:p>
        </p:txBody>
      </p:sp>
      <p:sp>
        <p:nvSpPr>
          <p:cNvPr id="5" name="Text 3"/>
          <p:cNvSpPr/>
          <p:nvPr/>
        </p:nvSpPr>
        <p:spPr>
          <a:xfrm>
            <a:off x="731520" y="2148840"/>
            <a:ext cx="3657600" cy="36576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dead</a:t>
            </a:r>
            <a:endParaRPr lang="en-US" sz="1600" dirty="0"/>
          </a:p>
        </p:txBody>
      </p:sp>
      <p:sp>
        <p:nvSpPr>
          <p:cNvPr id="6" name="Shape 4"/>
          <p:cNvSpPr/>
          <p:nvPr/>
        </p:nvSpPr>
        <p:spPr>
          <a:xfrm>
            <a:off x="4754880" y="1280160"/>
            <a:ext cx="3657600" cy="1463040"/>
          </a:xfrm>
          <a:prstGeom prst="rect">
            <a:avLst/>
          </a:prstGeom>
          <a:solidFill>
            <a:srgbClr val="1B2A4A"/>
          </a:solidFill>
          <a:ln/>
        </p:spPr>
      </p:sp>
      <p:sp>
        <p:nvSpPr>
          <p:cNvPr id="7" name="Text 5"/>
          <p:cNvSpPr/>
          <p:nvPr/>
        </p:nvSpPr>
        <p:spPr>
          <a:xfrm>
            <a:off x="4754880" y="1325880"/>
            <a:ext cx="3657600" cy="822960"/>
          </a:xfrm>
          <a:prstGeom prst="rect">
            <a:avLst/>
          </a:prstGeom>
          <a:noFill/>
          <a:ln/>
        </p:spPr>
        <p:txBody>
          <a:bodyPr wrap="square" lIns="0" tIns="0" rIns="0" bIns="0" rtlCol="0" anchor="ctr"/>
          <a:lstStyle/>
          <a:p>
            <a:pPr algn="ctr" indent="0" marL="0">
              <a:buNone/>
            </a:pPr>
            <a:r>
              <a:rPr lang="en-US" sz="5600" b="1" dirty="0">
                <a:solidFill>
                  <a:srgbClr val="D97706"/>
                </a:solidFill>
                <a:latin typeface="Georgia" pitchFamily="34" charset="0"/>
                <a:ea typeface="Georgia" pitchFamily="34" charset="-122"/>
                <a:cs typeface="Georgia" pitchFamily="34" charset="-120"/>
              </a:rPr>
              <a:t>200+</a:t>
            </a:r>
            <a:endParaRPr lang="en-US" sz="5600" dirty="0"/>
          </a:p>
        </p:txBody>
      </p:sp>
      <p:sp>
        <p:nvSpPr>
          <p:cNvPr id="8" name="Text 6"/>
          <p:cNvSpPr/>
          <p:nvPr/>
        </p:nvSpPr>
        <p:spPr>
          <a:xfrm>
            <a:off x="4754880" y="2148840"/>
            <a:ext cx="3657600" cy="36576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accused</a:t>
            </a:r>
            <a:endParaRPr lang="en-US" sz="1600" dirty="0"/>
          </a:p>
        </p:txBody>
      </p:sp>
      <p:sp>
        <p:nvSpPr>
          <p:cNvPr id="9" name="Text 7"/>
          <p:cNvSpPr/>
          <p:nvPr/>
        </p:nvSpPr>
        <p:spPr>
          <a:xfrm>
            <a:off x="731520" y="3200400"/>
            <a:ext cx="7680960" cy="731520"/>
          </a:xfrm>
          <a:prstGeom prst="rect">
            <a:avLst/>
          </a:prstGeom>
          <a:noFill/>
          <a:ln/>
        </p:spPr>
        <p:txBody>
          <a:bodyPr wrap="square" lIns="0" tIns="0" rIns="0" bIns="0" rtlCol="0" anchor="ctr"/>
          <a:lstStyle/>
          <a:p>
            <a:pPr indent="0" marL="0">
              <a:lnSpc>
                <a:spcPct val="140000"/>
              </a:lnSpc>
              <a:buNone/>
            </a:pPr>
            <a:r>
              <a:rPr lang="en-US" sz="1500" dirty="0">
                <a:solidFill>
                  <a:srgbClr val="94A3B8"/>
                </a:solidFill>
                <a:latin typeface="Calibri" pitchFamily="34" charset="0"/>
                <a:ea typeface="Calibri" pitchFamily="34" charset="-122"/>
                <a:cs typeface="Calibri" pitchFamily="34" charset="-120"/>
              </a:rPr>
              <a:t>Evidence: spectral visions, fits, accusations.</a:t>
            </a:r>
            <a:endParaRPr lang="en-US" sz="1500" dirty="0"/>
          </a:p>
          <a:p>
            <a:pPr indent="0" marL="0">
              <a:lnSpc>
                <a:spcPct val="140000"/>
              </a:lnSpc>
              <a:buNone/>
            </a:pPr>
            <a:r>
              <a:rPr lang="en-US" sz="1500" dirty="0">
                <a:solidFill>
                  <a:srgbClr val="94A3B8"/>
                </a:solidFill>
                <a:latin typeface="Calibri" pitchFamily="34" charset="0"/>
                <a:ea typeface="Calibri" pitchFamily="34" charset="-122"/>
                <a:cs typeface="Calibri" pitchFamily="34" charset="-120"/>
              </a:rPr>
              <a:t>Within years, jurors signed public apologies.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Lobotomy Epidemic (1940s–1950s)</a:t>
            </a:r>
            <a:endParaRPr lang="en-US" sz="2800" dirty="0"/>
          </a:p>
        </p:txBody>
      </p:sp>
      <p:sp>
        <p:nvSpPr>
          <p:cNvPr id="3" name="Shape 1"/>
          <p:cNvSpPr/>
          <p:nvPr/>
        </p:nvSpPr>
        <p:spPr>
          <a:xfrm>
            <a:off x="731520" y="1188720"/>
            <a:ext cx="7680960" cy="1280160"/>
          </a:xfrm>
          <a:prstGeom prst="rect">
            <a:avLst/>
          </a:prstGeom>
          <a:solidFill>
            <a:srgbClr val="1B2A4A"/>
          </a:solidFill>
          <a:ln/>
        </p:spPr>
      </p:sp>
      <p:sp>
        <p:nvSpPr>
          <p:cNvPr id="4" name="Text 2"/>
          <p:cNvSpPr/>
          <p:nvPr/>
        </p:nvSpPr>
        <p:spPr>
          <a:xfrm>
            <a:off x="731520" y="1188720"/>
            <a:ext cx="7680960" cy="731520"/>
          </a:xfrm>
          <a:prstGeom prst="rect">
            <a:avLst/>
          </a:prstGeom>
          <a:noFill/>
          <a:ln/>
        </p:spPr>
        <p:txBody>
          <a:bodyPr wrap="square" lIns="0" tIns="0" rIns="0" bIns="0" rtlCol="0" anchor="ctr"/>
          <a:lstStyle/>
          <a:p>
            <a:pPr algn="ctr" indent="0" marL="0">
              <a:buNone/>
            </a:pPr>
            <a:r>
              <a:rPr lang="en-US" sz="5600" b="1" dirty="0">
                <a:solidFill>
                  <a:srgbClr val="D97706"/>
                </a:solidFill>
                <a:latin typeface="Georgia" pitchFamily="34" charset="0"/>
                <a:ea typeface="Georgia" pitchFamily="34" charset="-122"/>
                <a:cs typeface="Georgia" pitchFamily="34" charset="-120"/>
              </a:rPr>
              <a:t>50,000+</a:t>
            </a:r>
            <a:endParaRPr lang="en-US" sz="5600" dirty="0"/>
          </a:p>
        </p:txBody>
      </p:sp>
      <p:sp>
        <p:nvSpPr>
          <p:cNvPr id="5" name="Text 3"/>
          <p:cNvSpPr/>
          <p:nvPr/>
        </p:nvSpPr>
        <p:spPr>
          <a:xfrm>
            <a:off x="731520" y="1920240"/>
            <a:ext cx="7680960" cy="36576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lobotomies in the United States</a:t>
            </a:r>
            <a:endParaRPr lang="en-US" sz="1600" dirty="0"/>
          </a:p>
        </p:txBody>
      </p:sp>
      <p:sp>
        <p:nvSpPr>
          <p:cNvPr id="6" name="Shape 4"/>
          <p:cNvSpPr/>
          <p:nvPr/>
        </p:nvSpPr>
        <p:spPr>
          <a:xfrm>
            <a:off x="1097280" y="2743200"/>
            <a:ext cx="6949440" cy="365760"/>
          </a:xfrm>
          <a:prstGeom prst="rect">
            <a:avLst/>
          </a:prstGeom>
          <a:solidFill>
            <a:srgbClr val="1B2A4A"/>
          </a:solidFill>
          <a:ln/>
        </p:spPr>
      </p:sp>
      <p:sp>
        <p:nvSpPr>
          <p:cNvPr id="7" name="Shape 5"/>
          <p:cNvSpPr/>
          <p:nvPr/>
        </p:nvSpPr>
        <p:spPr>
          <a:xfrm>
            <a:off x="1097280" y="2743200"/>
            <a:ext cx="54864" cy="365760"/>
          </a:xfrm>
          <a:prstGeom prst="rect">
            <a:avLst/>
          </a:prstGeom>
          <a:solidFill>
            <a:srgbClr val="D97706"/>
          </a:solidFill>
          <a:ln/>
        </p:spPr>
      </p:sp>
      <p:sp>
        <p:nvSpPr>
          <p:cNvPr id="8" name="Text 6"/>
          <p:cNvSpPr/>
          <p:nvPr/>
        </p:nvSpPr>
        <p:spPr>
          <a:xfrm>
            <a:off x="1417320" y="2743200"/>
            <a:ext cx="64008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~5% mortality rate. Thousands permanently damaged.</a:t>
            </a:r>
            <a:endParaRPr lang="en-US" sz="1300" dirty="0"/>
          </a:p>
        </p:txBody>
      </p:sp>
      <p:sp>
        <p:nvSpPr>
          <p:cNvPr id="9" name="Shape 7"/>
          <p:cNvSpPr/>
          <p:nvPr/>
        </p:nvSpPr>
        <p:spPr>
          <a:xfrm>
            <a:off x="1097280" y="3246120"/>
            <a:ext cx="6949440" cy="365760"/>
          </a:xfrm>
          <a:prstGeom prst="rect">
            <a:avLst/>
          </a:prstGeom>
          <a:solidFill>
            <a:srgbClr val="1B2A4A"/>
          </a:solidFill>
          <a:ln/>
        </p:spPr>
      </p:sp>
      <p:sp>
        <p:nvSpPr>
          <p:cNvPr id="10" name="Shape 8"/>
          <p:cNvSpPr/>
          <p:nvPr/>
        </p:nvSpPr>
        <p:spPr>
          <a:xfrm>
            <a:off x="1097280" y="3246120"/>
            <a:ext cx="54864" cy="365760"/>
          </a:xfrm>
          <a:prstGeom prst="rect">
            <a:avLst/>
          </a:prstGeom>
          <a:solidFill>
            <a:srgbClr val="D97706"/>
          </a:solidFill>
          <a:ln/>
        </p:spPr>
      </p:sp>
      <p:sp>
        <p:nvSpPr>
          <p:cNvPr id="11" name="Text 9"/>
          <p:cNvSpPr/>
          <p:nvPr/>
        </p:nvSpPr>
        <p:spPr>
          <a:xfrm>
            <a:off x="1417320" y="3246120"/>
            <a:ext cx="64008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Freeman performed 4,000 personally — on patients as young as 4.</a:t>
            </a:r>
            <a:endParaRPr lang="en-US" sz="1300" dirty="0"/>
          </a:p>
        </p:txBody>
      </p:sp>
      <p:sp>
        <p:nvSpPr>
          <p:cNvPr id="12" name="Shape 10"/>
          <p:cNvSpPr/>
          <p:nvPr/>
        </p:nvSpPr>
        <p:spPr>
          <a:xfrm>
            <a:off x="1097280" y="3749040"/>
            <a:ext cx="6949440" cy="365760"/>
          </a:xfrm>
          <a:prstGeom prst="rect">
            <a:avLst/>
          </a:prstGeom>
          <a:solidFill>
            <a:srgbClr val="1B2A4A"/>
          </a:solidFill>
          <a:ln/>
        </p:spPr>
      </p:sp>
      <p:sp>
        <p:nvSpPr>
          <p:cNvPr id="13" name="Shape 11"/>
          <p:cNvSpPr/>
          <p:nvPr/>
        </p:nvSpPr>
        <p:spPr>
          <a:xfrm>
            <a:off x="1097280" y="3749040"/>
            <a:ext cx="54864" cy="365760"/>
          </a:xfrm>
          <a:prstGeom prst="rect">
            <a:avLst/>
          </a:prstGeom>
          <a:solidFill>
            <a:srgbClr val="D97706"/>
          </a:solidFill>
          <a:ln/>
        </p:spPr>
      </p:sp>
      <p:sp>
        <p:nvSpPr>
          <p:cNvPr id="14" name="Text 12"/>
          <p:cNvSpPr/>
          <p:nvPr/>
        </p:nvSpPr>
        <p:spPr>
          <a:xfrm>
            <a:off x="1417320" y="3749040"/>
            <a:ext cx="6400800" cy="3657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Celebrated with a Nobel Prize. Soviet Union banned it in 1950.</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"Refrigerator Mother" Theory (1950s–1970s)</a:t>
            </a:r>
            <a:endParaRPr lang="en-US" sz="2600" dirty="0"/>
          </a:p>
        </p:txBody>
      </p:sp>
      <p:sp>
        <p:nvSpPr>
          <p:cNvPr id="3" name="Shape 1"/>
          <p:cNvSpPr/>
          <p:nvPr/>
        </p:nvSpPr>
        <p:spPr>
          <a:xfrm>
            <a:off x="2286000" y="1188720"/>
            <a:ext cx="4572000" cy="1280160"/>
          </a:xfrm>
          <a:prstGeom prst="rect">
            <a:avLst/>
          </a:prstGeom>
          <a:solidFill>
            <a:srgbClr val="1B2A4A"/>
          </a:solidFill>
          <a:ln/>
        </p:spPr>
      </p:sp>
      <p:sp>
        <p:nvSpPr>
          <p:cNvPr id="4" name="Text 2"/>
          <p:cNvSpPr/>
          <p:nvPr/>
        </p:nvSpPr>
        <p:spPr>
          <a:xfrm>
            <a:off x="2286000" y="1234440"/>
            <a:ext cx="4572000" cy="731520"/>
          </a:xfrm>
          <a:prstGeom prst="rect">
            <a:avLst/>
          </a:prstGeom>
          <a:noFill/>
          <a:ln/>
        </p:spPr>
        <p:txBody>
          <a:bodyPr wrap="square" lIns="0" tIns="0" rIns="0" bIns="0" rtlCol="0" anchor="ctr"/>
          <a:lstStyle/>
          <a:p>
            <a:pPr algn="ctr" indent="0" marL="0">
              <a:buNone/>
            </a:pPr>
            <a:r>
              <a:rPr lang="en-US" sz="5200" b="1" dirty="0">
                <a:solidFill>
                  <a:srgbClr val="D97706"/>
                </a:solidFill>
                <a:latin typeface="Georgia" pitchFamily="34" charset="0"/>
                <a:ea typeface="Georgia" pitchFamily="34" charset="-122"/>
                <a:cs typeface="Georgia" pitchFamily="34" charset="-120"/>
              </a:rPr>
              <a:t>20 years</a:t>
            </a:r>
            <a:endParaRPr lang="en-US" sz="5200" dirty="0"/>
          </a:p>
        </p:txBody>
      </p:sp>
      <p:sp>
        <p:nvSpPr>
          <p:cNvPr id="5" name="Text 3"/>
          <p:cNvSpPr/>
          <p:nvPr/>
        </p:nvSpPr>
        <p:spPr>
          <a:xfrm>
            <a:off x="2286000" y="1965960"/>
            <a:ext cx="4572000" cy="36576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blaming mothers for autism</a:t>
            </a:r>
            <a:endParaRPr lang="en-US" sz="1600" dirty="0"/>
          </a:p>
        </p:txBody>
      </p:sp>
      <p:sp>
        <p:nvSpPr>
          <p:cNvPr id="6" name="Text 4"/>
          <p:cNvSpPr/>
          <p:nvPr/>
        </p:nvSpPr>
        <p:spPr>
          <a:xfrm>
            <a:off x="731520" y="283464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94A3B8"/>
                </a:solidFill>
                <a:latin typeface="Calibri" pitchFamily="34" charset="0"/>
                <a:ea typeface="Calibri" pitchFamily="34" charset="-122"/>
                <a:cs typeface="Calibri" pitchFamily="34" charset="-120"/>
              </a:rPr>
              <a:t>Belief: Autism caused by cold, unloving mothers.</a:t>
            </a:r>
            <a:endParaRPr lang="en-US" sz="1500" dirty="0"/>
          </a:p>
          <a:p>
            <a:pPr indent="0" marL="0">
              <a:lnSpc>
                <a:spcPct val="150000"/>
              </a:lnSpc>
              <a:buNone/>
            </a:pPr>
            <a:r>
              <a:rPr lang="en-US" sz="1500" dirty="0">
                <a:solidFill>
                  <a:srgbClr val="94A3B8"/>
                </a:solidFill>
                <a:latin typeface="Calibri" pitchFamily="34" charset="0"/>
                <a:ea typeface="Calibri" pitchFamily="34" charset="-122"/>
                <a:cs typeface="Calibri" pitchFamily="34" charset="-120"/>
              </a:rPr>
              <a:t>Evidence: Psychoanalytic interpretation.</a:t>
            </a:r>
            <a:endParaRPr lang="en-US" sz="1500" dirty="0"/>
          </a:p>
          <a:p>
            <a:pPr indent="0" marL="0">
              <a:lnSpc>
                <a:spcPct val="150000"/>
              </a:lnSpc>
              <a:buNone/>
            </a:pPr>
            <a:r>
              <a:rPr lang="en-US" sz="1500" dirty="0">
                <a:solidFill>
                  <a:srgbClr val="94A3B8"/>
                </a:solidFill>
                <a:latin typeface="Calibri" pitchFamily="34" charset="0"/>
                <a:ea typeface="Calibri" pitchFamily="34" charset="-122"/>
                <a:cs typeface="Calibri" pitchFamily="34" charset="-120"/>
              </a:rPr>
              <a:t>Children institutionalized. Immense guilt inflicted.</a:t>
            </a:r>
            <a:endParaRPr lang="en-US" sz="1500" dirty="0"/>
          </a:p>
        </p:txBody>
      </p:sp>
      <p:sp>
        <p:nvSpPr>
          <p:cNvPr id="7" name="Text 5"/>
          <p:cNvSpPr/>
          <p:nvPr/>
        </p:nvSpPr>
        <p:spPr>
          <a:xfrm>
            <a:off x="731520" y="3931920"/>
            <a:ext cx="7680960" cy="457200"/>
          </a:xfrm>
          <a:prstGeom prst="rect">
            <a:avLst/>
          </a:prstGeom>
          <a:noFill/>
          <a:ln/>
        </p:spPr>
        <p:txBody>
          <a:bodyPr wrap="square" lIns="0" tIns="0" rIns="0" bIns="0" rtlCol="0" anchor="ctr"/>
          <a:lstStyle/>
          <a:p>
            <a:pPr indent="0" marL="0">
              <a:buNone/>
            </a:pPr>
            <a:r>
              <a:rPr lang="en-US" sz="1400" i="1" dirty="0">
                <a:solidFill>
                  <a:srgbClr val="22D3EE"/>
                </a:solidFill>
                <a:latin typeface="Calibri" pitchFamily="34" charset="0"/>
                <a:ea typeface="Calibri" pitchFamily="34" charset="-122"/>
                <a:cs typeface="Calibri" pitchFamily="34" charset="-120"/>
              </a:rPr>
              <a:t>Bettelheim exposed as fraud who lied about credentials and abused patients.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Recovered Memory Therapy (1980s–1990s)</a:t>
            </a:r>
            <a:endParaRPr lang="en-US" sz="2600" dirty="0"/>
          </a:p>
        </p:txBody>
      </p:sp>
      <p:sp>
        <p:nvSpPr>
          <p:cNvPr id="3" name="Shape 1"/>
          <p:cNvSpPr/>
          <p:nvPr/>
        </p:nvSpPr>
        <p:spPr>
          <a:xfrm>
            <a:off x="731520" y="1188720"/>
            <a:ext cx="3657600" cy="1463040"/>
          </a:xfrm>
          <a:prstGeom prst="rect">
            <a:avLst/>
          </a:prstGeom>
          <a:solidFill>
            <a:srgbClr val="1B2A4A"/>
          </a:solidFill>
          <a:ln/>
        </p:spPr>
      </p:sp>
      <p:sp>
        <p:nvSpPr>
          <p:cNvPr id="4" name="Text 2"/>
          <p:cNvSpPr/>
          <p:nvPr/>
        </p:nvSpPr>
        <p:spPr>
          <a:xfrm>
            <a:off x="731520" y="1234440"/>
            <a:ext cx="3657600" cy="731520"/>
          </a:xfrm>
          <a:prstGeom prst="rect">
            <a:avLst/>
          </a:prstGeom>
          <a:noFill/>
          <a:ln/>
        </p:spPr>
        <p:txBody>
          <a:bodyPr wrap="square" lIns="0" tIns="0" rIns="0" bIns="0" rtlCol="0" anchor="ctr"/>
          <a:lstStyle/>
          <a:p>
            <a:pPr algn="ctr" indent="0" marL="0">
              <a:buNone/>
            </a:pPr>
            <a:r>
              <a:rPr lang="en-US" sz="5200" b="1" dirty="0">
                <a:solidFill>
                  <a:srgbClr val="D97706"/>
                </a:solidFill>
                <a:latin typeface="Georgia" pitchFamily="34" charset="0"/>
                <a:ea typeface="Georgia" pitchFamily="34" charset="-122"/>
                <a:cs typeface="Georgia" pitchFamily="34" charset="-120"/>
              </a:rPr>
              <a:t>~1M</a:t>
            </a:r>
            <a:endParaRPr lang="en-US" sz="5200" dirty="0"/>
          </a:p>
        </p:txBody>
      </p:sp>
      <p:sp>
        <p:nvSpPr>
          <p:cNvPr id="5" name="Text 3"/>
          <p:cNvSpPr/>
          <p:nvPr/>
        </p:nvSpPr>
        <p:spPr>
          <a:xfrm>
            <a:off x="731520" y="2011680"/>
            <a:ext cx="3657600" cy="54864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patients convinced they had</a:t>
            </a:r>
            <a:endParaRPr lang="en-US" sz="1400" dirty="0"/>
          </a:p>
          <a:p>
            <a:pPr algn="ctr" indent="0" marL="0">
              <a:buNone/>
            </a:pPr>
            <a:r>
              <a:rPr lang="en-US" sz="1400" dirty="0">
                <a:solidFill>
                  <a:srgbClr val="94A3B8"/>
                </a:solidFill>
                <a:latin typeface="Calibri" pitchFamily="34" charset="0"/>
                <a:ea typeface="Calibri" pitchFamily="34" charset="-122"/>
                <a:cs typeface="Calibri" pitchFamily="34" charset="-120"/>
              </a:rPr>
              <a:t>repressed memories</a:t>
            </a:r>
            <a:endParaRPr lang="en-US" sz="1400" dirty="0"/>
          </a:p>
        </p:txBody>
      </p:sp>
      <p:sp>
        <p:nvSpPr>
          <p:cNvPr id="6" name="Shape 4"/>
          <p:cNvSpPr/>
          <p:nvPr/>
        </p:nvSpPr>
        <p:spPr>
          <a:xfrm>
            <a:off x="4754880" y="1188720"/>
            <a:ext cx="3657600" cy="1463040"/>
          </a:xfrm>
          <a:prstGeom prst="rect">
            <a:avLst/>
          </a:prstGeom>
          <a:solidFill>
            <a:srgbClr val="1B2A4A"/>
          </a:solidFill>
          <a:ln/>
        </p:spPr>
      </p:sp>
      <p:sp>
        <p:nvSpPr>
          <p:cNvPr id="7" name="Text 5"/>
          <p:cNvSpPr/>
          <p:nvPr/>
        </p:nvSpPr>
        <p:spPr>
          <a:xfrm>
            <a:off x="4754880" y="1234440"/>
            <a:ext cx="3657600" cy="731520"/>
          </a:xfrm>
          <a:prstGeom prst="rect">
            <a:avLst/>
          </a:prstGeom>
          <a:noFill/>
          <a:ln/>
        </p:spPr>
        <p:txBody>
          <a:bodyPr wrap="square" lIns="0" tIns="0" rIns="0" bIns="0" rtlCol="0" anchor="ctr"/>
          <a:lstStyle/>
          <a:p>
            <a:pPr algn="ctr" indent="0" marL="0">
              <a:buNone/>
            </a:pPr>
            <a:r>
              <a:rPr lang="en-US" sz="5200" b="1" dirty="0">
                <a:solidFill>
                  <a:srgbClr val="D97706"/>
                </a:solidFill>
                <a:latin typeface="Georgia" pitchFamily="34" charset="0"/>
                <a:ea typeface="Georgia" pitchFamily="34" charset="-122"/>
                <a:cs typeface="Georgia" pitchFamily="34" charset="-120"/>
              </a:rPr>
              <a:t>10,000s</a:t>
            </a:r>
            <a:endParaRPr lang="en-US" sz="5200" dirty="0"/>
          </a:p>
        </p:txBody>
      </p:sp>
      <p:sp>
        <p:nvSpPr>
          <p:cNvPr id="8" name="Text 6"/>
          <p:cNvSpPr/>
          <p:nvPr/>
        </p:nvSpPr>
        <p:spPr>
          <a:xfrm>
            <a:off x="4754880" y="2011680"/>
            <a:ext cx="3657600" cy="45720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of families destroyed</a:t>
            </a:r>
            <a:endParaRPr lang="en-US" sz="1400" dirty="0"/>
          </a:p>
        </p:txBody>
      </p:sp>
      <p:sp>
        <p:nvSpPr>
          <p:cNvPr id="9" name="Text 7"/>
          <p:cNvSpPr/>
          <p:nvPr/>
        </p:nvSpPr>
        <p:spPr>
          <a:xfrm>
            <a:off x="731520" y="3017520"/>
            <a:ext cx="7680960" cy="640080"/>
          </a:xfrm>
          <a:prstGeom prst="rect">
            <a:avLst/>
          </a:prstGeom>
          <a:noFill/>
          <a:ln/>
        </p:spPr>
        <p:txBody>
          <a:bodyPr wrap="square" lIns="0" tIns="0" rIns="0" bIns="0" rtlCol="0" anchor="ctr"/>
          <a:lstStyle/>
          <a:p>
            <a:pPr indent="0" marL="0">
              <a:lnSpc>
                <a:spcPct val="140000"/>
              </a:lnSpc>
              <a:buNone/>
            </a:pPr>
            <a:r>
              <a:rPr lang="en-US" sz="1500" dirty="0">
                <a:solidFill>
                  <a:srgbClr val="94A3B8"/>
                </a:solidFill>
                <a:latin typeface="Calibri" pitchFamily="34" charset="0"/>
                <a:ea typeface="Calibri" pitchFamily="34" charset="-122"/>
                <a:cs typeface="Calibri" pitchFamily="34" charset="-120"/>
              </a:rPr>
              <a:t>People imprisoned on false accusations.</a:t>
            </a:r>
            <a:endParaRPr lang="en-US" sz="1500" dirty="0"/>
          </a:p>
          <a:p>
            <a:pPr indent="0" marL="0">
              <a:lnSpc>
                <a:spcPct val="140000"/>
              </a:lnSpc>
              <a:buNone/>
            </a:pPr>
            <a:r>
              <a:rPr lang="en-US" sz="1500" dirty="0">
                <a:solidFill>
                  <a:srgbClr val="94A3B8"/>
                </a:solidFill>
                <a:latin typeface="Calibri" pitchFamily="34" charset="0"/>
                <a:ea typeface="Calibri" pitchFamily="34" charset="-122"/>
                <a:cs typeface="Calibri" pitchFamily="34" charset="-120"/>
              </a:rPr>
              <a:t>FBI found zero evidence of satanic abuse.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Satanic Panic &amp; MPD Epidemic</a:t>
            </a:r>
            <a:endParaRPr lang="en-US" sz="2800" dirty="0"/>
          </a:p>
        </p:txBody>
      </p:sp>
      <p:sp>
        <p:nvSpPr>
          <p:cNvPr id="3" name="Shape 1"/>
          <p:cNvSpPr/>
          <p:nvPr/>
        </p:nvSpPr>
        <p:spPr>
          <a:xfrm>
            <a:off x="731520" y="1188720"/>
            <a:ext cx="3657600" cy="2286000"/>
          </a:xfrm>
          <a:prstGeom prst="rect">
            <a:avLst/>
          </a:prstGeom>
          <a:solidFill>
            <a:srgbClr val="1B2A4A"/>
          </a:solidFill>
          <a:ln/>
        </p:spPr>
      </p:sp>
      <p:sp>
        <p:nvSpPr>
          <p:cNvPr id="4" name="Text 2"/>
          <p:cNvSpPr/>
          <p:nvPr/>
        </p:nvSpPr>
        <p:spPr>
          <a:xfrm>
            <a:off x="731520" y="1234440"/>
            <a:ext cx="3657600" cy="36576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Satanic Panic</a:t>
            </a:r>
            <a:endParaRPr lang="en-US" sz="1800" dirty="0"/>
          </a:p>
        </p:txBody>
      </p:sp>
      <p:sp>
        <p:nvSpPr>
          <p:cNvPr id="5" name="Text 3"/>
          <p:cNvSpPr/>
          <p:nvPr/>
        </p:nvSpPr>
        <p:spPr>
          <a:xfrm>
            <a:off x="731520" y="1645920"/>
            <a:ext cx="3657600" cy="640080"/>
          </a:xfrm>
          <a:prstGeom prst="rect">
            <a:avLst/>
          </a:prstGeom>
          <a:noFill/>
          <a:ln/>
        </p:spPr>
        <p:txBody>
          <a:bodyPr wrap="square" lIns="0" tIns="0" rIns="0" bIns="0" rtlCol="0" anchor="ctr"/>
          <a:lstStyle/>
          <a:p>
            <a:pPr algn="ctr" indent="0" marL="0">
              <a:buNone/>
            </a:pPr>
            <a:r>
              <a:rPr lang="en-US" sz="4400" b="1" dirty="0">
                <a:solidFill>
                  <a:srgbClr val="D97706"/>
                </a:solidFill>
                <a:latin typeface="Georgia" pitchFamily="34" charset="0"/>
                <a:ea typeface="Georgia" pitchFamily="34" charset="-122"/>
                <a:cs typeface="Georgia" pitchFamily="34" charset="-120"/>
              </a:rPr>
              <a:t>12,000+</a:t>
            </a:r>
            <a:endParaRPr lang="en-US" sz="4400" dirty="0"/>
          </a:p>
        </p:txBody>
      </p:sp>
      <p:sp>
        <p:nvSpPr>
          <p:cNvPr id="6" name="Text 4"/>
          <p:cNvSpPr/>
          <p:nvPr/>
        </p:nvSpPr>
        <p:spPr>
          <a:xfrm>
            <a:off x="731520" y="2286000"/>
            <a:ext cx="3657600" cy="32004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cases alleged</a:t>
            </a:r>
            <a:endParaRPr lang="en-US" sz="1400" dirty="0"/>
          </a:p>
        </p:txBody>
      </p:sp>
      <p:sp>
        <p:nvSpPr>
          <p:cNvPr id="7" name="Text 5"/>
          <p:cNvSpPr/>
          <p:nvPr/>
        </p:nvSpPr>
        <p:spPr>
          <a:xfrm>
            <a:off x="1005840" y="2743200"/>
            <a:ext cx="3108960" cy="548640"/>
          </a:xfrm>
          <a:prstGeom prst="rect">
            <a:avLst/>
          </a:prstGeom>
          <a:noFill/>
          <a:ln/>
        </p:spPr>
        <p:txBody>
          <a:bodyPr wrap="square" lIns="0" tIns="0" rIns="0" bIns="0" rtlCol="0" anchor="ctr"/>
          <a:lstStyle/>
          <a:p>
            <a:pPr algn="ctr" indent="0" marL="0">
              <a:buNone/>
            </a:pPr>
            <a:r>
              <a:rPr lang="en-US" sz="1300" dirty="0">
                <a:solidFill>
                  <a:srgbClr val="94A3B8"/>
                </a:solidFill>
                <a:latin typeface="Calibri" pitchFamily="34" charset="0"/>
                <a:ea typeface="Calibri" pitchFamily="34" charset="-122"/>
                <a:cs typeface="Calibri" pitchFamily="34" charset="-120"/>
              </a:rPr>
              <a:t>McMartin: 7 years, $15M,</a:t>
            </a:r>
            <a:endParaRPr lang="en-US" sz="1300" dirty="0"/>
          </a:p>
          <a:p>
            <a:pPr algn="ctr" indent="0" marL="0">
              <a:buNone/>
            </a:pPr>
            <a:r>
              <a:rPr lang="en-US" sz="1300" dirty="0">
                <a:solidFill>
                  <a:srgbClr val="94A3B8"/>
                </a:solidFill>
                <a:latin typeface="Calibri" pitchFamily="34" charset="0"/>
                <a:ea typeface="Calibri" pitchFamily="34" charset="-122"/>
                <a:cs typeface="Calibri" pitchFamily="34" charset="-120"/>
              </a:rPr>
              <a:t>zero convictions.</a:t>
            </a:r>
            <a:endParaRPr lang="en-US" sz="1300" dirty="0"/>
          </a:p>
        </p:txBody>
      </p:sp>
      <p:sp>
        <p:nvSpPr>
          <p:cNvPr id="8" name="Shape 6"/>
          <p:cNvSpPr/>
          <p:nvPr/>
        </p:nvSpPr>
        <p:spPr>
          <a:xfrm>
            <a:off x="4754880" y="1188720"/>
            <a:ext cx="3657600" cy="2286000"/>
          </a:xfrm>
          <a:prstGeom prst="rect">
            <a:avLst/>
          </a:prstGeom>
          <a:solidFill>
            <a:srgbClr val="1B2A4A"/>
          </a:solidFill>
          <a:ln/>
        </p:spPr>
      </p:sp>
      <p:sp>
        <p:nvSpPr>
          <p:cNvPr id="9" name="Text 7"/>
          <p:cNvSpPr/>
          <p:nvPr/>
        </p:nvSpPr>
        <p:spPr>
          <a:xfrm>
            <a:off x="4754880" y="1234440"/>
            <a:ext cx="3657600" cy="365760"/>
          </a:xfrm>
          <a:prstGeom prst="rect">
            <a:avLst/>
          </a:prstGeom>
          <a:noFill/>
          <a:ln/>
        </p:spPr>
        <p:txBody>
          <a:bodyPr wrap="square" lIns="0" tIns="0" rIns="0" bIns="0" rtlCol="0" anchor="ctr"/>
          <a:lstStyle/>
          <a:p>
            <a:pPr algn="ctr" indent="0" marL="0">
              <a:buNone/>
            </a:pPr>
            <a:r>
              <a:rPr lang="en-US" sz="1800" b="1" dirty="0">
                <a:solidFill>
                  <a:srgbClr val="22D3EE"/>
                </a:solidFill>
                <a:latin typeface="Calibri" pitchFamily="34" charset="0"/>
                <a:ea typeface="Calibri" pitchFamily="34" charset="-122"/>
                <a:cs typeface="Calibri" pitchFamily="34" charset="-120"/>
              </a:rPr>
              <a:t>MPD/DID Epidemic</a:t>
            </a:r>
            <a:endParaRPr lang="en-US" sz="1800" dirty="0"/>
          </a:p>
        </p:txBody>
      </p:sp>
      <p:sp>
        <p:nvSpPr>
          <p:cNvPr id="10" name="Text 8"/>
          <p:cNvSpPr/>
          <p:nvPr/>
        </p:nvSpPr>
        <p:spPr>
          <a:xfrm>
            <a:off x="4754880" y="1645920"/>
            <a:ext cx="3657600" cy="640080"/>
          </a:xfrm>
          <a:prstGeom prst="rect">
            <a:avLst/>
          </a:prstGeom>
          <a:noFill/>
          <a:ln/>
        </p:spPr>
        <p:txBody>
          <a:bodyPr wrap="square" lIns="0" tIns="0" rIns="0" bIns="0" rtlCol="0" anchor="ctr"/>
          <a:lstStyle/>
          <a:p>
            <a:pPr algn="ctr" indent="0" marL="0">
              <a:buNone/>
            </a:pPr>
            <a:r>
              <a:rPr lang="en-US" sz="4400" b="1" dirty="0">
                <a:solidFill>
                  <a:srgbClr val="D97706"/>
                </a:solidFill>
                <a:latin typeface="Georgia" pitchFamily="34" charset="0"/>
                <a:ea typeface="Georgia" pitchFamily="34" charset="-122"/>
                <a:cs typeface="Georgia" pitchFamily="34" charset="-120"/>
              </a:rPr>
              <a:t>50,000</a:t>
            </a:r>
            <a:endParaRPr lang="en-US" sz="4400" dirty="0"/>
          </a:p>
        </p:txBody>
      </p:sp>
      <p:sp>
        <p:nvSpPr>
          <p:cNvPr id="11" name="Text 9"/>
          <p:cNvSpPr/>
          <p:nvPr/>
        </p:nvSpPr>
        <p:spPr>
          <a:xfrm>
            <a:off x="5029200" y="2286000"/>
            <a:ext cx="3108960" cy="32004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diagnoses vs. ~200 in all prior history</a:t>
            </a:r>
            <a:endParaRPr lang="en-US" sz="1400" dirty="0"/>
          </a:p>
        </p:txBody>
      </p:sp>
      <p:sp>
        <p:nvSpPr>
          <p:cNvPr id="12" name="Text 10"/>
          <p:cNvSpPr/>
          <p:nvPr/>
        </p:nvSpPr>
        <p:spPr>
          <a:xfrm>
            <a:off x="5029200" y="2743200"/>
            <a:ext cx="3108960" cy="548640"/>
          </a:xfrm>
          <a:prstGeom prst="rect">
            <a:avLst/>
          </a:prstGeom>
          <a:noFill/>
          <a:ln/>
        </p:spPr>
        <p:txBody>
          <a:bodyPr wrap="square" lIns="0" tIns="0" rIns="0" bIns="0" rtlCol="0" anchor="ctr"/>
          <a:lstStyle/>
          <a:p>
            <a:pPr algn="ctr" indent="0" marL="0">
              <a:buNone/>
            </a:pPr>
            <a:r>
              <a:rPr lang="en-US" sz="1300" dirty="0">
                <a:solidFill>
                  <a:srgbClr val="94A3B8"/>
                </a:solidFill>
                <a:latin typeface="Calibri" pitchFamily="34" charset="0"/>
                <a:ea typeface="Calibri" pitchFamily="34" charset="-122"/>
                <a:cs typeface="Calibri" pitchFamily="34" charset="-120"/>
              </a:rPr>
              <a:t>Largely iatrogenic — created</a:t>
            </a:r>
            <a:endParaRPr lang="en-US" sz="1300" dirty="0"/>
          </a:p>
          <a:p>
            <a:pPr algn="ctr" indent="0" marL="0">
              <a:buNone/>
            </a:pPr>
            <a:r>
              <a:rPr lang="en-US" sz="1300" dirty="0">
                <a:solidFill>
                  <a:srgbClr val="94A3B8"/>
                </a:solidFill>
                <a:latin typeface="Calibri" pitchFamily="34" charset="0"/>
                <a:ea typeface="Calibri" pitchFamily="34" charset="-122"/>
                <a:cs typeface="Calibri" pitchFamily="34" charset="-120"/>
              </a:rPr>
              <a:t>by the therapy itself.</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Common Pattern</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1371600" y="1188720"/>
          <a:ext cx="6400800" cy="914400"/>
        </p:xfrm>
        <a:graphic>
          <a:graphicData uri="http://schemas.openxmlformats.org/drawingml/2006/table">
            <a:tbl>
              <a:tblPr/>
              <a:tblGrid>
                <a:gridCol w="4572000"/>
                <a:gridCol w="182880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Element</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Present in All Cases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2A4A"/>
                    </a:solidFill>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 objective evidence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No way to test validity</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algn="ctr" indent="0" marL="0">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Emotion as the glue (fear, care, outrage)</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Spread through professionals</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algn="ctr" indent="0" marL="0">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r>
              <a:tr h="411480">
                <a:tc>
                  <a:txBody>
                    <a:bodyPr/>
                    <a:lstStyle/>
                    <a:p>
                      <a:pPr indent="0" marL="0">
                        <a:buNone/>
                      </a:pPr>
                      <a:r>
                        <a:rPr lang="en-US" sz="1400" dirty="0">
                          <a:solidFill>
                            <a:srgbClr val="1E293B"/>
                          </a:solidFill>
                          <a:latin typeface="Calibri" pitchFamily="34" charset="0"/>
                          <a:ea typeface="Calibri" pitchFamily="34" charset="-122"/>
                          <a:cs typeface="Calibri" pitchFamily="34" charset="-120"/>
                        </a:rPr>
                        <a:t>Ended in calamity</a:t>
                      </a:r>
                      <a:endParaRPr lang="en-US" sz="14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ctr" indent="0" marL="0">
                        <a:buNone/>
                      </a:pPr>
                      <a:r>
                        <a:rPr lang="en-US" sz="1600" b="1" dirty="0">
                          <a:solidFill>
                            <a:srgbClr val="0891B2"/>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886200" y="731520"/>
            <a:ext cx="1371600" cy="1371600"/>
          </a:xfrm>
          <a:prstGeom prst="rect">
            <a:avLst/>
          </a:prstGeom>
        </p:spPr>
      </p:pic>
      <p:sp>
        <p:nvSpPr>
          <p:cNvPr id="3" name="Text 0"/>
          <p:cNvSpPr/>
          <p:nvPr/>
        </p:nvSpPr>
        <p:spPr>
          <a:xfrm>
            <a:off x="731520" y="2194560"/>
            <a:ext cx="768096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What About Now?</a:t>
            </a:r>
            <a:endParaRPr lang="en-US" sz="3600" dirty="0"/>
          </a:p>
        </p:txBody>
      </p:sp>
      <p:sp>
        <p:nvSpPr>
          <p:cNvPr id="4" name="Text 1"/>
          <p:cNvSpPr/>
          <p:nvPr/>
        </p:nvSpPr>
        <p:spPr>
          <a:xfrm>
            <a:off x="1371600" y="3108960"/>
            <a:ext cx="6400800" cy="822960"/>
          </a:xfrm>
          <a:prstGeom prst="rect">
            <a:avLst/>
          </a:prstGeom>
          <a:noFill/>
          <a:ln/>
        </p:spPr>
        <p:txBody>
          <a:bodyPr wrap="square" lIns="0" tIns="0" rIns="0" bIns="0" rtlCol="0" anchor="ctr"/>
          <a:lstStyle/>
          <a:p>
            <a:pPr algn="ctr" indent="0" marL="0">
              <a:lnSpc>
                <a:spcPct val="140000"/>
              </a:lnSpc>
              <a:buNone/>
            </a:pPr>
            <a:r>
              <a:rPr lang="en-US" sz="1700" dirty="0">
                <a:solidFill>
                  <a:srgbClr val="22D3EE"/>
                </a:solidFill>
                <a:latin typeface="Calibri" pitchFamily="34" charset="0"/>
                <a:ea typeface="Calibri" pitchFamily="34" charset="-122"/>
                <a:cs typeface="Calibri" pitchFamily="34" charset="-120"/>
              </a:rPr>
              <a:t>What social contagions might be happening right now?</a:t>
            </a:r>
            <a:endParaRPr lang="en-US" sz="1700" dirty="0"/>
          </a:p>
          <a:p>
            <a:pPr algn="ctr" indent="0" marL="0">
              <a:lnSpc>
                <a:spcPct val="140000"/>
              </a:lnSpc>
              <a:buNone/>
            </a:pPr>
            <a:r>
              <a:rPr lang="en-US" sz="1700" dirty="0">
                <a:solidFill>
                  <a:srgbClr val="22D3EE"/>
                </a:solidFill>
                <a:latin typeface="Calibri" pitchFamily="34" charset="0"/>
                <a:ea typeface="Calibri" pitchFamily="34" charset="-122"/>
                <a:cs typeface="Calibri" pitchFamily="34" charset="-120"/>
              </a:rPr>
              <a:t>What topics feel off-limits to question?</a:t>
            </a:r>
            <a:endParaRPr lang="en-US" sz="1700" dirty="0"/>
          </a:p>
        </p:txBody>
      </p:sp>
      <p:sp>
        <p:nvSpPr>
          <p:cNvPr id="5" name="Text 2"/>
          <p:cNvSpPr/>
          <p:nvPr/>
        </p:nvSpPr>
        <p:spPr>
          <a:xfrm>
            <a:off x="914400" y="4023360"/>
            <a:ext cx="7315200" cy="731520"/>
          </a:xfrm>
          <a:prstGeom prst="rect">
            <a:avLst/>
          </a:prstGeom>
          <a:noFill/>
          <a:ln/>
        </p:spPr>
        <p:txBody>
          <a:bodyPr wrap="square" lIns="0" tIns="0" rIns="0" bIns="0" rtlCol="0" anchor="ctr"/>
          <a:lstStyle/>
          <a:p>
            <a:pPr algn="ctr" indent="0" marL="0">
              <a:lnSpc>
                <a:spcPct val="140000"/>
              </a:lnSpc>
              <a:buNone/>
            </a:pPr>
            <a:r>
              <a:rPr lang="en-US" sz="1400" dirty="0">
                <a:solidFill>
                  <a:srgbClr val="94A3B8"/>
                </a:solidFill>
                <a:latin typeface="Calibri" pitchFamily="34" charset="0"/>
                <a:ea typeface="Calibri" pitchFamily="34" charset="-122"/>
                <a:cs typeface="Calibri" pitchFamily="34" charset="-120"/>
              </a:rPr>
              <a:t>These forces are real. They serve a function — likely a biological function.</a:t>
            </a:r>
            <a:endParaRPr lang="en-US" sz="1400" dirty="0"/>
          </a:p>
          <a:p>
            <a:pPr algn="ctr" indent="0" marL="0">
              <a:lnSpc>
                <a:spcPct val="140000"/>
              </a:lnSpc>
              <a:buNone/>
            </a:pPr>
            <a:r>
              <a:rPr lang="en-US" sz="1400" dirty="0">
                <a:solidFill>
                  <a:srgbClr val="94A3B8"/>
                </a:solidFill>
                <a:latin typeface="Calibri" pitchFamily="34" charset="0"/>
                <a:ea typeface="Calibri" pitchFamily="34" charset="-122"/>
                <a:cs typeface="Calibri" pitchFamily="34" charset="-120"/>
              </a:rPr>
              <a:t>The question is whether we can recognize them.</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IV</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05840"/>
            <a:ext cx="5486400" cy="1188720"/>
          </a:xfrm>
          <a:prstGeom prst="rect">
            <a:avLst/>
          </a:prstGeom>
          <a:noFill/>
          <a:ln/>
        </p:spPr>
        <p:txBody>
          <a:bodyPr wrap="square" lIns="0" tIns="0" rIns="0" bIns="0" rtlCol="0" anchor="ctr"/>
          <a:lstStyle/>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Why This Keeps</a:t>
            </a:r>
            <a:endParaRPr lang="en-US" sz="3600" dirty="0"/>
          </a:p>
          <a:p>
            <a:pPr indent="0" marL="0">
              <a:lnSpc>
                <a:spcPct val="110000"/>
              </a:lnSpc>
              <a:buNone/>
            </a:pPr>
            <a:r>
              <a:rPr lang="en-US" sz="3600" b="1" dirty="0">
                <a:solidFill>
                  <a:srgbClr val="FFFFFF"/>
                </a:solidFill>
                <a:latin typeface="Georgia" pitchFamily="34" charset="0"/>
                <a:ea typeface="Georgia" pitchFamily="34" charset="-122"/>
                <a:cs typeface="Georgia" pitchFamily="34" charset="-120"/>
              </a:rPr>
              <a:t>Happening</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12 minutes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400" b="1" dirty="0">
                <a:solidFill>
                  <a:srgbClr val="1E293B"/>
                </a:solidFill>
                <a:latin typeface="Georgia" pitchFamily="34" charset="0"/>
                <a:ea typeface="Georgia" pitchFamily="34" charset="-122"/>
                <a:cs typeface="Georgia" pitchFamily="34" charset="-120"/>
              </a:rPr>
              <a:t>Anxiety = Perceived Uncertainty + Urgency</a:t>
            </a:r>
            <a:endParaRPr lang="en-US" sz="2400" dirty="0"/>
          </a:p>
        </p:txBody>
      </p:sp>
      <p:sp>
        <p:nvSpPr>
          <p:cNvPr id="3" name="Shape 1"/>
          <p:cNvSpPr/>
          <p:nvPr/>
        </p:nvSpPr>
        <p:spPr>
          <a:xfrm>
            <a:off x="731520" y="1280160"/>
            <a:ext cx="2560320" cy="10972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280160"/>
            <a:ext cx="2560320" cy="54864"/>
          </a:xfrm>
          <a:prstGeom prst="rect">
            <a:avLst/>
          </a:prstGeom>
          <a:solidFill>
            <a:srgbClr val="D97706"/>
          </a:solidFill>
          <a:ln/>
        </p:spPr>
      </p:sp>
      <p:sp>
        <p:nvSpPr>
          <p:cNvPr id="5" name="Text 3"/>
          <p:cNvSpPr/>
          <p:nvPr/>
        </p:nvSpPr>
        <p:spPr>
          <a:xfrm>
            <a:off x="731520" y="1417320"/>
            <a:ext cx="2560320" cy="457200"/>
          </a:xfrm>
          <a:prstGeom prst="rect">
            <a:avLst/>
          </a:prstGeom>
          <a:noFill/>
          <a:ln/>
        </p:spPr>
        <p:txBody>
          <a:bodyPr wrap="square" lIns="0" tIns="0" rIns="0" bIns="0" rtlCol="0" anchor="ctr"/>
          <a:lstStyle/>
          <a:p>
            <a:pPr algn="ctr" indent="0" marL="0">
              <a:buNone/>
            </a:pPr>
            <a:r>
              <a:rPr lang="en-US" sz="2000" b="1" dirty="0">
                <a:solidFill>
                  <a:srgbClr val="1E293B"/>
                </a:solidFill>
                <a:latin typeface="Calibri" pitchFamily="34" charset="0"/>
                <a:ea typeface="Calibri" pitchFamily="34" charset="-122"/>
                <a:cs typeface="Calibri" pitchFamily="34" charset="-120"/>
              </a:rPr>
              <a:t>Uncertainty</a:t>
            </a:r>
            <a:endParaRPr lang="en-US" sz="2000" dirty="0"/>
          </a:p>
        </p:txBody>
      </p:sp>
      <p:sp>
        <p:nvSpPr>
          <p:cNvPr id="6" name="Text 4"/>
          <p:cNvSpPr/>
          <p:nvPr/>
        </p:nvSpPr>
        <p:spPr>
          <a:xfrm>
            <a:off x="731520" y="1874520"/>
            <a:ext cx="2560320" cy="457200"/>
          </a:xfrm>
          <a:prstGeom prst="rect">
            <a:avLst/>
          </a:prstGeom>
          <a:noFill/>
          <a:ln/>
        </p:spPr>
        <p:txBody>
          <a:bodyPr wrap="square" lIns="0" tIns="0" rIns="0" bIns="0"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Something in the environment</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creates this perception</a:t>
            </a:r>
            <a:endParaRPr lang="en-US" sz="1100" dirty="0"/>
          </a:p>
        </p:txBody>
      </p:sp>
      <p:sp>
        <p:nvSpPr>
          <p:cNvPr id="7" name="Text 5"/>
          <p:cNvSpPr/>
          <p:nvPr/>
        </p:nvSpPr>
        <p:spPr>
          <a:xfrm>
            <a:off x="3291840" y="1371600"/>
            <a:ext cx="548640" cy="914400"/>
          </a:xfrm>
          <a:prstGeom prst="rect">
            <a:avLst/>
          </a:prstGeom>
          <a:noFill/>
          <a:ln/>
        </p:spPr>
        <p:txBody>
          <a:bodyPr wrap="square" lIns="0" tIns="0" rIns="0" bIns="0" rtlCol="0" anchor="ctr"/>
          <a:lstStyle/>
          <a:p>
            <a:pPr algn="ctr" indent="0" marL="0">
              <a:buNone/>
            </a:pPr>
            <a:r>
              <a:rPr lang="en-US" sz="3600" b="1" dirty="0">
                <a:solidFill>
                  <a:srgbClr val="0891B2"/>
                </a:solidFill>
                <a:latin typeface="Georgia" pitchFamily="34" charset="0"/>
                <a:ea typeface="Georgia" pitchFamily="34" charset="-122"/>
                <a:cs typeface="Georgia" pitchFamily="34" charset="-120"/>
              </a:rPr>
              <a:t>+</a:t>
            </a:r>
            <a:endParaRPr lang="en-US" sz="3600" dirty="0"/>
          </a:p>
        </p:txBody>
      </p:sp>
      <p:sp>
        <p:nvSpPr>
          <p:cNvPr id="8" name="Shape 6"/>
          <p:cNvSpPr/>
          <p:nvPr/>
        </p:nvSpPr>
        <p:spPr>
          <a:xfrm>
            <a:off x="3840480" y="1280160"/>
            <a:ext cx="2560320" cy="109728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7"/>
          <p:cNvSpPr/>
          <p:nvPr/>
        </p:nvSpPr>
        <p:spPr>
          <a:xfrm>
            <a:off x="3840480" y="1280160"/>
            <a:ext cx="2560320" cy="54864"/>
          </a:xfrm>
          <a:prstGeom prst="rect">
            <a:avLst/>
          </a:prstGeom>
          <a:solidFill>
            <a:srgbClr val="D97706"/>
          </a:solidFill>
          <a:ln/>
        </p:spPr>
      </p:sp>
      <p:sp>
        <p:nvSpPr>
          <p:cNvPr id="10" name="Text 8"/>
          <p:cNvSpPr/>
          <p:nvPr/>
        </p:nvSpPr>
        <p:spPr>
          <a:xfrm>
            <a:off x="3840480" y="1417320"/>
            <a:ext cx="2560320" cy="457200"/>
          </a:xfrm>
          <a:prstGeom prst="rect">
            <a:avLst/>
          </a:prstGeom>
          <a:noFill/>
          <a:ln/>
        </p:spPr>
        <p:txBody>
          <a:bodyPr wrap="square" lIns="0" tIns="0" rIns="0" bIns="0" rtlCol="0" anchor="ctr"/>
          <a:lstStyle/>
          <a:p>
            <a:pPr algn="ctr" indent="0" marL="0">
              <a:buNone/>
            </a:pPr>
            <a:r>
              <a:rPr lang="en-US" sz="2000" b="1" dirty="0">
                <a:solidFill>
                  <a:srgbClr val="1E293B"/>
                </a:solidFill>
                <a:latin typeface="Calibri" pitchFamily="34" charset="0"/>
                <a:ea typeface="Calibri" pitchFamily="34" charset="-122"/>
                <a:cs typeface="Calibri" pitchFamily="34" charset="-120"/>
              </a:rPr>
              <a:t>Urgency</a:t>
            </a:r>
            <a:endParaRPr lang="en-US" sz="2000" dirty="0"/>
          </a:p>
        </p:txBody>
      </p:sp>
      <p:sp>
        <p:nvSpPr>
          <p:cNvPr id="11" name="Text 9"/>
          <p:cNvSpPr/>
          <p:nvPr/>
        </p:nvSpPr>
        <p:spPr>
          <a:xfrm>
            <a:off x="3840480" y="1874520"/>
            <a:ext cx="2560320" cy="457200"/>
          </a:xfrm>
          <a:prstGeom prst="rect">
            <a:avLst/>
          </a:prstGeom>
          <a:noFill/>
          <a:ln/>
        </p:spPr>
        <p:txBody>
          <a:bodyPr wrap="square" lIns="0" tIns="0" rIns="0" bIns="0"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Must act now, can't wait</a:t>
            </a:r>
            <a:endParaRPr lang="en-US" sz="1100" dirty="0"/>
          </a:p>
          <a:p>
            <a:pPr algn="ctr" indent="0" marL="0">
              <a:buNone/>
            </a:pPr>
            <a:r>
              <a:rPr lang="en-US" sz="1100" dirty="0">
                <a:solidFill>
                  <a:srgbClr val="475569"/>
                </a:solidFill>
                <a:latin typeface="Calibri" pitchFamily="34" charset="0"/>
                <a:ea typeface="Calibri" pitchFamily="34" charset="-122"/>
                <a:cs typeface="Calibri" pitchFamily="34" charset="-120"/>
              </a:rPr>
              <a:t>for more information</a:t>
            </a:r>
            <a:endParaRPr lang="en-US" sz="1100" dirty="0"/>
          </a:p>
        </p:txBody>
      </p:sp>
      <p:sp>
        <p:nvSpPr>
          <p:cNvPr id="12" name="Text 10"/>
          <p:cNvSpPr/>
          <p:nvPr/>
        </p:nvSpPr>
        <p:spPr>
          <a:xfrm>
            <a:off x="6400800" y="1371600"/>
            <a:ext cx="548640" cy="914400"/>
          </a:xfrm>
          <a:prstGeom prst="rect">
            <a:avLst/>
          </a:prstGeom>
          <a:noFill/>
          <a:ln/>
        </p:spPr>
        <p:txBody>
          <a:bodyPr wrap="square" lIns="0" tIns="0" rIns="0" bIns="0" rtlCol="0" anchor="ctr"/>
          <a:lstStyle/>
          <a:p>
            <a:pPr algn="ctr" indent="0" marL="0">
              <a:buNone/>
            </a:pPr>
            <a:r>
              <a:rPr lang="en-US" sz="3600" b="1" dirty="0">
                <a:solidFill>
                  <a:srgbClr val="0891B2"/>
                </a:solidFill>
                <a:latin typeface="Georgia" pitchFamily="34" charset="0"/>
                <a:ea typeface="Georgia" pitchFamily="34" charset="-122"/>
                <a:cs typeface="Georgia" pitchFamily="34" charset="-120"/>
              </a:rPr>
              <a:t>=</a:t>
            </a:r>
            <a:endParaRPr lang="en-US" sz="3600" dirty="0"/>
          </a:p>
        </p:txBody>
      </p:sp>
      <p:sp>
        <p:nvSpPr>
          <p:cNvPr id="13" name="Shape 11"/>
          <p:cNvSpPr/>
          <p:nvPr/>
        </p:nvSpPr>
        <p:spPr>
          <a:xfrm>
            <a:off x="6949440" y="1280160"/>
            <a:ext cx="1463040" cy="1097280"/>
          </a:xfrm>
          <a:prstGeom prst="rect">
            <a:avLst/>
          </a:prstGeom>
          <a:solidFill>
            <a:srgbClr val="0891B2"/>
          </a:solidFill>
          <a:ln/>
        </p:spPr>
      </p:sp>
      <p:sp>
        <p:nvSpPr>
          <p:cNvPr id="14" name="Text 12"/>
          <p:cNvSpPr/>
          <p:nvPr/>
        </p:nvSpPr>
        <p:spPr>
          <a:xfrm>
            <a:off x="6949440" y="1417320"/>
            <a:ext cx="14630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Anxiety</a:t>
            </a:r>
            <a:endParaRPr lang="en-US" sz="2000" dirty="0"/>
          </a:p>
        </p:txBody>
      </p:sp>
      <p:sp>
        <p:nvSpPr>
          <p:cNvPr id="15" name="Text 13"/>
          <p:cNvSpPr/>
          <p:nvPr/>
        </p:nvSpPr>
        <p:spPr>
          <a:xfrm>
            <a:off x="6949440" y="1874520"/>
            <a:ext cx="1463040" cy="457200"/>
          </a:xfrm>
          <a:prstGeom prst="rect">
            <a:avLst/>
          </a:prstGeom>
          <a:noFill/>
          <a:ln/>
        </p:spPr>
        <p:txBody>
          <a:bodyPr wrap="square" lIns="0" tIns="0" rIns="0" bIns="0" rtlCol="0" anchor="ctr"/>
          <a:lstStyle/>
          <a:p>
            <a:pPr algn="ctr" indent="0" marL="0">
              <a:buNone/>
            </a:pPr>
            <a:r>
              <a:rPr lang="en-US" sz="1100" dirty="0">
                <a:solidFill>
                  <a:srgbClr val="22D3EE"/>
                </a:solidFill>
                <a:latin typeface="Calibri" pitchFamily="34" charset="0"/>
                <a:ea typeface="Calibri" pitchFamily="34" charset="-122"/>
                <a:cs typeface="Calibri" pitchFamily="34" charset="-120"/>
              </a:rPr>
              <a:t>Search for</a:t>
            </a:r>
            <a:endParaRPr lang="en-US" sz="1100" dirty="0"/>
          </a:p>
          <a:p>
            <a:pPr algn="ctr" indent="0" marL="0">
              <a:buNone/>
            </a:pPr>
            <a:r>
              <a:rPr lang="en-US" sz="1100" dirty="0">
                <a:solidFill>
                  <a:srgbClr val="22D3EE"/>
                </a:solidFill>
                <a:latin typeface="Calibri" pitchFamily="34" charset="0"/>
                <a:ea typeface="Calibri" pitchFamily="34" charset="-122"/>
                <a:cs typeface="Calibri" pitchFamily="34" charset="-120"/>
              </a:rPr>
              <a:t>relief begins</a:t>
            </a:r>
            <a:endParaRPr lang="en-US" sz="1100" dirty="0"/>
          </a:p>
        </p:txBody>
      </p:sp>
      <p:sp>
        <p:nvSpPr>
          <p:cNvPr id="16" name="Text 14"/>
          <p:cNvSpPr/>
          <p:nvPr/>
        </p:nvSpPr>
        <p:spPr>
          <a:xfrm>
            <a:off x="731520" y="2651760"/>
            <a:ext cx="7680960" cy="45720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The ideology provides psychological relief:</a:t>
            </a:r>
            <a:endParaRPr lang="en-US" sz="1600" dirty="0"/>
          </a:p>
        </p:txBody>
      </p:sp>
      <p:sp>
        <p:nvSpPr>
          <p:cNvPr id="17" name="Shape 15"/>
          <p:cNvSpPr/>
          <p:nvPr/>
        </p:nvSpPr>
        <p:spPr>
          <a:xfrm>
            <a:off x="731520" y="3108960"/>
            <a:ext cx="3657600" cy="7315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8" name="Shape 16"/>
          <p:cNvSpPr/>
          <p:nvPr/>
        </p:nvSpPr>
        <p:spPr>
          <a:xfrm>
            <a:off x="731520" y="3108960"/>
            <a:ext cx="54864" cy="731520"/>
          </a:xfrm>
          <a:prstGeom prst="rect">
            <a:avLst/>
          </a:prstGeom>
          <a:solidFill>
            <a:srgbClr val="D97706"/>
          </a:solidFill>
          <a:ln/>
        </p:spPr>
      </p:sp>
      <p:sp>
        <p:nvSpPr>
          <p:cNvPr id="19" name="Text 17"/>
          <p:cNvSpPr/>
          <p:nvPr/>
        </p:nvSpPr>
        <p:spPr>
          <a:xfrm>
            <a:off x="1005840" y="3108960"/>
            <a:ext cx="3108960" cy="73152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Untestable </a:t>
            </a:r>
            <a:pPr indent="0" marL="0">
              <a:buNone/>
            </a:pPr>
            <a:r>
              <a:rPr lang="en-US" sz="1400" dirty="0">
                <a:solidFill>
                  <a:srgbClr val="475569"/>
                </a:solidFill>
                <a:latin typeface="Calibri" pitchFamily="34" charset="0"/>
                <a:ea typeface="Calibri" pitchFamily="34" charset="-122"/>
                <a:cs typeface="Calibri" pitchFamily="34" charset="-120"/>
              </a:rPr>
              <a:t>— can't prove it wrong</a:t>
            </a:r>
            <a:endParaRPr lang="en-US" sz="1400" dirty="0"/>
          </a:p>
        </p:txBody>
      </p:sp>
      <p:sp>
        <p:nvSpPr>
          <p:cNvPr id="20" name="Shape 18"/>
          <p:cNvSpPr/>
          <p:nvPr/>
        </p:nvSpPr>
        <p:spPr>
          <a:xfrm>
            <a:off x="4754880" y="3108960"/>
            <a:ext cx="3657600" cy="7315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21" name="Shape 19"/>
          <p:cNvSpPr/>
          <p:nvPr/>
        </p:nvSpPr>
        <p:spPr>
          <a:xfrm>
            <a:off x="4754880" y="3108960"/>
            <a:ext cx="54864" cy="731520"/>
          </a:xfrm>
          <a:prstGeom prst="rect">
            <a:avLst/>
          </a:prstGeom>
          <a:solidFill>
            <a:srgbClr val="D97706"/>
          </a:solidFill>
          <a:ln/>
        </p:spPr>
      </p:sp>
      <p:sp>
        <p:nvSpPr>
          <p:cNvPr id="22" name="Text 20"/>
          <p:cNvSpPr/>
          <p:nvPr/>
        </p:nvSpPr>
        <p:spPr>
          <a:xfrm>
            <a:off x="5029200" y="3108960"/>
            <a:ext cx="3108960" cy="73152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Simple </a:t>
            </a:r>
            <a:pPr indent="0" marL="0">
              <a:buNone/>
            </a:pPr>
            <a:r>
              <a:rPr lang="en-US" sz="1400" dirty="0">
                <a:solidFill>
                  <a:srgbClr val="475569"/>
                </a:solidFill>
                <a:latin typeface="Calibri" pitchFamily="34" charset="0"/>
                <a:ea typeface="Calibri" pitchFamily="34" charset="-122"/>
                <a:cs typeface="Calibri" pitchFamily="34" charset="-120"/>
              </a:rPr>
              <a:t>— but oversimplified</a:t>
            </a:r>
            <a:endParaRPr lang="en-US" sz="1400" dirty="0"/>
          </a:p>
        </p:txBody>
      </p:sp>
      <p:sp>
        <p:nvSpPr>
          <p:cNvPr id="23" name="Text 21"/>
          <p:cNvSpPr/>
          <p:nvPr/>
        </p:nvSpPr>
        <p:spPr>
          <a:xfrm>
            <a:off x="731520" y="411480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Believers feel better. That's why it spreads.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600" b="1" dirty="0">
                <a:solidFill>
                  <a:srgbClr val="1E293B"/>
                </a:solidFill>
                <a:latin typeface="Georgia" pitchFamily="34" charset="0"/>
                <a:ea typeface="Georgia" pitchFamily="34" charset="-122"/>
                <a:cs typeface="Georgia" pitchFamily="34" charset="-120"/>
              </a:rPr>
              <a:t>Cambridge-Somerville Youth Study</a:t>
            </a:r>
            <a:endParaRPr lang="en-US" sz="2600" dirty="0"/>
          </a:p>
        </p:txBody>
      </p:sp>
      <p:sp>
        <p:nvSpPr>
          <p:cNvPr id="3" name="Text 1"/>
          <p:cNvSpPr/>
          <p:nvPr/>
        </p:nvSpPr>
        <p:spPr>
          <a:xfrm>
            <a:off x="731520" y="914400"/>
            <a:ext cx="768096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506 boys. Matched pairs. Random assignment. 30-year follow-up.</a:t>
            </a:r>
            <a:endParaRPr lang="en-US" sz="1400" dirty="0"/>
          </a:p>
        </p:txBody>
      </p:sp>
      <p:sp>
        <p:nvSpPr>
          <p:cNvPr id="4" name="Text 2"/>
          <p:cNvSpPr/>
          <p:nvPr/>
        </p:nvSpPr>
        <p:spPr>
          <a:xfrm>
            <a:off x="731520" y="1371600"/>
            <a:ext cx="7680960" cy="32004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Treatment group received:</a:t>
            </a:r>
            <a:endParaRPr lang="en-US" sz="1400" dirty="0"/>
          </a:p>
        </p:txBody>
      </p:sp>
      <p:sp>
        <p:nvSpPr>
          <p:cNvPr id="5" name="Text 3"/>
          <p:cNvSpPr/>
          <p:nvPr/>
        </p:nvSpPr>
        <p:spPr>
          <a:xfrm>
            <a:off x="731520" y="1691640"/>
            <a:ext cx="7680960" cy="32004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Counseling, mentorship, summer camp, caring adults.</a:t>
            </a:r>
            <a:endParaRPr lang="en-US" sz="1400" dirty="0"/>
          </a:p>
        </p:txBody>
      </p:sp>
      <p:sp>
        <p:nvSpPr>
          <p:cNvPr id="6" name="Text 4"/>
          <p:cNvSpPr/>
          <p:nvPr/>
        </p:nvSpPr>
        <p:spPr>
          <a:xfrm>
            <a:off x="731520" y="2103120"/>
            <a:ext cx="7680960" cy="320040"/>
          </a:xfrm>
          <a:prstGeom prst="rect">
            <a:avLst/>
          </a:prstGeom>
          <a:noFill/>
          <a:ln/>
        </p:spPr>
        <p:txBody>
          <a:bodyPr wrap="square" lIns="0" tIns="0" rIns="0" bIns="0" rtlCol="0" anchor="ctr"/>
          <a:lstStyle/>
          <a:p>
            <a:pPr indent="0" marL="0">
              <a:buNone/>
            </a:pPr>
            <a:r>
              <a:rPr lang="en-US" sz="1400" b="1" dirty="0">
                <a:solidFill>
                  <a:srgbClr val="DC2626"/>
                </a:solidFill>
                <a:latin typeface="Calibri" pitchFamily="34" charset="0"/>
                <a:ea typeface="Calibri" pitchFamily="34" charset="-122"/>
                <a:cs typeface="Calibri" pitchFamily="34" charset="-120"/>
              </a:rPr>
              <a:t>Treatment group had:</a:t>
            </a:r>
            <a:endParaRPr lang="en-US" sz="1400" dirty="0"/>
          </a:p>
        </p:txBody>
      </p:sp>
      <p:sp>
        <p:nvSpPr>
          <p:cNvPr id="7" name="Shape 5"/>
          <p:cNvSpPr/>
          <p:nvPr/>
        </p:nvSpPr>
        <p:spPr>
          <a:xfrm>
            <a:off x="1097280" y="2514600"/>
            <a:ext cx="6949440" cy="274320"/>
          </a:xfrm>
          <a:prstGeom prst="rect">
            <a:avLst/>
          </a:prstGeom>
          <a:solidFill>
            <a:srgbClr val="F0F4F8"/>
          </a:solidFill>
          <a:ln/>
        </p:spPr>
      </p:sp>
      <p:sp>
        <p:nvSpPr>
          <p:cNvPr id="8" name="Text 6"/>
          <p:cNvSpPr/>
          <p:nvPr/>
        </p:nvSpPr>
        <p:spPr>
          <a:xfrm>
            <a:off x="1371600" y="2514600"/>
            <a:ext cx="6400800" cy="2743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More criminal offending (2+ crimes)</a:t>
            </a:r>
            <a:endParaRPr lang="en-US" sz="1400" dirty="0"/>
          </a:p>
        </p:txBody>
      </p:sp>
      <p:sp>
        <p:nvSpPr>
          <p:cNvPr id="9" name="Shape 7"/>
          <p:cNvSpPr/>
          <p:nvPr/>
        </p:nvSpPr>
        <p:spPr>
          <a:xfrm>
            <a:off x="1097280" y="2862072"/>
            <a:ext cx="6949440" cy="274320"/>
          </a:xfrm>
          <a:prstGeom prst="rect">
            <a:avLst/>
          </a:prstGeom>
          <a:solidFill>
            <a:srgbClr val="F8FAFC"/>
          </a:solidFill>
          <a:ln/>
        </p:spPr>
      </p:sp>
      <p:sp>
        <p:nvSpPr>
          <p:cNvPr id="10" name="Text 8"/>
          <p:cNvSpPr/>
          <p:nvPr/>
        </p:nvSpPr>
        <p:spPr>
          <a:xfrm>
            <a:off x="1371600" y="2862072"/>
            <a:ext cx="6400800" cy="2743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More alcohol abuse</a:t>
            </a:r>
            <a:endParaRPr lang="en-US" sz="1400" dirty="0"/>
          </a:p>
        </p:txBody>
      </p:sp>
      <p:sp>
        <p:nvSpPr>
          <p:cNvPr id="11" name="Shape 9"/>
          <p:cNvSpPr/>
          <p:nvPr/>
        </p:nvSpPr>
        <p:spPr>
          <a:xfrm>
            <a:off x="1097280" y="3209544"/>
            <a:ext cx="6949440" cy="274320"/>
          </a:xfrm>
          <a:prstGeom prst="rect">
            <a:avLst/>
          </a:prstGeom>
          <a:solidFill>
            <a:srgbClr val="F0F4F8"/>
          </a:solidFill>
          <a:ln/>
        </p:spPr>
      </p:sp>
      <p:sp>
        <p:nvSpPr>
          <p:cNvPr id="12" name="Text 10"/>
          <p:cNvSpPr/>
          <p:nvPr/>
        </p:nvSpPr>
        <p:spPr>
          <a:xfrm>
            <a:off x="1371600" y="3209544"/>
            <a:ext cx="6400800" cy="2743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More mental illness symptoms</a:t>
            </a:r>
            <a:endParaRPr lang="en-US" sz="1400" dirty="0"/>
          </a:p>
        </p:txBody>
      </p:sp>
      <p:sp>
        <p:nvSpPr>
          <p:cNvPr id="13" name="Shape 11"/>
          <p:cNvSpPr/>
          <p:nvPr/>
        </p:nvSpPr>
        <p:spPr>
          <a:xfrm>
            <a:off x="1097280" y="3557016"/>
            <a:ext cx="6949440" cy="274320"/>
          </a:xfrm>
          <a:prstGeom prst="rect">
            <a:avLst/>
          </a:prstGeom>
          <a:solidFill>
            <a:srgbClr val="F8FAFC"/>
          </a:solidFill>
          <a:ln/>
        </p:spPr>
      </p:sp>
      <p:sp>
        <p:nvSpPr>
          <p:cNvPr id="14" name="Text 12"/>
          <p:cNvSpPr/>
          <p:nvPr/>
        </p:nvSpPr>
        <p:spPr>
          <a:xfrm>
            <a:off x="1371600" y="3557016"/>
            <a:ext cx="6400800" cy="2743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Lower job satisfaction</a:t>
            </a:r>
            <a:endParaRPr lang="en-US" sz="1400" dirty="0"/>
          </a:p>
        </p:txBody>
      </p:sp>
      <p:sp>
        <p:nvSpPr>
          <p:cNvPr id="15" name="Shape 13"/>
          <p:cNvSpPr/>
          <p:nvPr/>
        </p:nvSpPr>
        <p:spPr>
          <a:xfrm>
            <a:off x="1097280" y="3904488"/>
            <a:ext cx="6949440" cy="274320"/>
          </a:xfrm>
          <a:prstGeom prst="rect">
            <a:avLst/>
          </a:prstGeom>
          <a:solidFill>
            <a:srgbClr val="F0F4F8"/>
          </a:solidFill>
          <a:ln/>
        </p:spPr>
      </p:sp>
      <p:sp>
        <p:nvSpPr>
          <p:cNvPr id="16" name="Text 14"/>
          <p:cNvSpPr/>
          <p:nvPr/>
        </p:nvSpPr>
        <p:spPr>
          <a:xfrm>
            <a:off x="1371600" y="3904488"/>
            <a:ext cx="6400800" cy="27432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Earlier death</a:t>
            </a:r>
            <a:endParaRPr lang="en-US" sz="1400" dirty="0"/>
          </a:p>
        </p:txBody>
      </p:sp>
      <p:sp>
        <p:nvSpPr>
          <p:cNvPr id="17" name="Shape 15"/>
          <p:cNvSpPr/>
          <p:nvPr/>
        </p:nvSpPr>
        <p:spPr>
          <a:xfrm>
            <a:off x="731520" y="4297680"/>
            <a:ext cx="7680960" cy="548640"/>
          </a:xfrm>
          <a:prstGeom prst="rect">
            <a:avLst/>
          </a:prstGeom>
          <a:solidFill>
            <a:srgbClr val="1B2A4A"/>
          </a:solidFill>
          <a:ln/>
        </p:spPr>
      </p:sp>
      <p:sp>
        <p:nvSpPr>
          <p:cNvPr id="18" name="Text 16"/>
          <p:cNvSpPr/>
          <p:nvPr/>
        </p:nvSpPr>
        <p:spPr>
          <a:xfrm>
            <a:off x="1005840" y="4297680"/>
            <a:ext cx="7132320" cy="548640"/>
          </a:xfrm>
          <a:prstGeom prst="rect">
            <a:avLst/>
          </a:prstGeom>
          <a:noFill/>
          <a:ln/>
        </p:spPr>
        <p:txBody>
          <a:bodyPr wrap="square" lIns="0" tIns="0" rIns="0" bIns="0" rtlCol="0" anchor="ctr"/>
          <a:lstStyle/>
          <a:p>
            <a:pPr indent="0" marL="0">
              <a:buNone/>
            </a:pPr>
            <a:r>
              <a:rPr lang="en-US" sz="1700" b="1" dirty="0">
                <a:solidFill>
                  <a:srgbClr val="22D3EE"/>
                </a:solidFill>
                <a:latin typeface="Georgia" pitchFamily="34" charset="0"/>
                <a:ea typeface="Georgia" pitchFamily="34" charset="-122"/>
                <a:cs typeface="Georgia" pitchFamily="34" charset="-120"/>
              </a:rPr>
              <a:t>Caring isn't enough. Without measurement, caring can hurt.</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7490"/>
        </a:solidFill>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V</a:t>
            </a:r>
            <a:endParaRPr lang="en-US" sz="4800" dirty="0"/>
          </a:p>
        </p:txBody>
      </p:sp>
      <p:sp>
        <p:nvSpPr>
          <p:cNvPr id="3" name="Shape 1"/>
          <p:cNvSpPr/>
          <p:nvPr/>
        </p:nvSpPr>
        <p:spPr>
          <a:xfrm>
            <a:off x="2011680" y="1371600"/>
            <a:ext cx="36576" cy="640080"/>
          </a:xfrm>
          <a:prstGeom prst="rect">
            <a:avLst/>
          </a:prstGeom>
          <a:solidFill>
            <a:srgbClr val="22D3EE"/>
          </a:solidFill>
          <a:ln/>
        </p:spPr>
      </p:sp>
      <p:sp>
        <p:nvSpPr>
          <p:cNvPr id="4" name="Text 2"/>
          <p:cNvSpPr/>
          <p:nvPr/>
        </p:nvSpPr>
        <p:spPr>
          <a:xfrm>
            <a:off x="2286000" y="1097280"/>
            <a:ext cx="5486400" cy="91440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The Proposal</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13 minutes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The Blade of Grass</a:t>
            </a:r>
            <a:endParaRPr lang="en-US" sz="2800" dirty="0"/>
          </a:p>
        </p:txBody>
      </p:sp>
      <p:pic>
        <p:nvPicPr>
          <p:cNvPr id="3" name="Image 0" descr="preencoded.png">    </p:cNvPr>
          <p:cNvPicPr>
            <a:picLocks noChangeAspect="1"/>
          </p:cNvPicPr>
          <p:nvPr/>
        </p:nvPicPr>
        <p:blipFill>
          <a:blip r:embed="rId1"/>
          <a:stretch>
            <a:fillRect/>
          </a:stretch>
        </p:blipFill>
        <p:spPr>
          <a:xfrm>
            <a:off x="914400" y="1280160"/>
            <a:ext cx="457200" cy="457200"/>
          </a:xfrm>
          <a:prstGeom prst="rect">
            <a:avLst/>
          </a:prstGeom>
        </p:spPr>
      </p:pic>
      <p:sp>
        <p:nvSpPr>
          <p:cNvPr id="4" name="Text 1"/>
          <p:cNvSpPr/>
          <p:nvPr/>
        </p:nvSpPr>
        <p:spPr>
          <a:xfrm>
            <a:off x="1645920" y="1280160"/>
            <a:ext cx="6400800" cy="41148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Studying a blade of grass to understand why it bends</a:t>
            </a:r>
            <a:endParaRPr lang="en-US" sz="1600" dirty="0"/>
          </a:p>
        </p:txBody>
      </p:sp>
      <p:sp>
        <p:nvSpPr>
          <p:cNvPr id="5" name="Text 2"/>
          <p:cNvSpPr/>
          <p:nvPr/>
        </p:nvSpPr>
        <p:spPr>
          <a:xfrm>
            <a:off x="1645920" y="1783080"/>
            <a:ext cx="6400800" cy="41148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Measuring angle, position, structure</a:t>
            </a:r>
            <a:endParaRPr lang="en-US" sz="1600" dirty="0"/>
          </a:p>
        </p:txBody>
      </p:sp>
      <p:sp>
        <p:nvSpPr>
          <p:cNvPr id="6" name="Text 3"/>
          <p:cNvSpPr/>
          <p:nvPr/>
        </p:nvSpPr>
        <p:spPr>
          <a:xfrm>
            <a:off x="1645920" y="2286000"/>
            <a:ext cx="6400800" cy="411480"/>
          </a:xfrm>
          <a:prstGeom prst="rect">
            <a:avLst/>
          </a:prstGeom>
          <a:noFill/>
          <a:ln/>
        </p:spPr>
        <p:txBody>
          <a:bodyPr wrap="square" lIns="0" tIns="0" rIns="0" bIns="0" rtlCol="0" anchor="ctr"/>
          <a:lstStyle/>
          <a:p>
            <a:pPr indent="0" marL="0">
              <a:buNone/>
            </a:pPr>
            <a:r>
              <a:rPr lang="en-US" sz="1600" dirty="0">
                <a:solidFill>
                  <a:srgbClr val="475569"/>
                </a:solidFill>
                <a:latin typeface="Calibri" pitchFamily="34" charset="0"/>
                <a:ea typeface="Calibri" pitchFamily="34" charset="-122"/>
                <a:cs typeface="Calibri" pitchFamily="34" charset="-120"/>
              </a:rPr>
              <a:t>Still can't predict movement</a:t>
            </a:r>
            <a:endParaRPr lang="en-US" sz="1600" dirty="0"/>
          </a:p>
        </p:txBody>
      </p:sp>
      <p:sp>
        <p:nvSpPr>
          <p:cNvPr id="7" name="Shape 4"/>
          <p:cNvSpPr/>
          <p:nvPr/>
        </p:nvSpPr>
        <p:spPr>
          <a:xfrm>
            <a:off x="731520" y="2926080"/>
            <a:ext cx="7680960" cy="914400"/>
          </a:xfrm>
          <a:prstGeom prst="rect">
            <a:avLst/>
          </a:prstGeom>
          <a:solidFill>
            <a:srgbClr val="0891B2"/>
          </a:solidFill>
          <a:ln/>
        </p:spPr>
      </p:sp>
      <p:sp>
        <p:nvSpPr>
          <p:cNvPr id="8" name="Text 5"/>
          <p:cNvSpPr/>
          <p:nvPr/>
        </p:nvSpPr>
        <p:spPr>
          <a:xfrm>
            <a:off x="1005840" y="2926080"/>
            <a:ext cx="7132320" cy="9144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Because the grass isn't the phenomenon.</a:t>
            </a:r>
            <a:endParaRPr lang="en-US" sz="2200" dirty="0"/>
          </a:p>
          <a:p>
            <a:pPr indent="0" marL="0">
              <a:buNone/>
            </a:pPr>
            <a:r>
              <a:rPr lang="en-US" sz="2200" b="1" dirty="0">
                <a:solidFill>
                  <a:srgbClr val="FFFFFF"/>
                </a:solidFill>
                <a:latin typeface="Georgia" pitchFamily="34" charset="0"/>
                <a:ea typeface="Georgia" pitchFamily="34" charset="-122"/>
                <a:cs typeface="Georgia" pitchFamily="34" charset="-120"/>
              </a:rPr>
              <a:t>The wind is.</a:t>
            </a:r>
            <a:endParaRPr lang="en-US" sz="2200" dirty="0"/>
          </a:p>
        </p:txBody>
      </p:sp>
      <p:sp>
        <p:nvSpPr>
          <p:cNvPr id="9" name="Text 6"/>
          <p:cNvSpPr/>
          <p:nvPr/>
        </p:nvSpPr>
        <p:spPr>
          <a:xfrm>
            <a:off x="731520" y="4114800"/>
            <a:ext cx="7680960" cy="640080"/>
          </a:xfrm>
          <a:prstGeom prst="rect">
            <a:avLst/>
          </a:prstGeom>
          <a:noFill/>
          <a:ln/>
        </p:spPr>
        <p:txBody>
          <a:bodyPr wrap="square" lIns="0" tIns="0" rIns="0" bIns="0" rtlCol="0" anchor="ctr"/>
          <a:lstStyle/>
          <a:p>
            <a:pPr indent="0" marL="0">
              <a:lnSpc>
                <a:spcPct val="140000"/>
              </a:lnSpc>
              <a:buNone/>
            </a:pPr>
            <a:r>
              <a:rPr lang="en-US" sz="1600" i="1" dirty="0">
                <a:solidFill>
                  <a:srgbClr val="1E293B"/>
                </a:solidFill>
                <a:latin typeface="Georgia" pitchFamily="34" charset="0"/>
                <a:ea typeface="Georgia" pitchFamily="34" charset="-122"/>
                <a:cs typeface="Georgia" pitchFamily="34" charset="-120"/>
              </a:rPr>
              <a:t>We've spent 80 years studying individuals.</a:t>
            </a:r>
            <a:endParaRPr lang="en-US" sz="1600" dirty="0"/>
          </a:p>
          <a:p>
            <a:pPr indent="0" marL="0">
              <a:lnSpc>
                <a:spcPct val="140000"/>
              </a:lnSpc>
              <a:buNone/>
            </a:pPr>
            <a:r>
              <a:rPr lang="en-US" sz="1600" i="1" dirty="0">
                <a:solidFill>
                  <a:srgbClr val="1E293B"/>
                </a:solidFill>
                <a:latin typeface="Georgia" pitchFamily="34" charset="0"/>
                <a:ea typeface="Georgia" pitchFamily="34" charset="-122"/>
                <a:cs typeface="Georgia" pitchFamily="34" charset="-120"/>
              </a:rPr>
              <a:t>The pattern is in the system.</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3000" b="1" dirty="0">
                <a:solidFill>
                  <a:srgbClr val="1E293B"/>
                </a:solidFill>
                <a:latin typeface="Georgia" pitchFamily="34" charset="0"/>
                <a:ea typeface="Georgia" pitchFamily="34" charset="-122"/>
                <a:cs typeface="Georgia" pitchFamily="34" charset="-120"/>
              </a:rPr>
              <a:t>Why Family?</a:t>
            </a:r>
            <a:endParaRPr lang="en-US" sz="3000" dirty="0"/>
          </a:p>
        </p:txBody>
      </p:sp>
      <p:sp>
        <p:nvSpPr>
          <p:cNvPr id="3" name="Shape 1"/>
          <p:cNvSpPr/>
          <p:nvPr/>
        </p:nvSpPr>
        <p:spPr>
          <a:xfrm>
            <a:off x="731520" y="1188720"/>
            <a:ext cx="2514600" cy="21945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Text 2"/>
          <p:cNvSpPr/>
          <p:nvPr/>
        </p:nvSpPr>
        <p:spPr>
          <a:xfrm>
            <a:off x="1005840" y="1463040"/>
            <a:ext cx="196596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Not the Individual</a:t>
            </a:r>
            <a:endParaRPr lang="en-US" sz="1800" dirty="0"/>
          </a:p>
        </p:txBody>
      </p:sp>
      <p:sp>
        <p:nvSpPr>
          <p:cNvPr id="5" name="Text 3"/>
          <p:cNvSpPr/>
          <p:nvPr/>
        </p:nvSpPr>
        <p:spPr>
          <a:xfrm>
            <a:off x="1005840" y="2011680"/>
            <a:ext cx="1965960" cy="73152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Misses the pattern</a:t>
            </a:r>
            <a:endParaRPr lang="en-US" sz="1400" dirty="0"/>
          </a:p>
        </p:txBody>
      </p:sp>
      <p:sp>
        <p:nvSpPr>
          <p:cNvPr id="6" name="Shape 4"/>
          <p:cNvSpPr/>
          <p:nvPr/>
        </p:nvSpPr>
        <p:spPr>
          <a:xfrm>
            <a:off x="3566160" y="1188720"/>
            <a:ext cx="2514600" cy="219456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7" name="Text 5"/>
          <p:cNvSpPr/>
          <p:nvPr/>
        </p:nvSpPr>
        <p:spPr>
          <a:xfrm>
            <a:off x="3840480" y="1463040"/>
            <a:ext cx="196596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Not Society</a:t>
            </a:r>
            <a:endParaRPr lang="en-US" sz="1800" dirty="0"/>
          </a:p>
        </p:txBody>
      </p:sp>
      <p:sp>
        <p:nvSpPr>
          <p:cNvPr id="8" name="Text 6"/>
          <p:cNvSpPr/>
          <p:nvPr/>
        </p:nvSpPr>
        <p:spPr>
          <a:xfrm>
            <a:off x="3840480" y="2011680"/>
            <a:ext cx="1965960" cy="73152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Too big to measure</a:t>
            </a:r>
            <a:endParaRPr lang="en-US" sz="1400" dirty="0"/>
          </a:p>
          <a:p>
            <a:pPr indent="0" marL="0">
              <a:buNone/>
            </a:pPr>
            <a:r>
              <a:rPr lang="en-US" sz="1400" dirty="0">
                <a:solidFill>
                  <a:srgbClr val="475569"/>
                </a:solidFill>
                <a:latin typeface="Calibri" pitchFamily="34" charset="0"/>
                <a:ea typeface="Calibri" pitchFamily="34" charset="-122"/>
                <a:cs typeface="Calibri" pitchFamily="34" charset="-120"/>
              </a:rPr>
              <a:t>or intervene</a:t>
            </a:r>
            <a:endParaRPr lang="en-US" sz="1400" dirty="0"/>
          </a:p>
        </p:txBody>
      </p:sp>
      <p:sp>
        <p:nvSpPr>
          <p:cNvPr id="9" name="Shape 7"/>
          <p:cNvSpPr/>
          <p:nvPr/>
        </p:nvSpPr>
        <p:spPr>
          <a:xfrm>
            <a:off x="6400800" y="1188720"/>
            <a:ext cx="2514600" cy="2194560"/>
          </a:xfrm>
          <a:prstGeom prst="rect">
            <a:avLst/>
          </a:prstGeom>
          <a:solidFill>
            <a:srgbClr val="0891B2"/>
          </a:solidFill>
          <a:ln/>
          <a:effectLst>
            <a:outerShdw sx="100000" sy="100000" kx="0" ky="0" algn="bl" rotWithShape="0" blurRad="76200" dist="25400" dir="8100000">
              <a:srgbClr val="000000">
                <a:alpha val="12000"/>
              </a:srgbClr>
            </a:outerShdw>
          </a:effectLst>
        </p:spPr>
      </p:sp>
      <p:sp>
        <p:nvSpPr>
          <p:cNvPr id="10" name="Text 8"/>
          <p:cNvSpPr/>
          <p:nvPr/>
        </p:nvSpPr>
        <p:spPr>
          <a:xfrm>
            <a:off x="6675120" y="1463040"/>
            <a:ext cx="196596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Family</a:t>
            </a:r>
            <a:endParaRPr lang="en-US" sz="1800" dirty="0"/>
          </a:p>
        </p:txBody>
      </p:sp>
      <p:sp>
        <p:nvSpPr>
          <p:cNvPr id="11" name="Text 9"/>
          <p:cNvSpPr/>
          <p:nvPr/>
        </p:nvSpPr>
        <p:spPr>
          <a:xfrm>
            <a:off x="6675120" y="2011680"/>
            <a:ext cx="1965960" cy="731520"/>
          </a:xfrm>
          <a:prstGeom prst="rect">
            <a:avLst/>
          </a:prstGeom>
          <a:noFill/>
          <a:ln/>
        </p:spPr>
        <p:txBody>
          <a:bodyPr wrap="square" lIns="0" tIns="0" rIns="0" bIns="0" rtlCol="0" anchor="ctr"/>
          <a:lstStyle/>
          <a:p>
            <a:pPr indent="0" marL="0">
              <a:buNone/>
            </a:pPr>
            <a:r>
              <a:rPr lang="en-US" sz="1400" dirty="0">
                <a:solidFill>
                  <a:srgbClr val="22D3EE"/>
                </a:solidFill>
                <a:latin typeface="Calibri" pitchFamily="34" charset="0"/>
                <a:ea typeface="Calibri" pitchFamily="34" charset="-122"/>
                <a:cs typeface="Calibri" pitchFamily="34" charset="-120"/>
              </a:rPr>
              <a:t>Smallest system where</a:t>
            </a:r>
            <a:endParaRPr lang="en-US" sz="1400" dirty="0"/>
          </a:p>
          <a:p>
            <a:pPr indent="0" marL="0">
              <a:buNone/>
            </a:pPr>
            <a:r>
              <a:rPr lang="en-US" sz="1400" dirty="0">
                <a:solidFill>
                  <a:srgbClr val="22D3EE"/>
                </a:solidFill>
                <a:latin typeface="Calibri" pitchFamily="34" charset="0"/>
                <a:ea typeface="Calibri" pitchFamily="34" charset="-122"/>
                <a:cs typeface="Calibri" pitchFamily="34" charset="-120"/>
              </a:rPr>
              <a:t>the pattern is visible</a:t>
            </a:r>
            <a:endParaRPr lang="en-US" sz="1400" dirty="0"/>
          </a:p>
        </p:txBody>
      </p:sp>
      <p:sp>
        <p:nvSpPr>
          <p:cNvPr id="12" name="Text 10"/>
          <p:cNvSpPr/>
          <p:nvPr/>
        </p:nvSpPr>
        <p:spPr>
          <a:xfrm>
            <a:off x="731520" y="3749040"/>
            <a:ext cx="7680960" cy="457200"/>
          </a:xfrm>
          <a:prstGeom prst="rect">
            <a:avLst/>
          </a:prstGeom>
          <a:noFill/>
          <a:ln/>
        </p:spPr>
        <p:txBody>
          <a:bodyPr wrap="square" lIns="0" tIns="0" rIns="0" bIns="0" rtlCol="0" anchor="ctr"/>
          <a:lstStyle/>
          <a:p>
            <a:pPr indent="0" marL="0">
              <a:buNone/>
            </a:pPr>
            <a:r>
              <a:rPr lang="en-US" sz="1800" b="1" i="1" dirty="0">
                <a:solidFill>
                  <a:srgbClr val="0891B2"/>
                </a:solidFill>
                <a:latin typeface="Georgia" pitchFamily="34" charset="0"/>
                <a:ea typeface="Georgia" pitchFamily="34" charset="-122"/>
                <a:cs typeface="Georgia" pitchFamily="34" charset="-120"/>
              </a:rPr>
              <a:t>One level up from the blade of grass.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Facts Calm People Down</a:t>
            </a:r>
            <a:endParaRPr lang="en-US" sz="2800" dirty="0"/>
          </a:p>
        </p:txBody>
      </p:sp>
      <p:sp>
        <p:nvSpPr>
          <p:cNvPr id="3" name="Shape 1"/>
          <p:cNvSpPr/>
          <p:nvPr/>
        </p:nvSpPr>
        <p:spPr>
          <a:xfrm>
            <a:off x="731520" y="1188720"/>
            <a:ext cx="365760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3657600" cy="54864"/>
          </a:xfrm>
          <a:prstGeom prst="rect">
            <a:avLst/>
          </a:prstGeom>
          <a:solidFill>
            <a:srgbClr val="D97706"/>
          </a:solidFill>
          <a:ln/>
        </p:spPr>
      </p:sp>
      <p:sp>
        <p:nvSpPr>
          <p:cNvPr id="5" name="Text 3"/>
          <p:cNvSpPr/>
          <p:nvPr/>
        </p:nvSpPr>
        <p:spPr>
          <a:xfrm>
            <a:off x="1005840" y="1371600"/>
            <a:ext cx="310896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Without Common Currency</a:t>
            </a:r>
            <a:endParaRPr lang="en-US" sz="1500" dirty="0"/>
          </a:p>
        </p:txBody>
      </p:sp>
      <p:sp>
        <p:nvSpPr>
          <p:cNvPr id="6" name="Text 4"/>
          <p:cNvSpPr/>
          <p:nvPr/>
        </p:nvSpPr>
        <p:spPr>
          <a:xfrm>
            <a:off x="1005840" y="1828800"/>
            <a:ext cx="3108960" cy="914400"/>
          </a:xfrm>
          <a:prstGeom prst="rect">
            <a:avLst/>
          </a:prstGeom>
          <a:noFill/>
          <a:ln/>
        </p:spPr>
        <p:txBody>
          <a:bodyPr wrap="square" lIns="0" tIns="0" rIns="0" bIns="0" rtlCol="0" anchor="ctr"/>
          <a:lstStyle/>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Opinion vs. opinion</a:t>
            </a:r>
            <a:endParaRPr lang="en-US" sz="1300" dirty="0"/>
          </a:p>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Loudest voice wins</a:t>
            </a:r>
            <a:endParaRPr lang="en-US" sz="1300" dirty="0"/>
          </a:p>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Tribal hierarchy determines outcomes</a:t>
            </a:r>
            <a:endParaRPr lang="en-US" sz="1300" dirty="0"/>
          </a:p>
        </p:txBody>
      </p:sp>
      <p:sp>
        <p:nvSpPr>
          <p:cNvPr id="7" name="Shape 5"/>
          <p:cNvSpPr/>
          <p:nvPr/>
        </p:nvSpPr>
        <p:spPr>
          <a:xfrm>
            <a:off x="4754880" y="1188720"/>
            <a:ext cx="3657600" cy="182880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8" name="Shape 6"/>
          <p:cNvSpPr/>
          <p:nvPr/>
        </p:nvSpPr>
        <p:spPr>
          <a:xfrm>
            <a:off x="4754880" y="1188720"/>
            <a:ext cx="3657600" cy="54864"/>
          </a:xfrm>
          <a:prstGeom prst="rect">
            <a:avLst/>
          </a:prstGeom>
          <a:solidFill>
            <a:srgbClr val="0891B2"/>
          </a:solidFill>
          <a:ln/>
        </p:spPr>
      </p:sp>
      <p:sp>
        <p:nvSpPr>
          <p:cNvPr id="9" name="Text 7"/>
          <p:cNvSpPr/>
          <p:nvPr/>
        </p:nvSpPr>
        <p:spPr>
          <a:xfrm>
            <a:off x="5029200" y="1371600"/>
            <a:ext cx="310896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With Measurable Concepts</a:t>
            </a:r>
            <a:endParaRPr lang="en-US" sz="1500" dirty="0"/>
          </a:p>
        </p:txBody>
      </p:sp>
      <p:sp>
        <p:nvSpPr>
          <p:cNvPr id="10" name="Text 8"/>
          <p:cNvSpPr/>
          <p:nvPr/>
        </p:nvSpPr>
        <p:spPr>
          <a:xfrm>
            <a:off x="5029200" y="1828800"/>
            <a:ext cx="3108960" cy="914400"/>
          </a:xfrm>
          <a:prstGeom prst="rect">
            <a:avLst/>
          </a:prstGeom>
          <a:noFill/>
          <a:ln/>
        </p:spPr>
        <p:txBody>
          <a:bodyPr wrap="square" lIns="0" tIns="0" rIns="0" bIns="0" rtlCol="0" anchor="ctr"/>
          <a:lstStyle/>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Depolarized baseline</a:t>
            </a:r>
            <a:endParaRPr lang="en-US" sz="1300" dirty="0"/>
          </a:p>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Coordination at scale</a:t>
            </a:r>
            <a:endParaRPr lang="en-US" sz="1300" dirty="0"/>
          </a:p>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Healthier uncertainty reduction</a:t>
            </a:r>
            <a:endParaRPr lang="en-US" sz="1300" dirty="0"/>
          </a:p>
        </p:txBody>
      </p:sp>
      <p:sp>
        <p:nvSpPr>
          <p:cNvPr id="11" name="Shape 9"/>
          <p:cNvSpPr/>
          <p:nvPr/>
        </p:nvSpPr>
        <p:spPr>
          <a:xfrm>
            <a:off x="731520" y="3383280"/>
            <a:ext cx="7680960" cy="640080"/>
          </a:xfrm>
          <a:prstGeom prst="rect">
            <a:avLst/>
          </a:prstGeom>
          <a:solidFill>
            <a:srgbClr val="1B2A4A"/>
          </a:solidFill>
          <a:ln/>
        </p:spPr>
      </p:sp>
      <p:sp>
        <p:nvSpPr>
          <p:cNvPr id="12" name="Text 10"/>
          <p:cNvSpPr/>
          <p:nvPr/>
        </p:nvSpPr>
        <p:spPr>
          <a:xfrm>
            <a:off x="1005840" y="3383280"/>
            <a:ext cx="7132320" cy="640080"/>
          </a:xfrm>
          <a:prstGeom prst="rect">
            <a:avLst/>
          </a:prstGeom>
          <a:noFill/>
          <a:ln/>
        </p:spPr>
        <p:txBody>
          <a:bodyPr wrap="square" lIns="0" tIns="0" rIns="0" bIns="0" rtlCol="0" anchor="ctr"/>
          <a:lstStyle/>
          <a:p>
            <a:pPr indent="0" marL="0">
              <a:buNone/>
            </a:pPr>
            <a:r>
              <a:rPr lang="en-US" sz="1700" b="1" dirty="0">
                <a:solidFill>
                  <a:srgbClr val="22D3EE"/>
                </a:solidFill>
                <a:latin typeface="Georgia" pitchFamily="34" charset="0"/>
                <a:ea typeface="Georgia" pitchFamily="34" charset="-122"/>
                <a:cs typeface="Georgia" pitchFamily="34" charset="-120"/>
              </a:rPr>
              <a:t>Measurability reduces uncertainty without the catastrophic side effects.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indent="0" marL="0">
              <a:buNone/>
            </a:pPr>
            <a:r>
              <a:rPr lang="en-US" sz="2800" b="1" dirty="0">
                <a:solidFill>
                  <a:srgbClr val="1E293B"/>
                </a:solidFill>
                <a:latin typeface="Georgia" pitchFamily="34" charset="0"/>
                <a:ea typeface="Georgia" pitchFamily="34" charset="-122"/>
                <a:cs typeface="Georgia" pitchFamily="34" charset="-120"/>
              </a:rPr>
              <a:t>What You'll Get Today</a:t>
            </a:r>
            <a:endParaRPr lang="en-US" sz="2800" dirty="0"/>
          </a:p>
        </p:txBody>
      </p:sp>
      <p:sp>
        <p:nvSpPr>
          <p:cNvPr id="3" name="Shape 1"/>
          <p:cNvSpPr/>
          <p:nvPr/>
        </p:nvSpPr>
        <p:spPr>
          <a:xfrm>
            <a:off x="731520" y="118872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4" name="Shape 2"/>
          <p:cNvSpPr/>
          <p:nvPr/>
        </p:nvSpPr>
        <p:spPr>
          <a:xfrm>
            <a:off x="731520" y="1188720"/>
            <a:ext cx="54864" cy="1188720"/>
          </a:xfrm>
          <a:prstGeom prst="rect">
            <a:avLst/>
          </a:prstGeom>
          <a:solidFill>
            <a:srgbClr val="0891B2"/>
          </a:solidFill>
          <a:ln/>
        </p:spPr>
      </p:sp>
      <p:pic>
        <p:nvPicPr>
          <p:cNvPr id="5" name="Image 0" descr="preencoded.png">    </p:cNvPr>
          <p:cNvPicPr>
            <a:picLocks noChangeAspect="1"/>
          </p:cNvPicPr>
          <p:nvPr/>
        </p:nvPicPr>
        <p:blipFill>
          <a:blip r:embed="rId1"/>
          <a:stretch>
            <a:fillRect/>
          </a:stretch>
        </p:blipFill>
        <p:spPr>
          <a:xfrm>
            <a:off x="1005840" y="1417320"/>
            <a:ext cx="365760" cy="365760"/>
          </a:xfrm>
          <a:prstGeom prst="rect">
            <a:avLst/>
          </a:prstGeom>
        </p:spPr>
      </p:pic>
      <p:sp>
        <p:nvSpPr>
          <p:cNvPr id="6" name="Text 3"/>
          <p:cNvSpPr/>
          <p:nvPr/>
        </p:nvSpPr>
        <p:spPr>
          <a:xfrm>
            <a:off x="150876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SARF</a:t>
            </a:r>
            <a:endParaRPr lang="en-US" sz="1600" dirty="0"/>
          </a:p>
        </p:txBody>
      </p:sp>
      <p:sp>
        <p:nvSpPr>
          <p:cNvPr id="7" name="Text 4"/>
          <p:cNvSpPr/>
          <p:nvPr/>
        </p:nvSpPr>
        <p:spPr>
          <a:xfrm>
            <a:off x="1508760" y="173736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Measurable concepts for family-level patterns</a:t>
            </a:r>
            <a:endParaRPr lang="en-US" sz="1300" dirty="0"/>
          </a:p>
        </p:txBody>
      </p:sp>
      <p:sp>
        <p:nvSpPr>
          <p:cNvPr id="8" name="Shape 5"/>
          <p:cNvSpPr/>
          <p:nvPr/>
        </p:nvSpPr>
        <p:spPr>
          <a:xfrm>
            <a:off x="4754880" y="118872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9" name="Shape 6"/>
          <p:cNvSpPr/>
          <p:nvPr/>
        </p:nvSpPr>
        <p:spPr>
          <a:xfrm>
            <a:off x="4754880" y="1188720"/>
            <a:ext cx="54864" cy="1188720"/>
          </a:xfrm>
          <a:prstGeom prst="rect">
            <a:avLst/>
          </a:prstGeom>
          <a:solidFill>
            <a:srgbClr val="0891B2"/>
          </a:solidFill>
          <a:ln/>
        </p:spPr>
      </p:sp>
      <p:pic>
        <p:nvPicPr>
          <p:cNvPr id="10" name="Image 1" descr="preencoded.png">    </p:cNvPr>
          <p:cNvPicPr>
            <a:picLocks noChangeAspect="1"/>
          </p:cNvPicPr>
          <p:nvPr/>
        </p:nvPicPr>
        <p:blipFill>
          <a:blip r:embed="rId2"/>
          <a:stretch>
            <a:fillRect/>
          </a:stretch>
        </p:blipFill>
        <p:spPr>
          <a:xfrm>
            <a:off x="5029200" y="1417320"/>
            <a:ext cx="365760" cy="365760"/>
          </a:xfrm>
          <a:prstGeom prst="rect">
            <a:avLst/>
          </a:prstGeom>
        </p:spPr>
      </p:pic>
      <p:sp>
        <p:nvSpPr>
          <p:cNvPr id="11" name="Text 7"/>
          <p:cNvSpPr/>
          <p:nvPr/>
        </p:nvSpPr>
        <p:spPr>
          <a:xfrm>
            <a:off x="5532120" y="132588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AI Tools</a:t>
            </a:r>
            <a:endParaRPr lang="en-US" sz="1600" dirty="0"/>
          </a:p>
        </p:txBody>
      </p:sp>
      <p:sp>
        <p:nvSpPr>
          <p:cNvPr id="12" name="Text 8"/>
          <p:cNvSpPr/>
          <p:nvPr/>
        </p:nvSpPr>
        <p:spPr>
          <a:xfrm>
            <a:off x="5532120" y="173736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Technology to capture what we're learning to see</a:t>
            </a:r>
            <a:endParaRPr lang="en-US" sz="1300" dirty="0"/>
          </a:p>
        </p:txBody>
      </p:sp>
      <p:sp>
        <p:nvSpPr>
          <p:cNvPr id="13" name="Shape 9"/>
          <p:cNvSpPr/>
          <p:nvPr/>
        </p:nvSpPr>
        <p:spPr>
          <a:xfrm>
            <a:off x="731520" y="260604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4" name="Shape 10"/>
          <p:cNvSpPr/>
          <p:nvPr/>
        </p:nvSpPr>
        <p:spPr>
          <a:xfrm>
            <a:off x="731520" y="2606040"/>
            <a:ext cx="54864" cy="1188720"/>
          </a:xfrm>
          <a:prstGeom prst="rect">
            <a:avLst/>
          </a:prstGeom>
          <a:solidFill>
            <a:srgbClr val="0891B2"/>
          </a:solidFill>
          <a:ln/>
        </p:spPr>
      </p:sp>
      <p:pic>
        <p:nvPicPr>
          <p:cNvPr id="15" name="Image 2" descr="preencoded.png">    </p:cNvPr>
          <p:cNvPicPr>
            <a:picLocks noChangeAspect="1"/>
          </p:cNvPicPr>
          <p:nvPr/>
        </p:nvPicPr>
        <p:blipFill>
          <a:blip r:embed="rId3"/>
          <a:stretch>
            <a:fillRect/>
          </a:stretch>
        </p:blipFill>
        <p:spPr>
          <a:xfrm>
            <a:off x="1005840" y="2834640"/>
            <a:ext cx="365760" cy="365760"/>
          </a:xfrm>
          <a:prstGeom prst="rect">
            <a:avLst/>
          </a:prstGeom>
        </p:spPr>
      </p:pic>
      <p:sp>
        <p:nvSpPr>
          <p:cNvPr id="16" name="Text 11"/>
          <p:cNvSpPr/>
          <p:nvPr/>
        </p:nvSpPr>
        <p:spPr>
          <a:xfrm>
            <a:off x="1508760" y="274320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App Demo</a:t>
            </a:r>
            <a:endParaRPr lang="en-US" sz="1600" dirty="0"/>
          </a:p>
        </p:txBody>
      </p:sp>
      <p:sp>
        <p:nvSpPr>
          <p:cNvPr id="17" name="Text 12"/>
          <p:cNvSpPr/>
          <p:nvPr/>
        </p:nvSpPr>
        <p:spPr>
          <a:xfrm>
            <a:off x="1508760" y="315468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Practical tools you can use Monday</a:t>
            </a:r>
            <a:endParaRPr lang="en-US" sz="1300" dirty="0"/>
          </a:p>
        </p:txBody>
      </p:sp>
      <p:sp>
        <p:nvSpPr>
          <p:cNvPr id="18" name="Shape 13"/>
          <p:cNvSpPr/>
          <p:nvPr/>
        </p:nvSpPr>
        <p:spPr>
          <a:xfrm>
            <a:off x="4754880" y="2606040"/>
            <a:ext cx="3657600" cy="1188720"/>
          </a:xfrm>
          <a:prstGeom prst="rect">
            <a:avLst/>
          </a:prstGeom>
          <a:solidFill>
            <a:srgbClr val="FFFFFF"/>
          </a:solidFill>
          <a:ln/>
          <a:effectLst>
            <a:outerShdw sx="100000" sy="100000" kx="0" ky="0" algn="bl" rotWithShape="0" blurRad="76200" dist="25400" dir="8100000">
              <a:srgbClr val="000000">
                <a:alpha val="12000"/>
              </a:srgbClr>
            </a:outerShdw>
          </a:effectLst>
        </p:spPr>
      </p:sp>
      <p:sp>
        <p:nvSpPr>
          <p:cNvPr id="19" name="Shape 14"/>
          <p:cNvSpPr/>
          <p:nvPr/>
        </p:nvSpPr>
        <p:spPr>
          <a:xfrm>
            <a:off x="4754880" y="2606040"/>
            <a:ext cx="54864" cy="1188720"/>
          </a:xfrm>
          <a:prstGeom prst="rect">
            <a:avLst/>
          </a:prstGeom>
          <a:solidFill>
            <a:srgbClr val="0891B2"/>
          </a:solidFill>
          <a:ln/>
        </p:spPr>
      </p:sp>
      <p:pic>
        <p:nvPicPr>
          <p:cNvPr id="20" name="Image 3" descr="preencoded.png">    </p:cNvPr>
          <p:cNvPicPr>
            <a:picLocks noChangeAspect="1"/>
          </p:cNvPicPr>
          <p:nvPr/>
        </p:nvPicPr>
        <p:blipFill>
          <a:blip r:embed="rId4"/>
          <a:stretch>
            <a:fillRect/>
          </a:stretch>
        </p:blipFill>
        <p:spPr>
          <a:xfrm>
            <a:off x="5029200" y="2834640"/>
            <a:ext cx="365760" cy="365760"/>
          </a:xfrm>
          <a:prstGeom prst="rect">
            <a:avLst/>
          </a:prstGeom>
        </p:spPr>
      </p:pic>
      <p:sp>
        <p:nvSpPr>
          <p:cNvPr id="21" name="Text 15"/>
          <p:cNvSpPr/>
          <p:nvPr/>
        </p:nvSpPr>
        <p:spPr>
          <a:xfrm>
            <a:off x="5532120" y="2743200"/>
            <a:ext cx="256032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Clinical Case</a:t>
            </a:r>
            <a:endParaRPr lang="en-US" sz="1600" dirty="0"/>
          </a:p>
        </p:txBody>
      </p:sp>
      <p:sp>
        <p:nvSpPr>
          <p:cNvPr id="22" name="Text 16"/>
          <p:cNvSpPr/>
          <p:nvPr/>
        </p:nvSpPr>
        <p:spPr>
          <a:xfrm>
            <a:off x="5532120" y="3154680"/>
            <a:ext cx="2560320" cy="457200"/>
          </a:xfrm>
          <a:prstGeom prst="rect">
            <a:avLst/>
          </a:prstGeom>
          <a:noFill/>
          <a:ln/>
        </p:spPr>
        <p:txBody>
          <a:bodyPr wrap="square" lIns="0" tIns="0" rIns="0" bIns="0" rtlCol="0" anchor="ctr"/>
          <a:lstStyle/>
          <a:p>
            <a:pPr indent="0" marL="0">
              <a:buNone/>
            </a:pPr>
            <a:r>
              <a:rPr lang="en-US" sz="1300" dirty="0">
                <a:solidFill>
                  <a:srgbClr val="475569"/>
                </a:solidFill>
                <a:latin typeface="Calibri" pitchFamily="34" charset="0"/>
                <a:ea typeface="Calibri" pitchFamily="34" charset="-122"/>
                <a:cs typeface="Calibri" pitchFamily="34" charset="-120"/>
              </a:rPr>
              <a:t>Evidence it works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731520" y="914400"/>
            <a:ext cx="7680960" cy="164592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Everyone needs</a:t>
            </a:r>
            <a:endParaRPr lang="en-US" sz="3800" dirty="0"/>
          </a:p>
          <a:p>
            <a:pPr indent="0" marL="0">
              <a:lnSpc>
                <a:spcPct val="115000"/>
              </a:lnSpc>
              <a:buNone/>
            </a:pPr>
            <a:r>
              <a:rPr lang="en-US" sz="3800" b="1" dirty="0">
                <a:solidFill>
                  <a:srgbClr val="FFFFFF"/>
                </a:solidFill>
                <a:latin typeface="Georgia" pitchFamily="34" charset="0"/>
                <a:ea typeface="Georgia" pitchFamily="34" charset="-122"/>
                <a:cs typeface="Georgia" pitchFamily="34" charset="-120"/>
              </a:rPr>
              <a:t>scientific thinking.</a:t>
            </a:r>
            <a:endParaRPr lang="en-US" sz="3800" dirty="0"/>
          </a:p>
        </p:txBody>
      </p:sp>
      <p:sp>
        <p:nvSpPr>
          <p:cNvPr id="4" name="Shape 2"/>
          <p:cNvSpPr/>
          <p:nvPr/>
        </p:nvSpPr>
        <p:spPr>
          <a:xfrm>
            <a:off x="731520" y="2743200"/>
            <a:ext cx="1097280" cy="36576"/>
          </a:xfrm>
          <a:prstGeom prst="rect">
            <a:avLst/>
          </a:prstGeom>
          <a:solidFill>
            <a:srgbClr val="0891B2"/>
          </a:solidFill>
          <a:ln/>
        </p:spPr>
      </p:sp>
      <p:sp>
        <p:nvSpPr>
          <p:cNvPr id="5" name="Text 3"/>
          <p:cNvSpPr/>
          <p:nvPr/>
        </p:nvSpPr>
        <p:spPr>
          <a:xfrm>
            <a:off x="731520" y="3017520"/>
            <a:ext cx="7680960" cy="548640"/>
          </a:xfrm>
          <a:prstGeom prst="rect">
            <a:avLst/>
          </a:prstGeom>
          <a:noFill/>
          <a:ln/>
        </p:spPr>
        <p:txBody>
          <a:bodyPr wrap="square" lIns="0" tIns="0" rIns="0" bIns="0" rtlCol="0" anchor="ctr"/>
          <a:lstStyle/>
          <a:p>
            <a:pPr indent="0" marL="0">
              <a:buNone/>
            </a:pPr>
            <a:r>
              <a:rPr lang="en-US" sz="2200" dirty="0">
                <a:solidFill>
                  <a:srgbClr val="22D3EE"/>
                </a:solidFill>
                <a:latin typeface="Georgia" pitchFamily="34" charset="0"/>
                <a:ea typeface="Georgia" pitchFamily="34" charset="-122"/>
                <a:cs typeface="Georgia" pitchFamily="34" charset="-120"/>
              </a:rPr>
              <a:t>Before your next intake, draw the family.</a:t>
            </a:r>
            <a:endParaRPr lang="en-US" sz="2200" dirty="0"/>
          </a:p>
        </p:txBody>
      </p:sp>
      <p:sp>
        <p:nvSpPr>
          <p:cNvPr id="6" name="Text 4"/>
          <p:cNvSpPr/>
          <p:nvPr/>
        </p:nvSpPr>
        <p:spPr>
          <a:xfrm>
            <a:off x="731520" y="3749040"/>
            <a:ext cx="7680960" cy="731520"/>
          </a:xfrm>
          <a:prstGeom prst="rect">
            <a:avLst/>
          </a:prstGeom>
          <a:noFill/>
          <a:ln/>
        </p:spPr>
        <p:txBody>
          <a:bodyPr wrap="square" lIns="0" tIns="0" rIns="0" bIns="0" rtlCol="0" anchor="ctr"/>
          <a:lstStyle/>
          <a:p>
            <a:pPr indent="0" marL="0">
              <a:lnSpc>
                <a:spcPct val="140000"/>
              </a:lnSpc>
              <a:buNone/>
            </a:pPr>
            <a:r>
              <a:rPr lang="en-US" sz="1600" dirty="0">
                <a:solidFill>
                  <a:srgbClr val="94A3B8"/>
                </a:solidFill>
                <a:latin typeface="Calibri" pitchFamily="34" charset="0"/>
                <a:ea typeface="Calibri" pitchFamily="34" charset="-122"/>
                <a:cs typeface="Calibri" pitchFamily="34" charset="-120"/>
              </a:rPr>
              <a:t>Before your next intervention, ask:</a:t>
            </a:r>
            <a:endParaRPr lang="en-US" sz="1600" dirty="0"/>
          </a:p>
          <a:p>
            <a:pPr indent="0" marL="0">
              <a:lnSpc>
                <a:spcPct val="140000"/>
              </a:lnSpc>
              <a:buNone/>
            </a:pPr>
            <a:r>
              <a:rPr lang="en-US" sz="1600" dirty="0">
                <a:solidFill>
                  <a:srgbClr val="94A3B8"/>
                </a:solidFill>
                <a:latin typeface="Calibri" pitchFamily="34" charset="0"/>
                <a:ea typeface="Calibri" pitchFamily="34" charset="-122"/>
                <a:cs typeface="Calibri" pitchFamily="34" charset="-120"/>
              </a:rPr>
              <a:t>How would I know if this is making things worse?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Family? The State of Behavioral Health</dc:title>
  <dc:subject>PptxGenJS Presentation</dc:subject>
  <dc:creator>Dr. Patrick Stinson</dc:creator>
  <cp:lastModifiedBy>Dr. Patrick Stinson</cp:lastModifiedBy>
  <cp:revision>1</cp:revision>
  <dcterms:created xsi:type="dcterms:W3CDTF">2026-02-25T02:14:49Z</dcterms:created>
  <dcterms:modified xsi:type="dcterms:W3CDTF">2026-02-25T02:14:49Z</dcterms:modified>
</cp:coreProperties>
</file>