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81"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82" r:id="rId19"/>
    <p:sldId id="272" r:id="rId20"/>
    <p:sldId id="273" r:id="rId21"/>
    <p:sldId id="274" r:id="rId22"/>
    <p:sldId id="283" r:id="rId23"/>
    <p:sldId id="275" r:id="rId24"/>
    <p:sldId id="284" r:id="rId25"/>
    <p:sldId id="276" r:id="rId26"/>
    <p:sldId id="285" r:id="rId27"/>
    <p:sldId id="277" r:id="rId28"/>
    <p:sldId id="278" r:id="rId29"/>
    <p:sldId id="279" r:id="rId30"/>
    <p:sldId id="286" r:id="rId31"/>
    <p:sldId id="280" r:id="rId3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99"/>
    <p:restoredTop sz="70783"/>
  </p:normalViewPr>
  <p:slideViewPr>
    <p:cSldViewPr snapToGrid="0" snapToObjects="1">
      <p:cViewPr varScale="1">
        <p:scale>
          <a:sx n="130" d="100"/>
          <a:sy n="130" d="100"/>
        </p:scale>
        <p:origin x="1752" y="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5667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TITLE SLIDE</a:t>
            </a:r>
          </a:p>
          <a:p>
            <a:r>
              <a:rPr sz="4200"/>
              <a:t>"Why Family? The State of Behavioral Health"</a:t>
            </a:r>
          </a:p>
          <a:p>
            <a:r>
              <a:rPr sz="4200"/>
              <a:t>Dr. Patrick Stinson — Alaska Family Systems</a:t>
            </a:r>
          </a:p>
          <a:p>
            <a:r>
              <a:rPr sz="4200"/>
              <a:t>Presentation 1 of 5, FFRN Conference Feb 28, 2025</a:t>
            </a:r>
          </a:p>
          <a:p>
            <a:endParaRPr sz="4200"/>
          </a:p>
          <a:p>
            <a:r>
              <a:rPr sz="4200"/>
              <a:t>"I'll be speaking in the context of clinical psychology since it's a formalized domain with the most concrete examples. But these patterns apply across all helping professions—LCSW, LPC, MFT, and others."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MATERIALS &amp; SOURCES ONLINE (1 min)</a:t>
            </a:r>
          </a:p>
          <a:p>
            <a:endParaRPr sz="4200"/>
          </a:p>
          <a:p>
            <a:r>
              <a:rPr sz="4200"/>
              <a:t>"All of the notes and sources for today's presentations are available online. If you want to follow along, review later, or share with colleagues, the link is right here."</a:t>
            </a:r>
          </a:p>
          <a:p>
            <a:endParaRPr sz="4200"/>
          </a:p>
          <a:p>
            <a:r>
              <a:rPr sz="4200"/>
              <a:t>https://github.com/patrickkidd/ffrn-2026</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II: THE ENGINEER'S CONFESSION (3 min)</a:t>
            </a:r>
          </a:p>
          <a:p>
            <a:endParaRPr sz="4200"/>
          </a:p>
          <a:p>
            <a:r>
              <a:rPr sz="4200"/>
              <a:t>Your story: engineer enters behavioral health field.</a:t>
            </a:r>
          </a:p>
          <a:p>
            <a:r>
              <a:rPr sz="4200"/>
              <a:t>Expected: if it doesn't work, measure it, fix it, or discard it.</a:t>
            </a:r>
          </a:p>
          <a:p>
            <a:r>
              <a:rPr sz="4200"/>
              <a:t>Found: a field that doesn't work that way.</a:t>
            </a:r>
          </a:p>
          <a:p>
            <a:endParaRPr sz="4200"/>
          </a:p>
          <a:p>
            <a:r>
              <a:rPr sz="4200"/>
              <a:t>"I'm not here to attack anyone's training. I'm here to make a case that everyone—not just engineers—needs scientific thinking."</a:t>
            </a:r>
          </a:p>
          <a:p>
            <a:endParaRPr sz="4200"/>
          </a:p>
          <a:p>
            <a:r>
              <a:rPr sz="4200"/>
              <a:t>Transition: "Let me show you the data."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4200"/>
              <a:t>Wendell Berry — American novelist, poet, and farmer (b. 1934)</a:t>
            </a:r>
          </a:p>
          <a:p>
            <a:endParaRPr sz="4200"/>
          </a:p>
          <a:p>
            <a:r>
              <a:rPr sz="4200"/>
              <a:t>WENDELL BERRY QUOTE</a:t>
            </a:r>
          </a:p>
          <a:p>
            <a:endParaRPr sz="4200"/>
          </a:p>
          <a:p>
            <a:r>
              <a:rPr sz="4200"/>
              <a:t>"The mind that is not baffled is not employed. The impeded stream is the one that sings."</a:t>
            </a:r>
          </a:p>
          <a:p>
            <a:endParaRPr sz="4200"/>
          </a:p>
          <a:p>
            <a:r>
              <a:rPr sz="4200"/>
              <a:t>That bafflement was the beginning of the real work for me. Not knowing was the starting condition, not the problem.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III: THE FIELD IS BROKEN (8 min)</a:t>
            </a:r>
          </a:p>
          <a:p>
            <a:endParaRPr sz="4200"/>
          </a:p>
          <a:p>
            <a:r>
              <a:rPr sz="4200"/>
              <a:t>This section presents the hard data showing the field isn't working as expected. Treatment is increasing but outcomes aren't improving. The research base itself is unreliable.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TREATMENT-PREVALENCE PARADOX (Centerpiece)</a:t>
            </a:r>
          </a:p>
          <a:p>
            <a:r>
              <a:rPr sz="4200"/>
              <a:t>Source: Ormel et al. (2022)</a:t>
            </a:r>
          </a:p>
          <a:p>
            <a:endParaRPr sz="4200"/>
          </a:p>
          <a:p>
            <a:r>
              <a:rPr sz="4200"/>
              <a:t>Treatment for depression increased 4x from 1987-2007.</a:t>
            </a:r>
          </a:p>
          <a:p>
            <a:r>
              <a:rPr sz="4200"/>
              <a:t>Prevalence of depression: stayed the same or increased.</a:t>
            </a:r>
          </a:p>
          <a:p>
            <a:endParaRPr sz="4200"/>
          </a:p>
          <a:p>
            <a:r>
              <a:rPr sz="4200"/>
              <a:t>Researchers' conclusion: "Significant prevalence reduction requires not only better treatment but foremost long-term structurally funded prevention targeting powerful determinants."</a:t>
            </a:r>
          </a:p>
          <a:p>
            <a:endParaRPr sz="4200"/>
          </a:p>
          <a:p>
            <a:r>
              <a:rPr sz="4200"/>
              <a:t>"More treatment does not mean less depression."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RELAPSE PROBLEM</a:t>
            </a:r>
          </a:p>
          <a:p>
            <a:r>
              <a:rPr sz="4200"/>
              <a:t>Sources: BMC Psychiatry, BJGP</a:t>
            </a:r>
          </a:p>
          <a:p>
            <a:endParaRPr sz="4200"/>
          </a:p>
          <a:p>
            <a:r>
              <a:rPr sz="4200"/>
              <a:t>After first episode: 50% relapse.</a:t>
            </a:r>
          </a:p>
          <a:p>
            <a:r>
              <a:rPr sz="4200"/>
              <a:t>After second: 70%. After third: 90%.</a:t>
            </a:r>
          </a:p>
          <a:p>
            <a:r>
              <a:rPr sz="4200"/>
              <a:t>85% recurrence within a decade.</a:t>
            </a:r>
          </a:p>
          <a:p>
            <a:r>
              <a:rPr sz="4200"/>
              <a:t>79% of relapses occur within first 6 months.</a:t>
            </a:r>
          </a:p>
          <a:p>
            <a:endParaRPr sz="4200"/>
          </a:p>
          <a:p>
            <a:r>
              <a:rPr sz="4200"/>
              <a:t>"The fire keeps getting relit."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YOUTH CRISIS</a:t>
            </a:r>
          </a:p>
          <a:p>
            <a:r>
              <a:rPr sz="4200"/>
              <a:t>Sources: CDC MMWR 2023, JED Foundation</a:t>
            </a:r>
          </a:p>
          <a:p>
            <a:endParaRPr sz="4200"/>
          </a:p>
          <a:p>
            <a:r>
              <a:rPr sz="4200"/>
              <a:t>Teen depression: 145% increase (2010-2021).</a:t>
            </a:r>
          </a:p>
          <a:p>
            <a:r>
              <a:rPr sz="4200"/>
              <a:t>Suicide deaths ages 10-24: 62% increase (2007-2021).</a:t>
            </a:r>
          </a:p>
          <a:p>
            <a:r>
              <a:rPr sz="4200"/>
              <a:t>1 in 5 high school students seriously considered suicide in 2023.</a:t>
            </a:r>
          </a:p>
          <a:p>
            <a:r>
              <a:rPr sz="4200"/>
              <a:t>Preteen suicide (ages 8+): 8.2% annual increase (2008-2022).</a:t>
            </a:r>
          </a:p>
          <a:p>
            <a:endParaRPr sz="4200"/>
          </a:p>
          <a:p>
            <a:r>
              <a:rPr sz="4200"/>
              <a:t>More therapists, more spending, more awareness than ever.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REPLICATION CRISIS + INSTITUTIONAL LOSS OF CONFIDENCE</a:t>
            </a:r>
          </a:p>
          <a:p>
            <a:r>
              <a:rPr sz="4200"/>
              <a:t>Source: Northwestern IPR</a:t>
            </a:r>
          </a:p>
          <a:p>
            <a:endParaRPr sz="4200"/>
          </a:p>
          <a:p>
            <a:r>
              <a:rPr sz="4200"/>
              <a:t>~40% of psychology studies replicate. The research base itself is unreliable.</a:t>
            </a:r>
          </a:p>
          <a:p>
            <a:endParaRPr sz="4200"/>
          </a:p>
          <a:p>
            <a:r>
              <a:rPr sz="4200"/>
              <a:t>NIMH stopped funding DSM-only research (2013).</a:t>
            </a:r>
          </a:p>
          <a:p>
            <a:r>
              <a:rPr sz="4200"/>
              <a:t>Thomas Insel: DSM diagnoses are "consensus about clusters of clinical symptoms, not any objective laboratory measure."</a:t>
            </a:r>
          </a:p>
          <a:p>
            <a:endParaRPr sz="4200"/>
          </a:p>
          <a:p>
            <a:r>
              <a:rPr sz="4200"/>
              <a:t>The field's own institutions have lost confidence in its diagnostic framework.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PUBLIC SKEPTICISM</a:t>
            </a:r>
          </a:p>
          <a:p>
            <a:r>
              <a:rPr sz="4200"/>
              <a:t>Source: Roper Center / Psychology Today polls</a:t>
            </a:r>
          </a:p>
          <a:p>
            <a:endParaRPr sz="4200"/>
          </a:p>
          <a:p>
            <a:r>
              <a:rPr sz="4200"/>
              <a:t>43% say costs of therapy outweigh benefits (2004).</a:t>
            </a:r>
          </a:p>
          <a:p>
            <a:r>
              <a:rPr sz="4200"/>
              <a:t>38% believe most therapists need therapy themselves (2004).</a:t>
            </a:r>
          </a:p>
          <a:p>
            <a:r>
              <a:rPr sz="4200"/>
              <a:t>Public perceives therapy effective in only 26-50% of cases.</a:t>
            </a:r>
          </a:p>
          <a:p>
            <a:r>
              <a:rPr sz="4200"/>
              <a:t>Psychiatrists rated lower than doctors, nurses, pharmacists, even dentists for honesty/ethics (2012).</a:t>
            </a:r>
          </a:p>
          <a:p>
            <a:endParaRPr sz="4200"/>
          </a:p>
          <a:p>
            <a:r>
              <a:rPr sz="4200"/>
              <a:t>"The public senses something is wrong—even if they can't articulate it. This skepticism has a basis."</a:t>
            </a:r>
          </a:p>
          <a:p>
            <a:endParaRPr sz="4200"/>
          </a:p>
          <a:p>
            <a:r>
              <a:rPr sz="4200"/>
              <a:t>Transition: "How does a field stay broken this long? Let me show you a pattern."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IV: HISTORICAL CATASTROPHES (14 min)</a:t>
            </a:r>
          </a:p>
          <a:p>
            <a:endParaRPr sz="4200"/>
          </a:p>
          <a:p>
            <a:r>
              <a:rPr sz="4200"/>
              <a:t>Setup: These aren't ancient history. These are cases where caring professionals, lacking objective frameworks, got swept up in collective beliefs that destroyed lives. The pattern repeats because the conditions repeat.</a:t>
            </a:r>
          </a:p>
          <a:p>
            <a:endParaRPr sz="4200"/>
          </a:p>
          <a:p>
            <a:r>
              <a:rPr sz="4200"/>
              <a:t>For each case, note the structure: The Belief, The Evidence, The Outcome.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SALEM WITCH TRIALS (1692)</a:t>
            </a:r>
          </a:p>
          <a:p>
            <a:endParaRPr sz="4200"/>
          </a:p>
          <a:p>
            <a:r>
              <a:rPr sz="4200"/>
              <a:t>THE BELIEF: Witches are identifiable by symptoms and accusations. Supernatural forces explain community afflictions.</a:t>
            </a:r>
          </a:p>
          <a:p>
            <a:endParaRPr sz="4200"/>
          </a:p>
          <a:p>
            <a:r>
              <a:rPr sz="4200"/>
              <a:t>THE EVIDENCE: Spectral evidence — visions, fits, accusations from afflicted girls. No physical evidence. No objective test. Testimony of the accusers was sufficient.</a:t>
            </a:r>
          </a:p>
          <a:p>
            <a:endParaRPr sz="4200"/>
          </a:p>
          <a:p>
            <a:r>
              <a:rPr sz="4200"/>
              <a:t>THE OUTCOME: 25+ dead, 200+ accused, families destroyed. Within years, jurors signed public apologies. The court that convicted them was dissolved.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LOBOTOMY EPIDEMIC (1940s-1950s)</a:t>
            </a:r>
          </a:p>
          <a:p>
            <a:endParaRPr sz="4200"/>
          </a:p>
          <a:p>
            <a:r>
              <a:rPr sz="4200"/>
              <a:t>THE BELIEF: Mental illness can be cured by severing connections in the brain. The frontal lobe is the seat of the problem.</a:t>
            </a:r>
          </a:p>
          <a:p>
            <a:endParaRPr sz="4200"/>
          </a:p>
          <a:p>
            <a:r>
              <a:rPr sz="4200"/>
              <a:t>THE EVIDENCE: Patients seemed "calmer" after the procedure. No controlled studies. No long-term outcome tracking. Freeman personally performed 4,000 — on patients as young as 4.</a:t>
            </a:r>
          </a:p>
          <a:p>
            <a:endParaRPr sz="4200"/>
          </a:p>
          <a:p>
            <a:r>
              <a:rPr sz="4200"/>
              <a:t>THE OUTCOME: 50,000+ lobotomies in the US. ~5% mortality rate. Thousands permanently damaged. Rosemary Kennedy permanently incapacitated. Freeman was celebrated — until he was banned. The Soviet Union banned it in 1950 as "contrary to the principles of humanity."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REFRIGERATOR MOTHER THEORY (1950s-1970s)</a:t>
            </a:r>
          </a:p>
          <a:p>
            <a:endParaRPr sz="4200"/>
          </a:p>
          <a:p>
            <a:r>
              <a:rPr sz="4200"/>
              <a:t>THE BELIEF: Autism is caused by cold, unloving mothers who fail to bond with their children. The mother's emotional deficiency causes the child to withdraw.</a:t>
            </a:r>
          </a:p>
          <a:p>
            <a:endParaRPr sz="4200"/>
          </a:p>
          <a:p>
            <a:r>
              <a:rPr sz="4200"/>
              <a:t>THE EVIDENCE: Psychoanalytic interpretation. No empirical studies. No biological evidence. Bruno Bettelheim was the main proponent.</a:t>
            </a:r>
          </a:p>
          <a:p>
            <a:endParaRPr sz="4200"/>
          </a:p>
          <a:p>
            <a:r>
              <a:rPr sz="4200"/>
              <a:t>THE OUTCOME: 20 years blaming mothers for autism. Immense guilt inflicted on families. Children institutionalized rather than supported. Bettelheim was later exposed as a fraud who lied about his credentials and abused patients in his care.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RECOVERED MEMORY CATASTROPHE (1980s-1990s)</a:t>
            </a:r>
          </a:p>
          <a:p>
            <a:r>
              <a:rPr sz="4200"/>
              <a:t>One bad implicit model — repressed memory theory — simultaneously produced three interlocking disasters from a single flawed assumption.</a:t>
            </a:r>
          </a:p>
          <a:p>
            <a:endParaRPr sz="4200"/>
          </a:p>
          <a:p>
            <a:r>
              <a:rPr sz="4200"/>
              <a:t>THE BELIEF: Childhood trauma is routinely repressed, and recoverable through suggestive therapy (hypnosis, guided imagery, leading questions). Repressed abuse supposedly causes personality to "split" into alters. Recovered memories supplied the content — satanic cults ritually abusing children.</a:t>
            </a:r>
          </a:p>
          <a:p>
            <a:endParaRPr sz="4200"/>
          </a:p>
          <a:p>
            <a:r>
              <a:rPr sz="4200"/>
              <a:t>THE EVIDENCE: Patients "remembered" under therapeutic guidance. 95% of adult satanic ritual abuse allegations originated in therapy sessions. Psychiatrist Bennett Braun (1988) linked MPD to satanic cults at a national conference, lending professional credibility. No corroborating physical evidence for any of it. FBI Special Agent Kenneth Lanning's investigation: zero evidence.</a:t>
            </a:r>
          </a:p>
          <a:p>
            <a:endParaRPr sz="4200"/>
          </a:p>
          <a:p>
            <a:r>
              <a:rPr sz="4200"/>
              <a:t>THE OUTCOME:</a:t>
            </a:r>
          </a:p>
          <a:p>
            <a:r>
              <a:rPr sz="4200"/>
              <a:t>• Recovered Memory Therapy: Est. 1 million patients convinced they had repressed memories. "Tens of thousands of families" destroyed by false accusations. People imprisoned on fabricated testimony.</a:t>
            </a:r>
          </a:p>
          <a:p>
            <a:r>
              <a:rPr sz="4200"/>
              <a:t>• MPD/DID Epidemic: 50,000 diagnoses (vs. ~200 in all prior history). 25-50% of MPD patients also "recovered" satanic abuse memories. Patients got worse. Epidemic disappeared when practices stopped — iatrogenic.</a:t>
            </a:r>
          </a:p>
          <a:p>
            <a:r>
              <a:rPr sz="4200"/>
              <a:t>• Satanic Panic: 12,000+ cases alleged. McMartin trial: 7 years, $15M, zero convictions.</a:t>
            </a:r>
          </a:p>
          <a:p>
            <a:endParaRPr sz="4200"/>
          </a:p>
          <a:p>
            <a:r>
              <a:rPr sz="4200"/>
              <a:t>All three fell together. False Memory Syndrome Foundation (1992) countered recovered memory claims. Malpractice suits, license revocations. By 1995 the therapy, the diagnoses, and the panic had all receded.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COMMON PATTERN</a:t>
            </a:r>
          </a:p>
          <a:p>
            <a:r>
              <a:rPr sz="4200"/>
              <a:t>All cases share:</a:t>
            </a:r>
          </a:p>
          <a:p>
            <a:r>
              <a:rPr sz="4200"/>
              <a:t>• No objective evidence</a:t>
            </a:r>
          </a:p>
          <a:p>
            <a:r>
              <a:rPr sz="4200"/>
              <a:t>• No way to test validity</a:t>
            </a:r>
          </a:p>
          <a:p>
            <a:r>
              <a:rPr sz="4200"/>
              <a:t>• Emotion as the glue (fear, care, outrage)</a:t>
            </a:r>
          </a:p>
          <a:p>
            <a:r>
              <a:rPr sz="4200"/>
              <a:t>• Spread through professionals</a:t>
            </a:r>
          </a:p>
          <a:p>
            <a:r>
              <a:rPr sz="4200"/>
              <a:t>• Ended in calamity (deaths, imprisonment, families destroyed)</a:t>
            </a:r>
          </a:p>
          <a:p>
            <a:endParaRPr sz="4200"/>
          </a:p>
          <a:p>
            <a:r>
              <a:rPr sz="4200"/>
              <a:t>The pattern repeats because the conditions repeat: caring professionals without objective frameworks get swept up in collective beliefs.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WHAT ABOUT NOW?</a:t>
            </a:r>
          </a:p>
          <a:p>
            <a:r>
              <a:rPr sz="4200"/>
              <a:t>"I want to pause and invite you to wonder: What social contagions might be happening right now? What topics feel off-limits to question? What beliefs are held with such emotional intensity that questioning them makes you suspect?"</a:t>
            </a:r>
          </a:p>
          <a:p>
            <a:endParaRPr sz="4200"/>
          </a:p>
          <a:p>
            <a:r>
              <a:rPr sz="4200"/>
              <a:t>"I'm not going to name them. You can think of your own."</a:t>
            </a:r>
          </a:p>
          <a:p>
            <a:endParaRPr sz="4200"/>
          </a:p>
          <a:p>
            <a:r>
              <a:rPr sz="4200"/>
              <a:t>"But I want to be clear: I have deep respect for the power of these forces. They are not to be taken lightly. They are not an invitation to convenient rebellion."</a:t>
            </a:r>
          </a:p>
          <a:p>
            <a:endParaRPr sz="4200"/>
          </a:p>
          <a:p>
            <a:r>
              <a:rPr sz="4200"/>
              <a:t>"These forces are real. They serve a function—I believe a biological function. The question is not whether they exist, but whether we can recognize them and respond more thoughtfully than our ancestors did."</a:t>
            </a:r>
          </a:p>
          <a:p>
            <a:endParaRPr sz="4200"/>
          </a:p>
          <a:p>
            <a:r>
              <a:rPr sz="4200"/>
              <a:t>Transition: "Which brings us to: Why does this keep happening?"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4200"/>
              <a:t>Vaclav Havel — Czech playwright, dissident, and president of Czechoslovakia/Czech Republic (1936–2011)</a:t>
            </a:r>
          </a:p>
          <a:p>
            <a:endParaRPr sz="4200"/>
          </a:p>
          <a:p>
            <a:r>
              <a:rPr sz="4200"/>
              <a:t>VACLAV HAVEL QUOTE</a:t>
            </a:r>
          </a:p>
          <a:p>
            <a:endParaRPr sz="4200"/>
          </a:p>
          <a:p>
            <a:r>
              <a:rPr sz="4200"/>
              <a:t>"Hope is not the same thing as optimism. It is not the conviction that something will turn out well, but the certainty that something makes sense, regardless of how it turns out."</a:t>
            </a:r>
          </a:p>
          <a:p>
            <a:endParaRPr sz="4200"/>
          </a:p>
          <a:p>
            <a:r>
              <a:rPr sz="4200"/>
              <a:t>What I'm presenting today is not optimism. It's a bet that this work makes sense.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V: WHY THIS KEEPS HAPPENING (12 min)</a:t>
            </a:r>
          </a:p>
          <a:p>
            <a:endParaRPr sz="4200"/>
          </a:p>
          <a:p>
            <a:r>
              <a:rPr sz="4200"/>
              <a:t>This section introduces the anxiety model: Anxiety = Perceived Uncertainty + Urgency. This is the "A" in SARF. When anxious, people seek any explanation to reduce uncertainty. Untestable, oversimplified ideologies provide psychological relief — but at great expense.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ANXIETY = PERCEIVED UNCERTAINTY + URGENCY</a:t>
            </a:r>
          </a:p>
          <a:p>
            <a:endParaRPr sz="4200"/>
          </a:p>
          <a:p>
            <a:r>
              <a:rPr sz="4200"/>
              <a:t>Core concept (the "A" in SARF): Anxiety occurs when people perceive uncertainty combined with urgency.</a:t>
            </a:r>
          </a:p>
          <a:p>
            <a:endParaRPr sz="4200"/>
          </a:p>
          <a:p>
            <a:r>
              <a:rPr sz="4200"/>
              <a:t>Something in the environment — or in relationships — creates this perception. When anxious, the first thing people do is look for a way to reduce uncertainty. Any explanation feels better than no explanation.</a:t>
            </a:r>
          </a:p>
          <a:p>
            <a:endParaRPr sz="4200"/>
          </a:p>
          <a:p>
            <a:r>
              <a:rPr sz="4200"/>
              <a:t>What all these contagions have in common: They offer an explanation that is (1) Untestable — can't prove it wrong, and (2) Simple — but oversimplified.</a:t>
            </a:r>
          </a:p>
          <a:p>
            <a:endParaRPr sz="4200"/>
          </a:p>
          <a:p>
            <a:r>
              <a:rPr sz="4200"/>
              <a:t>This combination: "explains" the problem, cuts the uncertainty, people perceive uncertainty has gone away, they calm down. "The ideology provides psychological relief. The believers feel better. That's why it spreads."</a:t>
            </a:r>
          </a:p>
          <a:p>
            <a:endParaRPr sz="4200"/>
          </a:p>
          <a:p>
            <a:r>
              <a:rPr sz="4200"/>
              <a:t>Short-term: the ideology solves the suffering of anxiety for believers.</a:t>
            </a:r>
          </a:p>
          <a:p>
            <a:r>
              <a:rPr sz="4200"/>
              <a:t>Long-term: it obscures the true problem — which is that these problems are not well understood.</a:t>
            </a:r>
          </a:p>
          <a:p>
            <a:endParaRPr sz="4200"/>
          </a:p>
          <a:p>
            <a:r>
              <a:rPr sz="4200"/>
              <a:t>The band-aid analogy: One person reacts to a cut knee by calmly applying a band-aid. Another runs into the house screaming bloody murder, breaking furniture, distressing their spouse who leaves the stove on rushing to the hospital, burning the house down.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CAMBRIDGE-SOMERVILLE YOUTH STUDY</a:t>
            </a:r>
          </a:p>
          <a:p>
            <a:r>
              <a:rPr sz="4200"/>
              <a:t>506 boys, matched pairs, random assignment. Treatment: counseling, mentorship, summer camp, caring adults.</a:t>
            </a:r>
          </a:p>
          <a:p>
            <a:endParaRPr sz="4200"/>
          </a:p>
          <a:p>
            <a:r>
              <a:rPr sz="4200"/>
              <a:t>30-year result (Joan McCord follow-up): treatment group had more criminal offending, more alcohol abuse, more mental illness symptoms, lower occupational prestige, lower job satisfaction, more stress disorders, and earlier death.</a:t>
            </a:r>
          </a:p>
          <a:p>
            <a:endParaRPr sz="4200"/>
          </a:p>
          <a:p>
            <a:r>
              <a:rPr sz="4200"/>
              <a:t>Joan McCord: "No one had ever discussed the possibility that intervention... that there is any potential for harmful effects."</a:t>
            </a:r>
          </a:p>
          <a:p>
            <a:endParaRPr sz="4200"/>
          </a:p>
          <a:p>
            <a:r>
              <a:rPr sz="4200"/>
              <a:t>Also: DARE (80% of schools, no effect), Scared Straight (kids did worse).</a:t>
            </a:r>
          </a:p>
          <a:p>
            <a:endParaRPr sz="4200"/>
          </a:p>
          <a:p>
            <a:r>
              <a:rPr sz="4200"/>
              <a:t>"Caring isn't enough. Without measurement, caring can hurt."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4200"/>
              <a:t>Richard Feynman — American theoretical physicist, Nobel laureate (1918–1988)</a:t>
            </a:r>
          </a:p>
          <a:p>
            <a:endParaRPr sz="4200"/>
          </a:p>
          <a:p>
            <a:r>
              <a:rPr sz="4200"/>
              <a:t>FEYNMAN QUOTE</a:t>
            </a:r>
          </a:p>
          <a:p>
            <a:endParaRPr sz="4200"/>
          </a:p>
          <a:p>
            <a:r>
              <a:rPr sz="4200"/>
              <a:t>"The first principle is that you must not fool yourself — and you are the easiest person to fool."</a:t>
            </a:r>
          </a:p>
          <a:p>
            <a:endParaRPr sz="4200"/>
          </a:p>
          <a:p>
            <a:r>
              <a:rPr sz="4200"/>
              <a:t>Scientific thinking = "What would have to be true for me to be wrong?" The willingness to be falsified. Nobody in these historical cases asked: "What if we're making it worse?"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VI: THE PROPOSAL (12 min)</a:t>
            </a:r>
          </a:p>
          <a:p>
            <a:endParaRPr sz="4200"/>
          </a:p>
          <a:p>
            <a:r>
              <a:rPr sz="4200"/>
              <a:t>Scientific thinking is the antidote. Scientific thinking = "What would have to be true for me to be wrong?" The willingness to be falsified. Nobody in these historical cases asked: "What if we're making it worse?"</a:t>
            </a:r>
          </a:p>
          <a:p>
            <a:endParaRPr sz="4200"/>
          </a:p>
          <a:p>
            <a:r>
              <a:rPr sz="4200"/>
              <a:t>"A field that doesn't ask 'what if we're wrong?' will eventually be wrong in catastrophic ways."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4200" dirty="0"/>
              <a:t>James Gleick — American author and science historian (b. 1954), from Chaos: Making a New Science (1987)</a:t>
            </a:r>
          </a:p>
          <a:p>
            <a:endParaRPr sz="4200" dirty="0"/>
          </a:p>
          <a:p>
            <a:r>
              <a:rPr sz="4200" dirty="0"/>
              <a:t>GLEICK QUOTE</a:t>
            </a:r>
          </a:p>
          <a:p>
            <a:endParaRPr sz="4200" dirty="0"/>
          </a:p>
          <a:p>
            <a:r>
              <a:rPr sz="4200" dirty="0"/>
              <a:t>"You don't see something until you have the right metaphor to let you perceive it."</a:t>
            </a:r>
          </a:p>
          <a:p>
            <a:endParaRPr sz="4200" dirty="0"/>
          </a:p>
          <a:p>
            <a:r>
              <a:rPr sz="4200" dirty="0"/>
              <a:t>Transition into the Blade of Grass metaphor.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BLADE OF GRASS</a:t>
            </a:r>
          </a:p>
          <a:p>
            <a:r>
              <a:rPr sz="4200"/>
              <a:t>Studying a blade of grass to understand why it bends. Measuring angle, position, structure. Still can't predict movement.</a:t>
            </a:r>
          </a:p>
          <a:p>
            <a:endParaRPr sz="4200"/>
          </a:p>
          <a:p>
            <a:r>
              <a:rPr sz="4200"/>
              <a:t>Because the grass isn't the phenomenon. The wind is.</a:t>
            </a:r>
          </a:p>
          <a:p>
            <a:endParaRPr sz="4200"/>
          </a:p>
          <a:p>
            <a:r>
              <a:rPr sz="4200"/>
              <a:t>"We've spent 80 years studying individuals. The pattern is in the system."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4200"/>
              <a:t>Ursula K. Le Guin — American novelist and essayist (1929–2018), from The Dispossessed (1974)</a:t>
            </a:r>
          </a:p>
          <a:p>
            <a:endParaRPr sz="4200"/>
          </a:p>
          <a:p>
            <a:r>
              <a:rPr sz="4200"/>
              <a:t>LE GUIN QUOTE</a:t>
            </a:r>
          </a:p>
          <a:p>
            <a:endParaRPr sz="4200"/>
          </a:p>
          <a:p>
            <a:r>
              <a:rPr sz="4200"/>
              <a:t>"If you see a whole thing — it seems that it's always beautiful. Planets, lives... But up close a world's all dirt and rocks. And day to day, life's a hard job, you get tired, you lose the pattern."</a:t>
            </a:r>
          </a:p>
          <a:p>
            <a:endParaRPr sz="4200"/>
          </a:p>
          <a:p>
            <a:r>
              <a:rPr sz="4200"/>
              <a:t>Transition into Why Family — the smallest system where you can see the whole thing.</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WHY FAMILY?</a:t>
            </a:r>
          </a:p>
          <a:p>
            <a:r>
              <a:rPr sz="4200"/>
              <a:t>Family is the smallest system where the pattern is visible.</a:t>
            </a:r>
          </a:p>
          <a:p>
            <a:r>
              <a:rPr sz="4200"/>
              <a:t>Not society (too big, can't intervene).</a:t>
            </a:r>
          </a:p>
          <a:p>
            <a:r>
              <a:rPr sz="4200"/>
              <a:t>Not the individual (misses the pattern).</a:t>
            </a:r>
          </a:p>
          <a:p>
            <a:r>
              <a:rPr sz="4200"/>
              <a:t>One level up from the blade of grass.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FACTS CALM PEOPLE DOWN</a:t>
            </a:r>
          </a:p>
          <a:p>
            <a:endParaRPr sz="4200"/>
          </a:p>
          <a:p>
            <a:r>
              <a:rPr sz="4200"/>
              <a:t>The Common Currency Argument: Everyone knows what a dollar is — global markets. Without common currency — barter — no coordination. Without measurable concepts — opinion vs. opinion — loudest voice wins.</a:t>
            </a:r>
          </a:p>
          <a:p>
            <a:endParaRPr sz="4200"/>
          </a:p>
          <a:p>
            <a:r>
              <a:rPr sz="4200"/>
              <a:t>First move in family therapy: gather facts. A fact = something everyone can easily agree on. Facts establish a depolarized baseline. Without facts: tribal hierarchy — emotionally determined outcomes.</a:t>
            </a:r>
          </a:p>
          <a:p>
            <a:endParaRPr sz="4200"/>
          </a:p>
          <a:p>
            <a:r>
              <a:rPr sz="4200"/>
              <a:t>"Measurability provides a healthier way to reduce uncertainty than ideology. Facts calm people down without the catastrophic side effects."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WHAT YOU'LL GET TODAY</a:t>
            </a:r>
          </a:p>
          <a:p>
            <a:r>
              <a:rPr sz="4200"/>
              <a:t>Preview of the day's remaining sessions:</a:t>
            </a:r>
          </a:p>
          <a:p>
            <a:r>
              <a:rPr sz="4200"/>
              <a:t>• SARF: Measurable concepts for family-level patterns — including "A" for anxiety</a:t>
            </a:r>
          </a:p>
          <a:p>
            <a:r>
              <a:rPr sz="4200"/>
              <a:t>• AI Tools: Technology to capture what we're learning to see</a:t>
            </a:r>
          </a:p>
          <a:p>
            <a:r>
              <a:rPr sz="4200"/>
              <a:t>• App Demo: Practical tools you can use Monday</a:t>
            </a:r>
          </a:p>
          <a:p>
            <a:r>
              <a:rPr sz="4200"/>
              <a:t>• Clinical Case: Evidence it works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4200"/>
              <a:t>Barbara McClintock — American cytogeneticist, Nobel laureate in Physiology or Medicine (1902–1992)</a:t>
            </a:r>
          </a:p>
          <a:p>
            <a:r>
              <a:rPr sz="4200"/>
              <a:t>Mary Oliver — American poet, Pulitzer Prize winner (1935–2019)</a:t>
            </a:r>
          </a:p>
          <a:p>
            <a:endParaRPr sz="4200"/>
          </a:p>
          <a:p>
            <a:r>
              <a:rPr sz="4200"/>
              <a:t>McCLINTOCK + OLIVER</a:t>
            </a:r>
          </a:p>
          <a:p>
            <a:endParaRPr sz="4200"/>
          </a:p>
          <a:p>
            <a:r>
              <a:rPr sz="4200"/>
              <a:t>McClintock spent decades observing individual corn plants so closely that she could recognize each one. Ignored for 30 years. Won the Nobel Prize.</a:t>
            </a:r>
          </a:p>
          <a:p>
            <a:endParaRPr sz="4200"/>
          </a:p>
          <a:p>
            <a:r>
              <a:rPr sz="4200"/>
              <a:t>"If you know you are on the right track, if you have this inner knowledge, then nobody can turn you off... regardless of what they say."</a:t>
            </a:r>
          </a:p>
          <a:p>
            <a:endParaRPr sz="4200"/>
          </a:p>
          <a:p>
            <a:r>
              <a:rPr sz="4200"/>
              <a:t>The observation has to come first. Before the models, before the technology.</a:t>
            </a:r>
          </a:p>
          <a:p>
            <a:endParaRPr sz="4200"/>
          </a:p>
          <a:p>
            <a:r>
              <a:rPr sz="4200"/>
              <a:t>Mary Oliver: "Attention is the beginning of devotion."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CLOSING / CALL TO ACTION</a:t>
            </a:r>
          </a:p>
          <a:p>
            <a:endParaRPr sz="4200"/>
          </a:p>
          <a:p>
            <a:r>
              <a:rPr sz="4200"/>
              <a:t>"Everyone needs scientific thinking."</a:t>
            </a:r>
          </a:p>
          <a:p>
            <a:endParaRPr sz="4200"/>
          </a:p>
          <a:p>
            <a:r>
              <a:rPr sz="4200"/>
              <a:t>"Before your next intake, draw the family."</a:t>
            </a:r>
          </a:p>
          <a:p>
            <a:endParaRPr sz="4200"/>
          </a:p>
          <a:p>
            <a:r>
              <a:rPr sz="4200"/>
              <a:t>"Before your next intervention, ask: How would I know if this is making things worse?"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a:p>
        </p:txBody>
      </p:sp>
      <p:sp>
        <p:nvSpPr>
          <p:cNvPr id="3" name="Text 1"/>
          <p:cNvSpPr/>
          <p:nvPr/>
        </p:nvSpPr>
        <p:spPr>
          <a:xfrm>
            <a:off x="731520" y="822960"/>
            <a:ext cx="7680960" cy="1188720"/>
          </a:xfrm>
          <a:prstGeom prst="rect">
            <a:avLst/>
          </a:prstGeom>
          <a:noFill/>
          <a:ln/>
        </p:spPr>
        <p:txBody>
          <a:bodyPr wrap="square" lIns="0" tIns="0" rIns="0" bIns="0" rtlCol="0" anchor="ctr"/>
          <a:lstStyle/>
          <a:p>
            <a:pPr marL="0" indent="0">
              <a:buNone/>
            </a:pPr>
            <a:r>
              <a:rPr lang="en-US" sz="4600" b="1" dirty="0">
                <a:solidFill>
                  <a:srgbClr val="FFFFFF"/>
                </a:solidFill>
                <a:latin typeface="Georgia" pitchFamily="34" charset="0"/>
                <a:ea typeface="Georgia" pitchFamily="34" charset="-122"/>
                <a:cs typeface="Georgia" pitchFamily="34" charset="-120"/>
              </a:rPr>
              <a:t>Why Family?</a:t>
            </a:r>
            <a:endParaRPr lang="en-US" sz="4600" dirty="0"/>
          </a:p>
        </p:txBody>
      </p:sp>
      <p:sp>
        <p:nvSpPr>
          <p:cNvPr id="4" name="Text 2"/>
          <p:cNvSpPr/>
          <p:nvPr/>
        </p:nvSpPr>
        <p:spPr>
          <a:xfrm>
            <a:off x="731520" y="2011680"/>
            <a:ext cx="7680960" cy="731520"/>
          </a:xfrm>
          <a:prstGeom prst="rect">
            <a:avLst/>
          </a:prstGeom>
          <a:noFill/>
          <a:ln/>
        </p:spPr>
        <p:txBody>
          <a:bodyPr wrap="square" lIns="0" tIns="0" rIns="0" bIns="0" rtlCol="0" anchor="ctr"/>
          <a:lstStyle/>
          <a:p>
            <a:pPr marL="0" indent="0">
              <a:buNone/>
            </a:pPr>
            <a:r>
              <a:rPr lang="en-US" sz="2400" dirty="0">
                <a:solidFill>
                  <a:srgbClr val="22D3EE"/>
                </a:solidFill>
                <a:latin typeface="Calibri" pitchFamily="34" charset="0"/>
                <a:ea typeface="Calibri" pitchFamily="34" charset="-122"/>
                <a:cs typeface="Calibri" pitchFamily="34" charset="-120"/>
              </a:rPr>
              <a:t>The State of Behavioral Health</a:t>
            </a:r>
            <a:endParaRPr lang="en-US" sz="2400" dirty="0"/>
          </a:p>
        </p:txBody>
      </p:sp>
      <p:sp>
        <p:nvSpPr>
          <p:cNvPr id="5" name="Shape 3"/>
          <p:cNvSpPr/>
          <p:nvPr/>
        </p:nvSpPr>
        <p:spPr>
          <a:xfrm>
            <a:off x="731520" y="2926080"/>
            <a:ext cx="1097280" cy="36576"/>
          </a:xfrm>
          <a:prstGeom prst="rect">
            <a:avLst/>
          </a:prstGeom>
          <a:solidFill>
            <a:srgbClr val="0891B2"/>
          </a:solidFill>
          <a:ln/>
        </p:spPr>
        <p:txBody>
          <a:bodyPr/>
          <a:lstStyle/>
          <a:p>
            <a:endParaRPr/>
          </a:p>
        </p:txBody>
      </p:sp>
      <p:sp>
        <p:nvSpPr>
          <p:cNvPr id="6" name="Text 4"/>
          <p:cNvSpPr/>
          <p:nvPr/>
        </p:nvSpPr>
        <p:spPr>
          <a:xfrm>
            <a:off x="731520" y="3200400"/>
            <a:ext cx="3657600" cy="36576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Presentation 1 of 5</a:t>
            </a:r>
            <a:endParaRPr lang="en-US" sz="1300" dirty="0"/>
          </a:p>
        </p:txBody>
      </p:sp>
      <p:sp>
        <p:nvSpPr>
          <p:cNvPr id="7" name="Text 5"/>
          <p:cNvSpPr/>
          <p:nvPr/>
        </p:nvSpPr>
        <p:spPr>
          <a:xfrm>
            <a:off x="731520" y="3749040"/>
            <a:ext cx="3657600" cy="36576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Dr. Patrick Stinson</a:t>
            </a:r>
            <a:endParaRPr lang="en-US" sz="1600" dirty="0"/>
          </a:p>
        </p:txBody>
      </p:sp>
      <p:sp>
        <p:nvSpPr>
          <p:cNvPr id="8" name="Text 6"/>
          <p:cNvSpPr/>
          <p:nvPr/>
        </p:nvSpPr>
        <p:spPr>
          <a:xfrm>
            <a:off x="731520" y="4114800"/>
            <a:ext cx="3657600" cy="36576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Alaska Family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731520" y="731520"/>
            <a:ext cx="7680960" cy="731520"/>
          </a:xfrm>
          <a:prstGeom prst="rect">
            <a:avLst/>
          </a:prstGeom>
          <a:noFill/>
          <a:ln/>
        </p:spPr>
        <p:txBody>
          <a:bodyPr wrap="square" lIns="0" tIns="0" rIns="0" bIns="0"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Materials &amp; Sources Online</a:t>
            </a:r>
            <a:endParaRPr lang="en-US" sz="3000" dirty="0"/>
          </a:p>
        </p:txBody>
      </p:sp>
      <p:sp>
        <p:nvSpPr>
          <p:cNvPr id="3" name="Text 1"/>
          <p:cNvSpPr/>
          <p:nvPr/>
        </p:nvSpPr>
        <p:spPr>
          <a:xfrm>
            <a:off x="731520" y="1645920"/>
            <a:ext cx="7680960" cy="731520"/>
          </a:xfrm>
          <a:prstGeom prst="rect">
            <a:avLst/>
          </a:prstGeom>
          <a:noFill/>
          <a:ln/>
        </p:spPr>
        <p:txBody>
          <a:bodyPr wrap="square" lIns="0" tIns="0" rIns="0" bIns="0" rtlCol="0" anchor="ctr"/>
          <a:lstStyle/>
          <a:p>
            <a:pPr marL="0" indent="0">
              <a:lnSpc>
                <a:spcPct val="150000"/>
              </a:lnSpc>
              <a:buNone/>
            </a:pPr>
            <a:r>
              <a:rPr lang="en-US" sz="1600" dirty="0">
                <a:solidFill>
                  <a:srgbClr val="94A3B8"/>
                </a:solidFill>
                <a:latin typeface="Calibri" pitchFamily="34" charset="0"/>
                <a:ea typeface="Calibri" pitchFamily="34" charset="-122"/>
                <a:cs typeface="Calibri" pitchFamily="34" charset="-120"/>
              </a:rPr>
              <a:t>All notes and sources for today's presentations are available online.</a:t>
            </a:r>
            <a:endParaRPr lang="en-US" sz="1600" dirty="0"/>
          </a:p>
          <a:p>
            <a:pPr marL="0" indent="0">
              <a:lnSpc>
                <a:spcPct val="150000"/>
              </a:lnSpc>
              <a:buNone/>
            </a:pPr>
            <a:r>
              <a:rPr lang="en-US" sz="1600" dirty="0">
                <a:solidFill>
                  <a:srgbClr val="94A3B8"/>
                </a:solidFill>
                <a:latin typeface="Calibri" pitchFamily="34" charset="0"/>
                <a:ea typeface="Calibri" pitchFamily="34" charset="-122"/>
                <a:cs typeface="Calibri" pitchFamily="34" charset="-120"/>
              </a:rPr>
              <a:t>Follow along, review later, or share with colleagues.</a:t>
            </a:r>
            <a:endParaRPr lang="en-US" sz="1600" dirty="0"/>
          </a:p>
        </p:txBody>
      </p:sp>
      <p:sp>
        <p:nvSpPr>
          <p:cNvPr id="4" name="Shape 2"/>
          <p:cNvSpPr/>
          <p:nvPr/>
        </p:nvSpPr>
        <p:spPr>
          <a:xfrm>
            <a:off x="1371600" y="2743200"/>
            <a:ext cx="6400800" cy="1097280"/>
          </a:xfrm>
          <a:prstGeom prst="rect">
            <a:avLst/>
          </a:prstGeom>
          <a:solidFill>
            <a:srgbClr val="1B2A4A"/>
          </a:solidFill>
          <a:ln/>
        </p:spPr>
        <p:txBody>
          <a:bodyPr/>
          <a:lstStyle/>
          <a:p>
            <a:endParaRPr/>
          </a:p>
        </p:txBody>
      </p:sp>
      <p:sp>
        <p:nvSpPr>
          <p:cNvPr id="5" name="Shape 3"/>
          <p:cNvSpPr/>
          <p:nvPr/>
        </p:nvSpPr>
        <p:spPr>
          <a:xfrm>
            <a:off x="1371600" y="2743200"/>
            <a:ext cx="6400800" cy="54864"/>
          </a:xfrm>
          <a:prstGeom prst="rect">
            <a:avLst/>
          </a:prstGeom>
          <a:solidFill>
            <a:srgbClr val="0891B2"/>
          </a:solidFill>
          <a:ln/>
        </p:spPr>
        <p:txBody>
          <a:bodyPr/>
          <a:lstStyle/>
          <a:p>
            <a:endParaRPr/>
          </a:p>
        </p:txBody>
      </p:sp>
      <p:sp>
        <p:nvSpPr>
          <p:cNvPr id="6" name="Text 4"/>
          <p:cNvSpPr/>
          <p:nvPr/>
        </p:nvSpPr>
        <p:spPr>
          <a:xfrm>
            <a:off x="1371600" y="2834640"/>
            <a:ext cx="6400800" cy="914400"/>
          </a:xfrm>
          <a:prstGeom prst="rect">
            <a:avLst/>
          </a:prstGeom>
          <a:noFill/>
          <a:ln/>
        </p:spPr>
        <p:txBody>
          <a:bodyPr wrap="square" lIns="0" tIns="0" rIns="0" bIns="0" rtlCol="0" anchor="ctr"/>
          <a:lstStyle/>
          <a:p>
            <a:pPr marL="0" indent="0" algn="ctr">
              <a:buNone/>
            </a:pPr>
            <a:r>
              <a:rPr lang="en-US" sz="2400" b="1" dirty="0">
                <a:solidFill>
                  <a:srgbClr val="22D3EE"/>
                </a:solidFill>
                <a:latin typeface="Calibri" pitchFamily="34" charset="0"/>
                <a:ea typeface="Calibri" pitchFamily="34" charset="-122"/>
                <a:cs typeface="Calibri" pitchFamily="34" charset="-120"/>
              </a:rPr>
              <a:t>github.com/patrickkidd/ffrn-2026</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7490"/>
        </a:solidFill>
        <a:effectLst/>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marL="0" indent="0" algn="ctr">
              <a:buNone/>
            </a:pPr>
            <a:r>
              <a:rPr lang="en-US" sz="4800" b="1" dirty="0">
                <a:solidFill>
                  <a:srgbClr val="FFFFFF"/>
                </a:solidFill>
                <a:latin typeface="Georgia" pitchFamily="34" charset="0"/>
                <a:ea typeface="Georgia" pitchFamily="34" charset="-122"/>
                <a:cs typeface="Georgia" pitchFamily="34" charset="-120"/>
              </a:rPr>
              <a:t>II</a:t>
            </a:r>
            <a:endParaRPr lang="en-US" sz="4800" dirty="0"/>
          </a:p>
        </p:txBody>
      </p:sp>
      <p:sp>
        <p:nvSpPr>
          <p:cNvPr id="3" name="Shape 1"/>
          <p:cNvSpPr/>
          <p:nvPr/>
        </p:nvSpPr>
        <p:spPr>
          <a:xfrm>
            <a:off x="2011680" y="1371600"/>
            <a:ext cx="36576" cy="640080"/>
          </a:xfrm>
          <a:prstGeom prst="rect">
            <a:avLst/>
          </a:prstGeom>
          <a:solidFill>
            <a:srgbClr val="22D3EE"/>
          </a:solidFill>
          <a:ln/>
        </p:spPr>
        <p:txBody>
          <a:bodyPr/>
          <a:lstStyle/>
          <a:p>
            <a:endParaRPr/>
          </a:p>
        </p:txBody>
      </p:sp>
      <p:sp>
        <p:nvSpPr>
          <p:cNvPr id="4" name="Text 2"/>
          <p:cNvSpPr/>
          <p:nvPr/>
        </p:nvSpPr>
        <p:spPr>
          <a:xfrm>
            <a:off x="2286000" y="1005840"/>
            <a:ext cx="5486400" cy="118872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The Engineer's</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Confession</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marL="0" indent="0">
              <a:buNone/>
            </a:pPr>
            <a:r>
              <a:rPr lang="en-US" sz="1300" i="1" dirty="0">
                <a:solidFill>
                  <a:srgbClr val="22D3EE"/>
                </a:solidFill>
                <a:latin typeface="Calibri" pitchFamily="34" charset="0"/>
                <a:ea typeface="Calibri" pitchFamily="34" charset="-122"/>
                <a:cs typeface="Calibri" pitchFamily="34" charset="-120"/>
              </a:rPr>
              <a:t>3 minutes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715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914400"/>
            <a:ext cx="7315200" cy="2286000"/>
          </a:xfrm>
          <a:prstGeom prst="rect">
            <a:avLst/>
          </a:prstGeom>
          <a:noFill/>
        </p:spPr>
        <p:txBody>
          <a:bodyPr wrap="square">
            <a:spAutoFit/>
          </a:bodyPr>
          <a:lstStyle/>
          <a:p>
            <a:pPr algn="l"/>
            <a:r>
              <a:rPr sz="2400" i="1">
                <a:solidFill>
                  <a:srgbClr val="22D3EE"/>
                </a:solidFill>
                <a:latin typeface="Georgia"/>
              </a:rPr>
              <a:t>"The mind that is not baffled is not employed.
The impeded stream is the one that sings."</a:t>
            </a:r>
          </a:p>
        </p:txBody>
      </p:sp>
      <p:sp>
        <p:nvSpPr>
          <p:cNvPr id="4" name="TextBox 3"/>
          <p:cNvSpPr txBox="1"/>
          <p:nvPr/>
        </p:nvSpPr>
        <p:spPr>
          <a:xfrm>
            <a:off x="914400" y="3200400"/>
            <a:ext cx="7315200" cy="457200"/>
          </a:xfrm>
          <a:prstGeom prst="rect">
            <a:avLst/>
          </a:prstGeom>
          <a:noFill/>
        </p:spPr>
        <p:txBody>
          <a:bodyPr wrap="square">
            <a:spAutoFit/>
          </a:bodyPr>
          <a:lstStyle/>
          <a:p>
            <a:pPr algn="l"/>
            <a:r>
              <a:rPr sz="1600">
                <a:solidFill>
                  <a:srgbClr val="94A3B8"/>
                </a:solidFill>
                <a:latin typeface="Calibri"/>
              </a:rPr>
              <a:t>— Wendell Berry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E7490"/>
        </a:solidFill>
        <a:effectLst/>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marL="0" indent="0" algn="ctr">
              <a:buNone/>
            </a:pPr>
            <a:r>
              <a:rPr lang="en-US" sz="4800" b="1" dirty="0">
                <a:solidFill>
                  <a:srgbClr val="FFFFFF"/>
                </a:solidFill>
                <a:latin typeface="Georgia" pitchFamily="34" charset="0"/>
                <a:ea typeface="Georgia" pitchFamily="34" charset="-122"/>
                <a:cs typeface="Georgia" pitchFamily="34" charset="-120"/>
              </a:rPr>
              <a:t>III</a:t>
            </a:r>
            <a:endParaRPr lang="en-US" sz="4800" dirty="0"/>
          </a:p>
        </p:txBody>
      </p:sp>
      <p:sp>
        <p:nvSpPr>
          <p:cNvPr id="3" name="Shape 1"/>
          <p:cNvSpPr/>
          <p:nvPr/>
        </p:nvSpPr>
        <p:spPr>
          <a:xfrm>
            <a:off x="2011680" y="1371600"/>
            <a:ext cx="36576" cy="640080"/>
          </a:xfrm>
          <a:prstGeom prst="rect">
            <a:avLst/>
          </a:prstGeom>
          <a:solidFill>
            <a:srgbClr val="22D3EE"/>
          </a:solidFill>
          <a:ln/>
        </p:spPr>
        <p:txBody>
          <a:bodyPr/>
          <a:lstStyle/>
          <a:p>
            <a:endParaRPr/>
          </a:p>
        </p:txBody>
      </p:sp>
      <p:sp>
        <p:nvSpPr>
          <p:cNvPr id="4" name="Text 2"/>
          <p:cNvSpPr/>
          <p:nvPr/>
        </p:nvSpPr>
        <p:spPr>
          <a:xfrm>
            <a:off x="2286000" y="1005840"/>
            <a:ext cx="5486400" cy="118872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The Field</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Is Broken</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marL="0" indent="0">
              <a:buNone/>
            </a:pPr>
            <a:r>
              <a:rPr lang="en-US" sz="1300" i="1" dirty="0">
                <a:solidFill>
                  <a:srgbClr val="22D3EE"/>
                </a:solidFill>
                <a:latin typeface="Calibri" pitchFamily="34" charset="0"/>
                <a:ea typeface="Calibri" pitchFamily="34" charset="-122"/>
                <a:cs typeface="Calibri" pitchFamily="34" charset="-120"/>
              </a:rPr>
              <a:t>8 minutes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0F4F8"/>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The Treatment-Prevalence Paradox</a:t>
            </a:r>
            <a:endParaRPr lang="en-US" sz="2800" dirty="0"/>
          </a:p>
        </p:txBody>
      </p:sp>
      <p:sp>
        <p:nvSpPr>
          <p:cNvPr id="3" name="Shape 1"/>
          <p:cNvSpPr/>
          <p:nvPr/>
        </p:nvSpPr>
        <p:spPr>
          <a:xfrm>
            <a:off x="731520" y="1280160"/>
            <a:ext cx="3657600" cy="20116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4" name="Shape 2"/>
          <p:cNvSpPr/>
          <p:nvPr/>
        </p:nvSpPr>
        <p:spPr>
          <a:xfrm>
            <a:off x="731520" y="1280160"/>
            <a:ext cx="3657600" cy="54864"/>
          </a:xfrm>
          <a:prstGeom prst="rect">
            <a:avLst/>
          </a:prstGeom>
          <a:solidFill>
            <a:srgbClr val="0891B2"/>
          </a:solidFill>
          <a:ln/>
        </p:spPr>
        <p:txBody>
          <a:bodyPr/>
          <a:lstStyle/>
          <a:p>
            <a:endParaRPr/>
          </a:p>
        </p:txBody>
      </p:sp>
      <p:sp>
        <p:nvSpPr>
          <p:cNvPr id="5" name="Text 3"/>
          <p:cNvSpPr/>
          <p:nvPr/>
        </p:nvSpPr>
        <p:spPr>
          <a:xfrm>
            <a:off x="731520" y="1508760"/>
            <a:ext cx="3657600" cy="822960"/>
          </a:xfrm>
          <a:prstGeom prst="rect">
            <a:avLst/>
          </a:prstGeom>
          <a:noFill/>
          <a:ln/>
        </p:spPr>
        <p:txBody>
          <a:bodyPr wrap="square" lIns="0" tIns="0" rIns="0" bIns="0" rtlCol="0" anchor="ctr"/>
          <a:lstStyle/>
          <a:p>
            <a:pPr marL="0" indent="0" algn="ctr">
              <a:buNone/>
            </a:pPr>
            <a:r>
              <a:rPr lang="en-US" sz="6400" b="1" dirty="0">
                <a:solidFill>
                  <a:srgbClr val="0891B2"/>
                </a:solidFill>
                <a:latin typeface="Georgia" pitchFamily="34" charset="0"/>
                <a:ea typeface="Georgia" pitchFamily="34" charset="-122"/>
                <a:cs typeface="Georgia" pitchFamily="34" charset="-120"/>
              </a:rPr>
              <a:t>4x</a:t>
            </a:r>
            <a:endParaRPr lang="en-US" sz="6400" dirty="0"/>
          </a:p>
        </p:txBody>
      </p:sp>
      <p:sp>
        <p:nvSpPr>
          <p:cNvPr id="6" name="Text 4"/>
          <p:cNvSpPr/>
          <p:nvPr/>
        </p:nvSpPr>
        <p:spPr>
          <a:xfrm>
            <a:off x="1005840" y="2331720"/>
            <a:ext cx="3108960" cy="731520"/>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more treatment for depression</a:t>
            </a:r>
            <a:endParaRPr lang="en-US" sz="1400" dirty="0"/>
          </a:p>
          <a:p>
            <a:pPr marL="0" indent="0" algn="ctr">
              <a:buNone/>
            </a:pPr>
            <a:r>
              <a:rPr lang="en-US" sz="1400" dirty="0">
                <a:solidFill>
                  <a:srgbClr val="475569"/>
                </a:solidFill>
                <a:latin typeface="Calibri" pitchFamily="34" charset="0"/>
                <a:ea typeface="Calibri" pitchFamily="34" charset="-122"/>
                <a:cs typeface="Calibri" pitchFamily="34" charset="-120"/>
              </a:rPr>
              <a:t>(1987–2007)</a:t>
            </a:r>
            <a:endParaRPr lang="en-US" sz="1400" dirty="0"/>
          </a:p>
        </p:txBody>
      </p:sp>
      <p:sp>
        <p:nvSpPr>
          <p:cNvPr id="7" name="Shape 5"/>
          <p:cNvSpPr/>
          <p:nvPr/>
        </p:nvSpPr>
        <p:spPr>
          <a:xfrm>
            <a:off x="4754880" y="1280160"/>
            <a:ext cx="3657600" cy="20116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8" name="Shape 6"/>
          <p:cNvSpPr/>
          <p:nvPr/>
        </p:nvSpPr>
        <p:spPr>
          <a:xfrm>
            <a:off x="4754880" y="1280160"/>
            <a:ext cx="3657600" cy="54864"/>
          </a:xfrm>
          <a:prstGeom prst="rect">
            <a:avLst/>
          </a:prstGeom>
          <a:solidFill>
            <a:srgbClr val="D97706"/>
          </a:solidFill>
          <a:ln/>
        </p:spPr>
        <p:txBody>
          <a:bodyPr/>
          <a:lstStyle/>
          <a:p>
            <a:endParaRPr/>
          </a:p>
        </p:txBody>
      </p:sp>
      <p:sp>
        <p:nvSpPr>
          <p:cNvPr id="9" name="Text 7"/>
          <p:cNvSpPr/>
          <p:nvPr/>
        </p:nvSpPr>
        <p:spPr>
          <a:xfrm>
            <a:off x="4754880" y="1508760"/>
            <a:ext cx="3657600" cy="822960"/>
          </a:xfrm>
          <a:prstGeom prst="rect">
            <a:avLst/>
          </a:prstGeom>
          <a:noFill/>
          <a:ln/>
        </p:spPr>
        <p:txBody>
          <a:bodyPr wrap="square" lIns="0" tIns="0" rIns="0" bIns="0" rtlCol="0" anchor="ctr"/>
          <a:lstStyle/>
          <a:p>
            <a:pPr marL="0" indent="0" algn="ctr">
              <a:buNone/>
            </a:pPr>
            <a:r>
              <a:rPr lang="en-US" sz="6400" b="1" dirty="0">
                <a:solidFill>
                  <a:srgbClr val="D97706"/>
                </a:solidFill>
                <a:latin typeface="Georgia" pitchFamily="34" charset="0"/>
                <a:ea typeface="Georgia" pitchFamily="34" charset="-122"/>
                <a:cs typeface="Georgia" pitchFamily="34" charset="-120"/>
              </a:rPr>
              <a:t>0%</a:t>
            </a:r>
            <a:endParaRPr lang="en-US" sz="6400" dirty="0"/>
          </a:p>
        </p:txBody>
      </p:sp>
      <p:sp>
        <p:nvSpPr>
          <p:cNvPr id="10" name="Text 8"/>
          <p:cNvSpPr/>
          <p:nvPr/>
        </p:nvSpPr>
        <p:spPr>
          <a:xfrm>
            <a:off x="5029200" y="2331720"/>
            <a:ext cx="3108960" cy="731520"/>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reduction in prevalence</a:t>
            </a:r>
            <a:endParaRPr lang="en-US" sz="1400" dirty="0"/>
          </a:p>
          <a:p>
            <a:pPr marL="0" indent="0" algn="ctr">
              <a:buNone/>
            </a:pPr>
            <a:r>
              <a:rPr lang="en-US" sz="1400" dirty="0">
                <a:solidFill>
                  <a:srgbClr val="475569"/>
                </a:solidFill>
                <a:latin typeface="Calibri" pitchFamily="34" charset="0"/>
                <a:ea typeface="Calibri" pitchFamily="34" charset="-122"/>
                <a:cs typeface="Calibri" pitchFamily="34" charset="-120"/>
              </a:rPr>
              <a:t>(stayed the same or increased)</a:t>
            </a:r>
            <a:endParaRPr lang="en-US" sz="1400" dirty="0"/>
          </a:p>
        </p:txBody>
      </p:sp>
      <p:sp>
        <p:nvSpPr>
          <p:cNvPr id="11" name="Shape 9"/>
          <p:cNvSpPr/>
          <p:nvPr/>
        </p:nvSpPr>
        <p:spPr>
          <a:xfrm>
            <a:off x="731520" y="3566160"/>
            <a:ext cx="7680960" cy="640080"/>
          </a:xfrm>
          <a:prstGeom prst="rect">
            <a:avLst/>
          </a:prstGeom>
          <a:solidFill>
            <a:srgbClr val="1B2A4A"/>
          </a:solidFill>
          <a:ln/>
        </p:spPr>
        <p:txBody>
          <a:bodyPr/>
          <a:lstStyle/>
          <a:p>
            <a:endParaRPr/>
          </a:p>
        </p:txBody>
      </p:sp>
      <p:sp>
        <p:nvSpPr>
          <p:cNvPr id="12" name="Text 10"/>
          <p:cNvSpPr/>
          <p:nvPr/>
        </p:nvSpPr>
        <p:spPr>
          <a:xfrm>
            <a:off x="1005840" y="3566160"/>
            <a:ext cx="7132320" cy="640080"/>
          </a:xfrm>
          <a:prstGeom prst="rect">
            <a:avLst/>
          </a:prstGeom>
          <a:noFill/>
          <a:ln/>
        </p:spPr>
        <p:txBody>
          <a:bodyPr wrap="square" lIns="0" tIns="0" rIns="0" bIns="0" rtlCol="0" anchor="ctr"/>
          <a:lstStyle/>
          <a:p>
            <a:pPr marL="0" indent="0">
              <a:buNone/>
            </a:pPr>
            <a:r>
              <a:rPr lang="en-US" sz="1800" b="1" dirty="0">
                <a:solidFill>
                  <a:srgbClr val="FFFFFF"/>
                </a:solidFill>
                <a:latin typeface="Georgia" pitchFamily="34" charset="0"/>
                <a:ea typeface="Georgia" pitchFamily="34" charset="-122"/>
                <a:cs typeface="Georgia" pitchFamily="34" charset="-120"/>
              </a:rPr>
              <a:t>More treatment does not mean less depression.</a:t>
            </a:r>
            <a:endParaRPr lang="en-US" sz="1800" dirty="0"/>
          </a:p>
        </p:txBody>
      </p:sp>
      <p:sp>
        <p:nvSpPr>
          <p:cNvPr id="13" name="Text 11"/>
          <p:cNvSpPr/>
          <p:nvPr/>
        </p:nvSpPr>
        <p:spPr>
          <a:xfrm>
            <a:off x="731520" y="4389120"/>
            <a:ext cx="3657600" cy="365760"/>
          </a:xfrm>
          <a:prstGeom prst="rect">
            <a:avLst/>
          </a:prstGeom>
          <a:noFill/>
          <a:ln/>
        </p:spPr>
        <p:txBody>
          <a:bodyPr wrap="square" lIns="0" tIns="0" rIns="0" bIns="0" rtlCol="0" anchor="ctr"/>
          <a:lstStyle/>
          <a:p>
            <a:pPr marL="0" indent="0">
              <a:buNone/>
            </a:pPr>
            <a:r>
              <a:rPr lang="en-US" sz="1100" i="1" dirty="0">
                <a:solidFill>
                  <a:srgbClr val="94A3B8"/>
                </a:solidFill>
                <a:latin typeface="Calibri" pitchFamily="34" charset="0"/>
                <a:ea typeface="Calibri" pitchFamily="34" charset="-122"/>
                <a:cs typeface="Calibri" pitchFamily="34" charset="-120"/>
              </a:rPr>
              <a:t>Ormel et al., 2022</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The Fire Keeps Getting Relit</a:t>
            </a:r>
            <a:endParaRPr lang="en-US" sz="2800" dirty="0"/>
          </a:p>
        </p:txBody>
      </p:sp>
      <p:sp>
        <p:nvSpPr>
          <p:cNvPr id="3" name="Shape 1"/>
          <p:cNvSpPr/>
          <p:nvPr/>
        </p:nvSpPr>
        <p:spPr>
          <a:xfrm>
            <a:off x="731520" y="1280160"/>
            <a:ext cx="3200400" cy="594360"/>
          </a:xfrm>
          <a:prstGeom prst="rect">
            <a:avLst/>
          </a:prstGeom>
          <a:solidFill>
            <a:srgbClr val="0891B2"/>
          </a:solidFill>
          <a:ln/>
        </p:spPr>
        <p:txBody>
          <a:bodyPr/>
          <a:lstStyle/>
          <a:p>
            <a:endParaRPr/>
          </a:p>
        </p:txBody>
      </p:sp>
      <p:sp>
        <p:nvSpPr>
          <p:cNvPr id="4" name="Text 2"/>
          <p:cNvSpPr/>
          <p:nvPr/>
        </p:nvSpPr>
        <p:spPr>
          <a:xfrm>
            <a:off x="914400" y="1280160"/>
            <a:ext cx="1097280" cy="594360"/>
          </a:xfrm>
          <a:prstGeom prst="rect">
            <a:avLst/>
          </a:prstGeom>
          <a:noFill/>
          <a:ln/>
        </p:spPr>
        <p:txBody>
          <a:bodyPr wrap="square" lIns="0" tIns="0" rIns="0" bIns="0" rtlCol="0" anchor="ctr"/>
          <a:lstStyle/>
          <a:p>
            <a:pPr marL="0" indent="0">
              <a:buNone/>
            </a:pPr>
            <a:r>
              <a:rPr lang="en-US" sz="2800" b="1" dirty="0">
                <a:solidFill>
                  <a:srgbClr val="FFFFFF"/>
                </a:solidFill>
                <a:latin typeface="Georgia" pitchFamily="34" charset="0"/>
                <a:ea typeface="Georgia" pitchFamily="34" charset="-122"/>
                <a:cs typeface="Georgia" pitchFamily="34" charset="-120"/>
              </a:rPr>
              <a:t>50%</a:t>
            </a:r>
            <a:endParaRPr lang="en-US" sz="2800" dirty="0"/>
          </a:p>
        </p:txBody>
      </p:sp>
      <p:sp>
        <p:nvSpPr>
          <p:cNvPr id="5" name="Text 3"/>
          <p:cNvSpPr/>
          <p:nvPr/>
        </p:nvSpPr>
        <p:spPr>
          <a:xfrm>
            <a:off x="2103120" y="1280160"/>
            <a:ext cx="3657600" cy="594360"/>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After 1st episode relapse</a:t>
            </a:r>
            <a:endParaRPr lang="en-US" sz="1600" dirty="0"/>
          </a:p>
        </p:txBody>
      </p:sp>
      <p:sp>
        <p:nvSpPr>
          <p:cNvPr id="6" name="Shape 4"/>
          <p:cNvSpPr/>
          <p:nvPr/>
        </p:nvSpPr>
        <p:spPr>
          <a:xfrm>
            <a:off x="731520" y="2057400"/>
            <a:ext cx="4572000" cy="594360"/>
          </a:xfrm>
          <a:prstGeom prst="rect">
            <a:avLst/>
          </a:prstGeom>
          <a:solidFill>
            <a:srgbClr val="0891B2"/>
          </a:solidFill>
          <a:ln/>
        </p:spPr>
        <p:txBody>
          <a:bodyPr/>
          <a:lstStyle/>
          <a:p>
            <a:endParaRPr/>
          </a:p>
        </p:txBody>
      </p:sp>
      <p:sp>
        <p:nvSpPr>
          <p:cNvPr id="7" name="Text 5"/>
          <p:cNvSpPr/>
          <p:nvPr/>
        </p:nvSpPr>
        <p:spPr>
          <a:xfrm>
            <a:off x="914400" y="2057400"/>
            <a:ext cx="1097280" cy="594360"/>
          </a:xfrm>
          <a:prstGeom prst="rect">
            <a:avLst/>
          </a:prstGeom>
          <a:noFill/>
          <a:ln/>
        </p:spPr>
        <p:txBody>
          <a:bodyPr wrap="square" lIns="0" tIns="0" rIns="0" bIns="0" rtlCol="0" anchor="ctr"/>
          <a:lstStyle/>
          <a:p>
            <a:pPr marL="0" indent="0">
              <a:buNone/>
            </a:pPr>
            <a:r>
              <a:rPr lang="en-US" sz="2800" b="1" dirty="0">
                <a:solidFill>
                  <a:srgbClr val="FFFFFF"/>
                </a:solidFill>
                <a:latin typeface="Georgia" pitchFamily="34" charset="0"/>
                <a:ea typeface="Georgia" pitchFamily="34" charset="-122"/>
                <a:cs typeface="Georgia" pitchFamily="34" charset="-120"/>
              </a:rPr>
              <a:t>70%</a:t>
            </a:r>
            <a:endParaRPr lang="en-US" sz="2800" dirty="0"/>
          </a:p>
        </p:txBody>
      </p:sp>
      <p:sp>
        <p:nvSpPr>
          <p:cNvPr id="8" name="Text 6"/>
          <p:cNvSpPr/>
          <p:nvPr/>
        </p:nvSpPr>
        <p:spPr>
          <a:xfrm>
            <a:off x="2103120" y="2057400"/>
            <a:ext cx="3657600" cy="594360"/>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After 2nd episode relapse</a:t>
            </a:r>
            <a:endParaRPr lang="en-US" sz="1600" dirty="0"/>
          </a:p>
        </p:txBody>
      </p:sp>
      <p:sp>
        <p:nvSpPr>
          <p:cNvPr id="9" name="Shape 7"/>
          <p:cNvSpPr/>
          <p:nvPr/>
        </p:nvSpPr>
        <p:spPr>
          <a:xfrm>
            <a:off x="731520" y="2834640"/>
            <a:ext cx="6400800" cy="594360"/>
          </a:xfrm>
          <a:prstGeom prst="rect">
            <a:avLst/>
          </a:prstGeom>
          <a:solidFill>
            <a:srgbClr val="D97706"/>
          </a:solidFill>
          <a:ln/>
        </p:spPr>
        <p:txBody>
          <a:bodyPr/>
          <a:lstStyle/>
          <a:p>
            <a:endParaRPr/>
          </a:p>
        </p:txBody>
      </p:sp>
      <p:sp>
        <p:nvSpPr>
          <p:cNvPr id="10" name="Text 8"/>
          <p:cNvSpPr/>
          <p:nvPr/>
        </p:nvSpPr>
        <p:spPr>
          <a:xfrm>
            <a:off x="914400" y="2834640"/>
            <a:ext cx="1097280" cy="594360"/>
          </a:xfrm>
          <a:prstGeom prst="rect">
            <a:avLst/>
          </a:prstGeom>
          <a:noFill/>
          <a:ln/>
        </p:spPr>
        <p:txBody>
          <a:bodyPr wrap="square" lIns="0" tIns="0" rIns="0" bIns="0" rtlCol="0" anchor="ctr"/>
          <a:lstStyle/>
          <a:p>
            <a:pPr marL="0" indent="0">
              <a:buNone/>
            </a:pPr>
            <a:r>
              <a:rPr lang="en-US" sz="2800" b="1" dirty="0">
                <a:solidFill>
                  <a:srgbClr val="FFFFFF"/>
                </a:solidFill>
                <a:latin typeface="Georgia" pitchFamily="34" charset="0"/>
                <a:ea typeface="Georgia" pitchFamily="34" charset="-122"/>
                <a:cs typeface="Georgia" pitchFamily="34" charset="-120"/>
              </a:rPr>
              <a:t>90%</a:t>
            </a:r>
            <a:endParaRPr lang="en-US" sz="2800" dirty="0"/>
          </a:p>
        </p:txBody>
      </p:sp>
      <p:sp>
        <p:nvSpPr>
          <p:cNvPr id="11" name="Text 9"/>
          <p:cNvSpPr/>
          <p:nvPr/>
        </p:nvSpPr>
        <p:spPr>
          <a:xfrm>
            <a:off x="2103120" y="2834640"/>
            <a:ext cx="3657600" cy="594360"/>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After 3rd episode relapse</a:t>
            </a:r>
            <a:endParaRPr lang="en-US" sz="1600" dirty="0"/>
          </a:p>
        </p:txBody>
      </p:sp>
      <p:sp>
        <p:nvSpPr>
          <p:cNvPr id="12" name="Shape 10"/>
          <p:cNvSpPr/>
          <p:nvPr/>
        </p:nvSpPr>
        <p:spPr>
          <a:xfrm>
            <a:off x="731520" y="3566160"/>
            <a:ext cx="7680960" cy="594360"/>
          </a:xfrm>
          <a:prstGeom prst="rect">
            <a:avLst/>
          </a:prstGeom>
          <a:solidFill>
            <a:srgbClr val="1B2A4A"/>
          </a:solidFill>
          <a:ln/>
        </p:spPr>
        <p:txBody>
          <a:bodyPr/>
          <a:lstStyle/>
          <a:p>
            <a:endParaRPr/>
          </a:p>
        </p:txBody>
      </p:sp>
      <p:sp>
        <p:nvSpPr>
          <p:cNvPr id="13" name="Text 11"/>
          <p:cNvSpPr/>
          <p:nvPr/>
        </p:nvSpPr>
        <p:spPr>
          <a:xfrm>
            <a:off x="1005840" y="3566160"/>
            <a:ext cx="7132320" cy="594360"/>
          </a:xfrm>
          <a:prstGeom prst="rect">
            <a:avLst/>
          </a:prstGeom>
          <a:noFill/>
          <a:ln/>
        </p:spPr>
        <p:txBody>
          <a:bodyPr wrap="square" lIns="0" tIns="0" rIns="0" bIns="0" rtlCol="0" anchor="ctr"/>
          <a:lstStyle/>
          <a:p>
            <a:pPr marL="0" indent="0">
              <a:buNone/>
            </a:pPr>
            <a:r>
              <a:rPr lang="en-US" sz="2200" b="1" dirty="0">
                <a:solidFill>
                  <a:srgbClr val="22D3EE"/>
                </a:solidFill>
                <a:latin typeface="Calibri" pitchFamily="34" charset="0"/>
                <a:ea typeface="Calibri" pitchFamily="34" charset="-122"/>
                <a:cs typeface="Calibri" pitchFamily="34" charset="-120"/>
              </a:rPr>
              <a:t>85% </a:t>
            </a:r>
            <a:r>
              <a:rPr lang="en-US" sz="1600" dirty="0">
                <a:solidFill>
                  <a:srgbClr val="FFFFFF"/>
                </a:solidFill>
                <a:latin typeface="Calibri" pitchFamily="34" charset="0"/>
                <a:ea typeface="Calibri" pitchFamily="34" charset="-122"/>
                <a:cs typeface="Calibri" pitchFamily="34" charset="-120"/>
              </a:rPr>
              <a:t>recurrence within a decade</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0F4F8"/>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The Youth Crisis</a:t>
            </a:r>
            <a:endParaRPr lang="en-US" sz="2800" dirty="0"/>
          </a:p>
        </p:txBody>
      </p:sp>
      <p:sp>
        <p:nvSpPr>
          <p:cNvPr id="3" name="Shape 1"/>
          <p:cNvSpPr/>
          <p:nvPr/>
        </p:nvSpPr>
        <p:spPr>
          <a:xfrm>
            <a:off x="731520" y="1188720"/>
            <a:ext cx="7680960" cy="8229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4" name="Shape 2"/>
          <p:cNvSpPr/>
          <p:nvPr/>
        </p:nvSpPr>
        <p:spPr>
          <a:xfrm>
            <a:off x="731520" y="1188720"/>
            <a:ext cx="54864" cy="822960"/>
          </a:xfrm>
          <a:prstGeom prst="rect">
            <a:avLst/>
          </a:prstGeom>
          <a:solidFill>
            <a:srgbClr val="DC2626"/>
          </a:solidFill>
          <a:ln/>
        </p:spPr>
        <p:txBody>
          <a:bodyPr/>
          <a:lstStyle/>
          <a:p>
            <a:endParaRPr/>
          </a:p>
        </p:txBody>
      </p:sp>
      <p:sp>
        <p:nvSpPr>
          <p:cNvPr id="5" name="Text 3"/>
          <p:cNvSpPr/>
          <p:nvPr/>
        </p:nvSpPr>
        <p:spPr>
          <a:xfrm>
            <a:off x="1005840" y="1188720"/>
            <a:ext cx="1828800" cy="822960"/>
          </a:xfrm>
          <a:prstGeom prst="rect">
            <a:avLst/>
          </a:prstGeom>
          <a:noFill/>
          <a:ln/>
        </p:spPr>
        <p:txBody>
          <a:bodyPr wrap="square" lIns="0" tIns="0" rIns="0" bIns="0" rtlCol="0" anchor="ctr"/>
          <a:lstStyle/>
          <a:p>
            <a:pPr marL="0" indent="0">
              <a:buNone/>
            </a:pPr>
            <a:r>
              <a:rPr lang="en-US" sz="3200" b="1" dirty="0">
                <a:solidFill>
                  <a:srgbClr val="DC2626"/>
                </a:solidFill>
                <a:latin typeface="Georgia" pitchFamily="34" charset="0"/>
                <a:ea typeface="Georgia" pitchFamily="34" charset="-122"/>
                <a:cs typeface="Georgia" pitchFamily="34" charset="-120"/>
              </a:rPr>
              <a:t>145%</a:t>
            </a:r>
            <a:endParaRPr lang="en-US" sz="3200" dirty="0"/>
          </a:p>
        </p:txBody>
      </p:sp>
      <p:sp>
        <p:nvSpPr>
          <p:cNvPr id="6" name="Text 4"/>
          <p:cNvSpPr/>
          <p:nvPr/>
        </p:nvSpPr>
        <p:spPr>
          <a:xfrm>
            <a:off x="2926080" y="1188720"/>
            <a:ext cx="5212080" cy="822960"/>
          </a:xfrm>
          <a:prstGeom prst="rect">
            <a:avLst/>
          </a:prstGeom>
          <a:noFill/>
          <a:ln/>
        </p:spPr>
        <p:txBody>
          <a:bodyPr wrap="square" lIns="0" tIns="0" rIns="0" bIns="0" rtlCol="0" anchor="ctr"/>
          <a:lstStyle/>
          <a:p>
            <a:pPr marL="0" indent="0">
              <a:buNone/>
            </a:pPr>
            <a:r>
              <a:rPr lang="en-US" sz="1600" dirty="0">
                <a:solidFill>
                  <a:srgbClr val="1E293B"/>
                </a:solidFill>
                <a:latin typeface="Calibri" pitchFamily="34" charset="0"/>
                <a:ea typeface="Calibri" pitchFamily="34" charset="-122"/>
                <a:cs typeface="Calibri" pitchFamily="34" charset="-120"/>
              </a:rPr>
              <a:t>increase in teen depression (2010–2021)</a:t>
            </a:r>
            <a:endParaRPr lang="en-US" sz="1600" dirty="0"/>
          </a:p>
        </p:txBody>
      </p:sp>
      <p:sp>
        <p:nvSpPr>
          <p:cNvPr id="7" name="Shape 5"/>
          <p:cNvSpPr/>
          <p:nvPr/>
        </p:nvSpPr>
        <p:spPr>
          <a:xfrm>
            <a:off x="731520" y="2240280"/>
            <a:ext cx="7680960" cy="8229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8" name="Shape 6"/>
          <p:cNvSpPr/>
          <p:nvPr/>
        </p:nvSpPr>
        <p:spPr>
          <a:xfrm>
            <a:off x="731520" y="2240280"/>
            <a:ext cx="54864" cy="822960"/>
          </a:xfrm>
          <a:prstGeom prst="rect">
            <a:avLst/>
          </a:prstGeom>
          <a:solidFill>
            <a:srgbClr val="DC2626"/>
          </a:solidFill>
          <a:ln/>
        </p:spPr>
        <p:txBody>
          <a:bodyPr/>
          <a:lstStyle/>
          <a:p>
            <a:endParaRPr/>
          </a:p>
        </p:txBody>
      </p:sp>
      <p:sp>
        <p:nvSpPr>
          <p:cNvPr id="9" name="Text 7"/>
          <p:cNvSpPr/>
          <p:nvPr/>
        </p:nvSpPr>
        <p:spPr>
          <a:xfrm>
            <a:off x="1005840" y="2240280"/>
            <a:ext cx="1828800" cy="822960"/>
          </a:xfrm>
          <a:prstGeom prst="rect">
            <a:avLst/>
          </a:prstGeom>
          <a:noFill/>
          <a:ln/>
        </p:spPr>
        <p:txBody>
          <a:bodyPr wrap="square" lIns="0" tIns="0" rIns="0" bIns="0" rtlCol="0" anchor="ctr"/>
          <a:lstStyle/>
          <a:p>
            <a:pPr marL="0" indent="0">
              <a:buNone/>
            </a:pPr>
            <a:r>
              <a:rPr lang="en-US" sz="3200" b="1" dirty="0">
                <a:solidFill>
                  <a:srgbClr val="DC2626"/>
                </a:solidFill>
                <a:latin typeface="Georgia" pitchFamily="34" charset="0"/>
                <a:ea typeface="Georgia" pitchFamily="34" charset="-122"/>
                <a:cs typeface="Georgia" pitchFamily="34" charset="-120"/>
              </a:rPr>
              <a:t>62%</a:t>
            </a:r>
            <a:endParaRPr lang="en-US" sz="3200" dirty="0"/>
          </a:p>
        </p:txBody>
      </p:sp>
      <p:sp>
        <p:nvSpPr>
          <p:cNvPr id="10" name="Text 8"/>
          <p:cNvSpPr/>
          <p:nvPr/>
        </p:nvSpPr>
        <p:spPr>
          <a:xfrm>
            <a:off x="2926080" y="2240280"/>
            <a:ext cx="5212080" cy="822960"/>
          </a:xfrm>
          <a:prstGeom prst="rect">
            <a:avLst/>
          </a:prstGeom>
          <a:noFill/>
          <a:ln/>
        </p:spPr>
        <p:txBody>
          <a:bodyPr wrap="square" lIns="0" tIns="0" rIns="0" bIns="0" rtlCol="0" anchor="ctr"/>
          <a:lstStyle/>
          <a:p>
            <a:pPr marL="0" indent="0">
              <a:buNone/>
            </a:pPr>
            <a:r>
              <a:rPr lang="en-US" sz="1600" dirty="0">
                <a:solidFill>
                  <a:srgbClr val="1E293B"/>
                </a:solidFill>
                <a:latin typeface="Calibri" pitchFamily="34" charset="0"/>
                <a:ea typeface="Calibri" pitchFamily="34" charset="-122"/>
                <a:cs typeface="Calibri" pitchFamily="34" charset="-120"/>
              </a:rPr>
              <a:t>increase in suicide deaths ages 10–24 (2007–2021)</a:t>
            </a:r>
            <a:endParaRPr lang="en-US" sz="1600" dirty="0"/>
          </a:p>
        </p:txBody>
      </p:sp>
      <p:sp>
        <p:nvSpPr>
          <p:cNvPr id="11" name="Shape 9"/>
          <p:cNvSpPr/>
          <p:nvPr/>
        </p:nvSpPr>
        <p:spPr>
          <a:xfrm>
            <a:off x="731520" y="3291840"/>
            <a:ext cx="7680960" cy="8229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12" name="Shape 10"/>
          <p:cNvSpPr/>
          <p:nvPr/>
        </p:nvSpPr>
        <p:spPr>
          <a:xfrm>
            <a:off x="731520" y="3291840"/>
            <a:ext cx="54864" cy="822960"/>
          </a:xfrm>
          <a:prstGeom prst="rect">
            <a:avLst/>
          </a:prstGeom>
          <a:solidFill>
            <a:srgbClr val="DC2626"/>
          </a:solidFill>
          <a:ln/>
        </p:spPr>
        <p:txBody>
          <a:bodyPr/>
          <a:lstStyle/>
          <a:p>
            <a:endParaRPr/>
          </a:p>
        </p:txBody>
      </p:sp>
      <p:sp>
        <p:nvSpPr>
          <p:cNvPr id="13" name="Text 11"/>
          <p:cNvSpPr/>
          <p:nvPr/>
        </p:nvSpPr>
        <p:spPr>
          <a:xfrm>
            <a:off x="1005840" y="3291840"/>
            <a:ext cx="1828800" cy="822960"/>
          </a:xfrm>
          <a:prstGeom prst="rect">
            <a:avLst/>
          </a:prstGeom>
          <a:noFill/>
          <a:ln/>
        </p:spPr>
        <p:txBody>
          <a:bodyPr wrap="square" lIns="0" tIns="0" rIns="0" bIns="0" rtlCol="0" anchor="ctr"/>
          <a:lstStyle/>
          <a:p>
            <a:pPr marL="0" indent="0">
              <a:buNone/>
            </a:pPr>
            <a:r>
              <a:rPr lang="en-US" sz="3200" b="1" dirty="0">
                <a:solidFill>
                  <a:srgbClr val="DC2626"/>
                </a:solidFill>
                <a:latin typeface="Georgia" pitchFamily="34" charset="0"/>
                <a:ea typeface="Georgia" pitchFamily="34" charset="-122"/>
                <a:cs typeface="Georgia" pitchFamily="34" charset="-120"/>
              </a:rPr>
              <a:t>1 in 5</a:t>
            </a:r>
            <a:endParaRPr lang="en-US" sz="3200" dirty="0"/>
          </a:p>
        </p:txBody>
      </p:sp>
      <p:sp>
        <p:nvSpPr>
          <p:cNvPr id="14" name="Text 12"/>
          <p:cNvSpPr/>
          <p:nvPr/>
        </p:nvSpPr>
        <p:spPr>
          <a:xfrm>
            <a:off x="2926080" y="3291840"/>
            <a:ext cx="5212080" cy="822960"/>
          </a:xfrm>
          <a:prstGeom prst="rect">
            <a:avLst/>
          </a:prstGeom>
          <a:noFill/>
          <a:ln/>
        </p:spPr>
        <p:txBody>
          <a:bodyPr wrap="square" lIns="0" tIns="0" rIns="0" bIns="0" rtlCol="0" anchor="ctr"/>
          <a:lstStyle/>
          <a:p>
            <a:pPr marL="0" indent="0">
              <a:buNone/>
            </a:pPr>
            <a:r>
              <a:rPr lang="en-US" sz="1600" dirty="0">
                <a:solidFill>
                  <a:srgbClr val="1E293B"/>
                </a:solidFill>
                <a:latin typeface="Calibri" pitchFamily="34" charset="0"/>
                <a:ea typeface="Calibri" pitchFamily="34" charset="-122"/>
                <a:cs typeface="Calibri" pitchFamily="34" charset="-120"/>
              </a:rPr>
              <a:t>high school students seriously considered suicide (2023)</a:t>
            </a:r>
            <a:endParaRPr lang="en-US" sz="1600" dirty="0"/>
          </a:p>
        </p:txBody>
      </p:sp>
      <p:sp>
        <p:nvSpPr>
          <p:cNvPr id="15" name="Text 13"/>
          <p:cNvSpPr/>
          <p:nvPr/>
        </p:nvSpPr>
        <p:spPr>
          <a:xfrm>
            <a:off x="731520" y="4389120"/>
            <a:ext cx="7680960" cy="457200"/>
          </a:xfrm>
          <a:prstGeom prst="rect">
            <a:avLst/>
          </a:prstGeom>
          <a:noFill/>
          <a:ln/>
        </p:spPr>
        <p:txBody>
          <a:bodyPr wrap="square" lIns="0" tIns="0" rIns="0" bIns="0" rtlCol="0" anchor="ctr"/>
          <a:lstStyle/>
          <a:p>
            <a:pPr marL="0" indent="0">
              <a:buNone/>
            </a:pPr>
            <a:r>
              <a:rPr lang="en-US" sz="1500" i="1" dirty="0">
                <a:solidFill>
                  <a:srgbClr val="475569"/>
                </a:solidFill>
                <a:latin typeface="Georgia" pitchFamily="34" charset="0"/>
                <a:ea typeface="Georgia" pitchFamily="34" charset="-122"/>
                <a:cs typeface="Georgia" pitchFamily="34" charset="-120"/>
              </a:rPr>
              <a:t>More therapists, more spending, more awareness than ever.</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The Research Base Itself Is Unreliable</a:t>
            </a:r>
            <a:endParaRPr lang="en-US" sz="2600" dirty="0"/>
          </a:p>
        </p:txBody>
      </p:sp>
      <p:sp>
        <p:nvSpPr>
          <p:cNvPr id="3" name="Shape 1"/>
          <p:cNvSpPr/>
          <p:nvPr/>
        </p:nvSpPr>
        <p:spPr>
          <a:xfrm>
            <a:off x="1828800" y="1188720"/>
            <a:ext cx="5486400" cy="16459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4" name="Text 2"/>
          <p:cNvSpPr/>
          <p:nvPr/>
        </p:nvSpPr>
        <p:spPr>
          <a:xfrm>
            <a:off x="1828800" y="1234440"/>
            <a:ext cx="5486400" cy="914400"/>
          </a:xfrm>
          <a:prstGeom prst="rect">
            <a:avLst/>
          </a:prstGeom>
          <a:noFill/>
          <a:ln/>
        </p:spPr>
        <p:txBody>
          <a:bodyPr wrap="square" lIns="0" tIns="0" rIns="0" bIns="0" rtlCol="0" anchor="ctr"/>
          <a:lstStyle/>
          <a:p>
            <a:pPr marL="0" indent="0" algn="ctr">
              <a:buNone/>
            </a:pPr>
            <a:r>
              <a:rPr lang="en-US" sz="6000" b="1" dirty="0">
                <a:solidFill>
                  <a:srgbClr val="D97706"/>
                </a:solidFill>
                <a:latin typeface="Georgia" pitchFamily="34" charset="0"/>
                <a:ea typeface="Georgia" pitchFamily="34" charset="-122"/>
                <a:cs typeface="Georgia" pitchFamily="34" charset="-120"/>
              </a:rPr>
              <a:t>~40%</a:t>
            </a:r>
            <a:endParaRPr lang="en-US" sz="6000" dirty="0"/>
          </a:p>
        </p:txBody>
      </p:sp>
      <p:sp>
        <p:nvSpPr>
          <p:cNvPr id="5" name="Text 3"/>
          <p:cNvSpPr/>
          <p:nvPr/>
        </p:nvSpPr>
        <p:spPr>
          <a:xfrm>
            <a:off x="1828800" y="2103120"/>
            <a:ext cx="5486400" cy="457200"/>
          </a:xfrm>
          <a:prstGeom prst="rect">
            <a:avLst/>
          </a:prstGeom>
          <a:noFill/>
          <a:ln/>
        </p:spPr>
        <p:txBody>
          <a:bodyPr wrap="square" lIns="0" tIns="0" rIns="0" bIns="0" rtlCol="0" anchor="ctr"/>
          <a:lstStyle/>
          <a:p>
            <a:pPr marL="0" indent="0" algn="ctr">
              <a:buNone/>
            </a:pPr>
            <a:r>
              <a:rPr lang="en-US" sz="1800" dirty="0">
                <a:solidFill>
                  <a:srgbClr val="475569"/>
                </a:solidFill>
                <a:latin typeface="Calibri" pitchFamily="34" charset="0"/>
                <a:ea typeface="Calibri" pitchFamily="34" charset="-122"/>
                <a:cs typeface="Calibri" pitchFamily="34" charset="-120"/>
              </a:rPr>
              <a:t>of psychology studies replicate</a:t>
            </a:r>
            <a:endParaRPr lang="en-US" sz="1800" dirty="0"/>
          </a:p>
        </p:txBody>
      </p:sp>
      <p:sp>
        <p:nvSpPr>
          <p:cNvPr id="6" name="Shape 4"/>
          <p:cNvSpPr/>
          <p:nvPr/>
        </p:nvSpPr>
        <p:spPr>
          <a:xfrm>
            <a:off x="731520" y="3200400"/>
            <a:ext cx="7680960" cy="1097280"/>
          </a:xfrm>
          <a:prstGeom prst="rect">
            <a:avLst/>
          </a:prstGeom>
          <a:solidFill>
            <a:srgbClr val="1B2A4A"/>
          </a:solidFill>
          <a:ln/>
        </p:spPr>
        <p:txBody>
          <a:bodyPr/>
          <a:lstStyle/>
          <a:p>
            <a:endParaRPr/>
          </a:p>
        </p:txBody>
      </p:sp>
      <p:sp>
        <p:nvSpPr>
          <p:cNvPr id="7" name="Text 5"/>
          <p:cNvSpPr/>
          <p:nvPr/>
        </p:nvSpPr>
        <p:spPr>
          <a:xfrm>
            <a:off x="1005840" y="3246120"/>
            <a:ext cx="7132320" cy="411480"/>
          </a:xfrm>
          <a:prstGeom prst="rect">
            <a:avLst/>
          </a:prstGeom>
          <a:noFill/>
          <a:ln/>
        </p:spPr>
        <p:txBody>
          <a:bodyPr wrap="square" lIns="0" tIns="0" rIns="0" bIns="0" rtlCol="0" anchor="ctr"/>
          <a:lstStyle/>
          <a:p>
            <a:pPr marL="0" indent="0">
              <a:buNone/>
            </a:pPr>
            <a:r>
              <a:rPr lang="en-US" sz="1600" b="1" dirty="0">
                <a:solidFill>
                  <a:srgbClr val="22D3EE"/>
                </a:solidFill>
                <a:latin typeface="Calibri" pitchFamily="34" charset="0"/>
                <a:ea typeface="Calibri" pitchFamily="34" charset="-122"/>
                <a:cs typeface="Calibri" pitchFamily="34" charset="-120"/>
              </a:rPr>
              <a:t>NIMH stopped funding DSM-only research (2013)</a:t>
            </a:r>
            <a:endParaRPr lang="en-US" sz="1600" dirty="0"/>
          </a:p>
        </p:txBody>
      </p:sp>
      <p:sp>
        <p:nvSpPr>
          <p:cNvPr id="8" name="Text 6"/>
          <p:cNvSpPr/>
          <p:nvPr/>
        </p:nvSpPr>
        <p:spPr>
          <a:xfrm>
            <a:off x="1005840" y="3703320"/>
            <a:ext cx="7132320" cy="50292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Thomas Insel: DSM diagnoses are "consensus about clusters of clinical</a:t>
            </a:r>
            <a:endParaRPr lang="en-US" sz="1300" dirty="0"/>
          </a:p>
          <a:p>
            <a:pPr marL="0" indent="0">
              <a:buNone/>
            </a:pPr>
            <a:r>
              <a:rPr lang="en-US" sz="1300" i="1" dirty="0">
                <a:solidFill>
                  <a:srgbClr val="FFFFFF"/>
                </a:solidFill>
                <a:latin typeface="Calibri" pitchFamily="34" charset="0"/>
                <a:ea typeface="Calibri" pitchFamily="34" charset="-122"/>
                <a:cs typeface="Calibri" pitchFamily="34" charset="-120"/>
              </a:rPr>
              <a:t>symptoms, not any objective laboratory measure."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0F4F8"/>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The Public Senses Something Is Wrong</a:t>
            </a:r>
            <a:endParaRPr lang="en-US" sz="2600" dirty="0"/>
          </a:p>
        </p:txBody>
      </p:sp>
      <p:sp>
        <p:nvSpPr>
          <p:cNvPr id="3" name="Shape 1"/>
          <p:cNvSpPr/>
          <p:nvPr/>
        </p:nvSpPr>
        <p:spPr>
          <a:xfrm>
            <a:off x="731520" y="1188720"/>
            <a:ext cx="7680960" cy="6858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4" name="Shape 2"/>
          <p:cNvSpPr/>
          <p:nvPr/>
        </p:nvSpPr>
        <p:spPr>
          <a:xfrm>
            <a:off x="731520" y="1188720"/>
            <a:ext cx="54864" cy="685800"/>
          </a:xfrm>
          <a:prstGeom prst="rect">
            <a:avLst/>
          </a:prstGeom>
          <a:solidFill>
            <a:srgbClr val="D97706"/>
          </a:solidFill>
          <a:ln/>
        </p:spPr>
        <p:txBody>
          <a:bodyPr/>
          <a:lstStyle/>
          <a:p>
            <a:endParaRPr/>
          </a:p>
        </p:txBody>
      </p:sp>
      <p:sp>
        <p:nvSpPr>
          <p:cNvPr id="5" name="Text 3"/>
          <p:cNvSpPr/>
          <p:nvPr/>
        </p:nvSpPr>
        <p:spPr>
          <a:xfrm>
            <a:off x="1005840" y="1188720"/>
            <a:ext cx="1645920" cy="685800"/>
          </a:xfrm>
          <a:prstGeom prst="rect">
            <a:avLst/>
          </a:prstGeom>
          <a:noFill/>
          <a:ln/>
        </p:spPr>
        <p:txBody>
          <a:bodyPr wrap="square" lIns="0" tIns="0" rIns="0" bIns="0" rtlCol="0" anchor="ctr"/>
          <a:lstStyle/>
          <a:p>
            <a:pPr marL="0" indent="0">
              <a:buNone/>
            </a:pPr>
            <a:r>
              <a:rPr lang="en-US" sz="2400" b="1" dirty="0">
                <a:solidFill>
                  <a:srgbClr val="D97706"/>
                </a:solidFill>
                <a:latin typeface="Georgia" pitchFamily="34" charset="0"/>
                <a:ea typeface="Georgia" pitchFamily="34" charset="-122"/>
                <a:cs typeface="Georgia" pitchFamily="34" charset="-120"/>
              </a:rPr>
              <a:t>43%</a:t>
            </a:r>
            <a:endParaRPr lang="en-US" sz="2400" dirty="0"/>
          </a:p>
        </p:txBody>
      </p:sp>
      <p:sp>
        <p:nvSpPr>
          <p:cNvPr id="6" name="Text 4"/>
          <p:cNvSpPr/>
          <p:nvPr/>
        </p:nvSpPr>
        <p:spPr>
          <a:xfrm>
            <a:off x="2834640" y="1188720"/>
            <a:ext cx="5303520" cy="685800"/>
          </a:xfrm>
          <a:prstGeom prst="rect">
            <a:avLst/>
          </a:prstGeom>
          <a:noFill/>
          <a:ln/>
        </p:spPr>
        <p:txBody>
          <a:bodyPr wrap="square" lIns="0" tIns="0" rIns="0" bIns="0" rtlCol="0" anchor="ctr"/>
          <a:lstStyle/>
          <a:p>
            <a:pPr marL="0" indent="0">
              <a:buNone/>
            </a:pPr>
            <a:r>
              <a:rPr lang="en-US" sz="1600" dirty="0">
                <a:solidFill>
                  <a:srgbClr val="1E293B"/>
                </a:solidFill>
                <a:latin typeface="Calibri" pitchFamily="34" charset="0"/>
                <a:ea typeface="Calibri" pitchFamily="34" charset="-122"/>
                <a:cs typeface="Calibri" pitchFamily="34" charset="-120"/>
              </a:rPr>
              <a:t>say costs of therapy outweigh benefits</a:t>
            </a:r>
            <a:endParaRPr lang="en-US" sz="1600" dirty="0"/>
          </a:p>
        </p:txBody>
      </p:sp>
      <p:sp>
        <p:nvSpPr>
          <p:cNvPr id="7" name="Shape 5"/>
          <p:cNvSpPr/>
          <p:nvPr/>
        </p:nvSpPr>
        <p:spPr>
          <a:xfrm>
            <a:off x="731520" y="2057400"/>
            <a:ext cx="7680960" cy="6858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8" name="Shape 6"/>
          <p:cNvSpPr/>
          <p:nvPr/>
        </p:nvSpPr>
        <p:spPr>
          <a:xfrm>
            <a:off x="731520" y="2057400"/>
            <a:ext cx="54864" cy="685800"/>
          </a:xfrm>
          <a:prstGeom prst="rect">
            <a:avLst/>
          </a:prstGeom>
          <a:solidFill>
            <a:srgbClr val="D97706"/>
          </a:solidFill>
          <a:ln/>
        </p:spPr>
        <p:txBody>
          <a:bodyPr/>
          <a:lstStyle/>
          <a:p>
            <a:endParaRPr/>
          </a:p>
        </p:txBody>
      </p:sp>
      <p:sp>
        <p:nvSpPr>
          <p:cNvPr id="9" name="Text 7"/>
          <p:cNvSpPr/>
          <p:nvPr/>
        </p:nvSpPr>
        <p:spPr>
          <a:xfrm>
            <a:off x="1005840" y="2057400"/>
            <a:ext cx="1645920" cy="685800"/>
          </a:xfrm>
          <a:prstGeom prst="rect">
            <a:avLst/>
          </a:prstGeom>
          <a:noFill/>
          <a:ln/>
        </p:spPr>
        <p:txBody>
          <a:bodyPr wrap="square" lIns="0" tIns="0" rIns="0" bIns="0" rtlCol="0" anchor="ctr"/>
          <a:lstStyle/>
          <a:p>
            <a:pPr marL="0" indent="0">
              <a:buNone/>
            </a:pPr>
            <a:r>
              <a:rPr lang="en-US" sz="2400" b="1" dirty="0">
                <a:solidFill>
                  <a:srgbClr val="D97706"/>
                </a:solidFill>
                <a:latin typeface="Georgia" pitchFamily="34" charset="0"/>
                <a:ea typeface="Georgia" pitchFamily="34" charset="-122"/>
                <a:cs typeface="Georgia" pitchFamily="34" charset="-120"/>
              </a:rPr>
              <a:t>38%</a:t>
            </a:r>
            <a:endParaRPr lang="en-US" sz="2400" dirty="0"/>
          </a:p>
        </p:txBody>
      </p:sp>
      <p:sp>
        <p:nvSpPr>
          <p:cNvPr id="10" name="Text 8"/>
          <p:cNvSpPr/>
          <p:nvPr/>
        </p:nvSpPr>
        <p:spPr>
          <a:xfrm>
            <a:off x="2834640" y="2057400"/>
            <a:ext cx="5303520" cy="685800"/>
          </a:xfrm>
          <a:prstGeom prst="rect">
            <a:avLst/>
          </a:prstGeom>
          <a:noFill/>
          <a:ln/>
        </p:spPr>
        <p:txBody>
          <a:bodyPr wrap="square" lIns="0" tIns="0" rIns="0" bIns="0" rtlCol="0" anchor="ctr"/>
          <a:lstStyle/>
          <a:p>
            <a:pPr marL="0" indent="0">
              <a:buNone/>
            </a:pPr>
            <a:r>
              <a:rPr lang="en-US" sz="1600" dirty="0">
                <a:solidFill>
                  <a:srgbClr val="1E293B"/>
                </a:solidFill>
                <a:latin typeface="Calibri" pitchFamily="34" charset="0"/>
                <a:ea typeface="Calibri" pitchFamily="34" charset="-122"/>
                <a:cs typeface="Calibri" pitchFamily="34" charset="-120"/>
              </a:rPr>
              <a:t>believe most therapists need therapy themselves</a:t>
            </a:r>
            <a:endParaRPr lang="en-US" sz="1600" dirty="0"/>
          </a:p>
        </p:txBody>
      </p:sp>
      <p:sp>
        <p:nvSpPr>
          <p:cNvPr id="11" name="Shape 9"/>
          <p:cNvSpPr/>
          <p:nvPr/>
        </p:nvSpPr>
        <p:spPr>
          <a:xfrm>
            <a:off x="731520" y="2926080"/>
            <a:ext cx="7680960" cy="6858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12" name="Shape 10"/>
          <p:cNvSpPr/>
          <p:nvPr/>
        </p:nvSpPr>
        <p:spPr>
          <a:xfrm>
            <a:off x="731520" y="2926080"/>
            <a:ext cx="54864" cy="685800"/>
          </a:xfrm>
          <a:prstGeom prst="rect">
            <a:avLst/>
          </a:prstGeom>
          <a:solidFill>
            <a:srgbClr val="D97706"/>
          </a:solidFill>
          <a:ln/>
        </p:spPr>
        <p:txBody>
          <a:bodyPr/>
          <a:lstStyle/>
          <a:p>
            <a:endParaRPr/>
          </a:p>
        </p:txBody>
      </p:sp>
      <p:sp>
        <p:nvSpPr>
          <p:cNvPr id="13" name="Text 11"/>
          <p:cNvSpPr/>
          <p:nvPr/>
        </p:nvSpPr>
        <p:spPr>
          <a:xfrm>
            <a:off x="1005840" y="2926080"/>
            <a:ext cx="1645920" cy="685800"/>
          </a:xfrm>
          <a:prstGeom prst="rect">
            <a:avLst/>
          </a:prstGeom>
          <a:noFill/>
          <a:ln/>
        </p:spPr>
        <p:txBody>
          <a:bodyPr wrap="square" lIns="0" tIns="0" rIns="0" bIns="0" rtlCol="0" anchor="ctr"/>
          <a:lstStyle/>
          <a:p>
            <a:pPr marL="0" indent="0">
              <a:buNone/>
            </a:pPr>
            <a:r>
              <a:rPr lang="en-US" sz="2400" b="1" dirty="0">
                <a:solidFill>
                  <a:srgbClr val="D97706"/>
                </a:solidFill>
                <a:latin typeface="Georgia" pitchFamily="34" charset="0"/>
                <a:ea typeface="Georgia" pitchFamily="34" charset="-122"/>
                <a:cs typeface="Georgia" pitchFamily="34" charset="-120"/>
              </a:rPr>
              <a:t>26–50%</a:t>
            </a:r>
            <a:endParaRPr lang="en-US" sz="2400" dirty="0"/>
          </a:p>
        </p:txBody>
      </p:sp>
      <p:sp>
        <p:nvSpPr>
          <p:cNvPr id="14" name="Text 12"/>
          <p:cNvSpPr/>
          <p:nvPr/>
        </p:nvSpPr>
        <p:spPr>
          <a:xfrm>
            <a:off x="2834640" y="2926080"/>
            <a:ext cx="5303520" cy="685800"/>
          </a:xfrm>
          <a:prstGeom prst="rect">
            <a:avLst/>
          </a:prstGeom>
          <a:noFill/>
          <a:ln/>
        </p:spPr>
        <p:txBody>
          <a:bodyPr wrap="square" lIns="0" tIns="0" rIns="0" bIns="0" rtlCol="0" anchor="ctr"/>
          <a:lstStyle/>
          <a:p>
            <a:pPr marL="0" indent="0">
              <a:buNone/>
            </a:pPr>
            <a:r>
              <a:rPr lang="en-US" sz="1600" dirty="0">
                <a:solidFill>
                  <a:srgbClr val="1E293B"/>
                </a:solidFill>
                <a:latin typeface="Calibri" pitchFamily="34" charset="0"/>
                <a:ea typeface="Calibri" pitchFamily="34" charset="-122"/>
                <a:cs typeface="Calibri" pitchFamily="34" charset="-120"/>
              </a:rPr>
              <a:t>public estimate of therapy effectiveness</a:t>
            </a:r>
            <a:endParaRPr lang="en-US" sz="1600" dirty="0"/>
          </a:p>
        </p:txBody>
      </p:sp>
      <p:sp>
        <p:nvSpPr>
          <p:cNvPr id="15" name="Text 13"/>
          <p:cNvSpPr/>
          <p:nvPr/>
        </p:nvSpPr>
        <p:spPr>
          <a:xfrm>
            <a:off x="731520" y="4114800"/>
            <a:ext cx="7680960" cy="457200"/>
          </a:xfrm>
          <a:prstGeom prst="rect">
            <a:avLst/>
          </a:prstGeom>
          <a:noFill/>
          <a:ln/>
        </p:spPr>
        <p:txBody>
          <a:bodyPr wrap="square" lIns="0" tIns="0" rIns="0" bIns="0" rtlCol="0" anchor="ctr"/>
          <a:lstStyle/>
          <a:p>
            <a:pPr marL="0" indent="0">
              <a:buNone/>
            </a:pPr>
            <a:r>
              <a:rPr lang="en-US" sz="1800" b="1" i="1" dirty="0">
                <a:solidFill>
                  <a:srgbClr val="0891B2"/>
                </a:solidFill>
                <a:latin typeface="Georgia" pitchFamily="34" charset="0"/>
                <a:ea typeface="Georgia" pitchFamily="34" charset="-122"/>
                <a:cs typeface="Georgia" pitchFamily="34" charset="-120"/>
              </a:rPr>
              <a:t>This skepticism has a basis.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0E7490"/>
        </a:solidFill>
        <a:effectLst/>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marL="0" indent="0" algn="ctr">
              <a:buNone/>
            </a:pPr>
            <a:r>
              <a:rPr lang="en-US" sz="4800" b="1" dirty="0">
                <a:solidFill>
                  <a:srgbClr val="FFFFFF"/>
                </a:solidFill>
                <a:latin typeface="Georgia" pitchFamily="34" charset="0"/>
                <a:ea typeface="Georgia" pitchFamily="34" charset="-122"/>
                <a:cs typeface="Georgia" pitchFamily="34" charset="-120"/>
              </a:rPr>
              <a:t>IV</a:t>
            </a:r>
            <a:endParaRPr lang="en-US" sz="4800" dirty="0"/>
          </a:p>
        </p:txBody>
      </p:sp>
      <p:sp>
        <p:nvSpPr>
          <p:cNvPr id="3" name="Shape 1"/>
          <p:cNvSpPr/>
          <p:nvPr/>
        </p:nvSpPr>
        <p:spPr>
          <a:xfrm>
            <a:off x="2011680" y="1371600"/>
            <a:ext cx="36576" cy="640080"/>
          </a:xfrm>
          <a:prstGeom prst="rect">
            <a:avLst/>
          </a:prstGeom>
          <a:solidFill>
            <a:srgbClr val="22D3EE"/>
          </a:solidFill>
          <a:ln/>
        </p:spPr>
        <p:txBody>
          <a:bodyPr/>
          <a:lstStyle/>
          <a:p>
            <a:endParaRPr/>
          </a:p>
        </p:txBody>
      </p:sp>
      <p:sp>
        <p:nvSpPr>
          <p:cNvPr id="4" name="Text 2"/>
          <p:cNvSpPr/>
          <p:nvPr/>
        </p:nvSpPr>
        <p:spPr>
          <a:xfrm>
            <a:off x="2286000" y="1005840"/>
            <a:ext cx="5486400" cy="118872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Historical</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Catastrophes</a:t>
            </a:r>
            <a:endParaRPr lang="en-US" sz="3600" dirty="0"/>
          </a:p>
        </p:txBody>
      </p:sp>
      <p:sp>
        <p:nvSpPr>
          <p:cNvPr id="5" name="Text 3"/>
          <p:cNvSpPr/>
          <p:nvPr/>
        </p:nvSpPr>
        <p:spPr>
          <a:xfrm>
            <a:off x="731520" y="3108960"/>
            <a:ext cx="7680960" cy="731520"/>
          </a:xfrm>
          <a:prstGeom prst="rect">
            <a:avLst/>
          </a:prstGeom>
          <a:noFill/>
          <a:ln/>
        </p:spPr>
        <p:txBody>
          <a:bodyPr wrap="square" lIns="0" tIns="0" rIns="0" bIns="0" rtlCol="0" anchor="ctr"/>
          <a:lstStyle/>
          <a:p>
            <a:pPr marL="0" indent="0">
              <a:lnSpc>
                <a:spcPct val="140000"/>
              </a:lnSpc>
              <a:buNone/>
            </a:pPr>
            <a:r>
              <a:rPr lang="en-US" sz="1400" i="1" dirty="0">
                <a:solidFill>
                  <a:srgbClr val="22D3EE"/>
                </a:solidFill>
                <a:latin typeface="Calibri" pitchFamily="34" charset="0"/>
                <a:ea typeface="Calibri" pitchFamily="34" charset="-122"/>
                <a:cs typeface="Calibri" pitchFamily="34" charset="-120"/>
              </a:rPr>
              <a:t>These aren't ancient history. These are cases where caring professionals,</a:t>
            </a:r>
            <a:endParaRPr lang="en-US" sz="1400" dirty="0"/>
          </a:p>
          <a:p>
            <a:pPr marL="0" indent="0">
              <a:lnSpc>
                <a:spcPct val="140000"/>
              </a:lnSpc>
              <a:buNone/>
            </a:pPr>
            <a:r>
              <a:rPr lang="en-US" sz="1400" i="1" dirty="0">
                <a:solidFill>
                  <a:srgbClr val="22D3EE"/>
                </a:solidFill>
                <a:latin typeface="Calibri" pitchFamily="34" charset="0"/>
                <a:ea typeface="Calibri" pitchFamily="34" charset="-122"/>
                <a:cs typeface="Calibri" pitchFamily="34" charset="-120"/>
              </a:rPr>
              <a:t>lacking objective frameworks, got swept up in collective beliefs that destroyed lives.</a:t>
            </a:r>
            <a:endParaRPr lang="en-US" sz="1400" dirty="0"/>
          </a:p>
        </p:txBody>
      </p:sp>
      <p:sp>
        <p:nvSpPr>
          <p:cNvPr id="6" name="Text 4"/>
          <p:cNvSpPr/>
          <p:nvPr/>
        </p:nvSpPr>
        <p:spPr>
          <a:xfrm>
            <a:off x="731520" y="4389120"/>
            <a:ext cx="2743200" cy="365760"/>
          </a:xfrm>
          <a:prstGeom prst="rect">
            <a:avLst/>
          </a:prstGeom>
          <a:noFill/>
          <a:ln/>
        </p:spPr>
        <p:txBody>
          <a:bodyPr wrap="square" lIns="0" tIns="0" rIns="0" bIns="0" rtlCol="0" anchor="ctr"/>
          <a:lstStyle/>
          <a:p>
            <a:pPr marL="0" indent="0">
              <a:buNone/>
            </a:pPr>
            <a:r>
              <a:rPr lang="en-US" sz="1300" i="1" dirty="0">
                <a:solidFill>
                  <a:srgbClr val="22D3EE"/>
                </a:solidFill>
                <a:latin typeface="Calibri" pitchFamily="34" charset="0"/>
                <a:ea typeface="Calibri" pitchFamily="34" charset="-122"/>
                <a:cs typeface="Calibri" pitchFamily="34" charset="-120"/>
              </a:rPr>
              <a:t>14 minutes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800" b="1" dirty="0">
                <a:solidFill>
                  <a:srgbClr val="FFFFFF"/>
                </a:solidFill>
                <a:latin typeface="Georgia" pitchFamily="34" charset="0"/>
                <a:ea typeface="Georgia" pitchFamily="34" charset="-122"/>
                <a:cs typeface="Georgia" pitchFamily="34" charset="-120"/>
              </a:rPr>
              <a:t>Salem Witch Trials (1692)</a:t>
            </a:r>
            <a:endParaRPr lang="en-US" sz="2800" dirty="0"/>
          </a:p>
        </p:txBody>
      </p:sp>
      <p:sp>
        <p:nvSpPr>
          <p:cNvPr id="3" name="Shape 1"/>
          <p:cNvSpPr/>
          <p:nvPr/>
        </p:nvSpPr>
        <p:spPr>
          <a:xfrm>
            <a:off x="731520" y="1280160"/>
            <a:ext cx="3657600" cy="1463040"/>
          </a:xfrm>
          <a:prstGeom prst="rect">
            <a:avLst/>
          </a:prstGeom>
          <a:solidFill>
            <a:srgbClr val="1B2A4A"/>
          </a:solidFill>
          <a:ln/>
        </p:spPr>
        <p:txBody>
          <a:bodyPr/>
          <a:lstStyle/>
          <a:p>
            <a:endParaRPr/>
          </a:p>
        </p:txBody>
      </p:sp>
      <p:sp>
        <p:nvSpPr>
          <p:cNvPr id="4" name="Text 2"/>
          <p:cNvSpPr/>
          <p:nvPr/>
        </p:nvSpPr>
        <p:spPr>
          <a:xfrm>
            <a:off x="731520" y="1325880"/>
            <a:ext cx="3657600" cy="822960"/>
          </a:xfrm>
          <a:prstGeom prst="rect">
            <a:avLst/>
          </a:prstGeom>
          <a:noFill/>
          <a:ln/>
        </p:spPr>
        <p:txBody>
          <a:bodyPr wrap="square" lIns="0" tIns="0" rIns="0" bIns="0" rtlCol="0" anchor="ctr"/>
          <a:lstStyle/>
          <a:p>
            <a:pPr marL="0" indent="0" algn="ctr">
              <a:buNone/>
            </a:pPr>
            <a:r>
              <a:rPr lang="en-US" sz="5600" b="1" dirty="0">
                <a:solidFill>
                  <a:srgbClr val="D97706"/>
                </a:solidFill>
                <a:latin typeface="Georgia" pitchFamily="34" charset="0"/>
                <a:ea typeface="Georgia" pitchFamily="34" charset="-122"/>
                <a:cs typeface="Georgia" pitchFamily="34" charset="-120"/>
              </a:rPr>
              <a:t>25+</a:t>
            </a:r>
            <a:endParaRPr lang="en-US" sz="5600" dirty="0"/>
          </a:p>
        </p:txBody>
      </p:sp>
      <p:sp>
        <p:nvSpPr>
          <p:cNvPr id="5" name="Text 3"/>
          <p:cNvSpPr/>
          <p:nvPr/>
        </p:nvSpPr>
        <p:spPr>
          <a:xfrm>
            <a:off x="731520" y="2148840"/>
            <a:ext cx="3657600" cy="365760"/>
          </a:xfrm>
          <a:prstGeom prst="rect">
            <a:avLst/>
          </a:prstGeom>
          <a:noFill/>
          <a:ln/>
        </p:spPr>
        <p:txBody>
          <a:bodyPr wrap="square" lIns="0" tIns="0" rIns="0" bIns="0" rtlCol="0" anchor="ctr"/>
          <a:lstStyle/>
          <a:p>
            <a:pPr marL="0" indent="0" algn="ctr">
              <a:buNone/>
            </a:pPr>
            <a:r>
              <a:rPr lang="en-US" sz="1600" dirty="0">
                <a:solidFill>
                  <a:srgbClr val="94A3B8"/>
                </a:solidFill>
                <a:latin typeface="Calibri" pitchFamily="34" charset="0"/>
                <a:ea typeface="Calibri" pitchFamily="34" charset="-122"/>
                <a:cs typeface="Calibri" pitchFamily="34" charset="-120"/>
              </a:rPr>
              <a:t>dead</a:t>
            </a:r>
            <a:endParaRPr lang="en-US" sz="1600" dirty="0"/>
          </a:p>
        </p:txBody>
      </p:sp>
      <p:sp>
        <p:nvSpPr>
          <p:cNvPr id="6" name="Shape 4"/>
          <p:cNvSpPr/>
          <p:nvPr/>
        </p:nvSpPr>
        <p:spPr>
          <a:xfrm>
            <a:off x="4754880" y="1280160"/>
            <a:ext cx="3657600" cy="1463040"/>
          </a:xfrm>
          <a:prstGeom prst="rect">
            <a:avLst/>
          </a:prstGeom>
          <a:solidFill>
            <a:srgbClr val="1B2A4A"/>
          </a:solidFill>
          <a:ln/>
        </p:spPr>
        <p:txBody>
          <a:bodyPr/>
          <a:lstStyle/>
          <a:p>
            <a:endParaRPr/>
          </a:p>
        </p:txBody>
      </p:sp>
      <p:sp>
        <p:nvSpPr>
          <p:cNvPr id="7" name="Text 5"/>
          <p:cNvSpPr/>
          <p:nvPr/>
        </p:nvSpPr>
        <p:spPr>
          <a:xfrm>
            <a:off x="4754880" y="1325880"/>
            <a:ext cx="3657600" cy="822960"/>
          </a:xfrm>
          <a:prstGeom prst="rect">
            <a:avLst/>
          </a:prstGeom>
          <a:noFill/>
          <a:ln/>
        </p:spPr>
        <p:txBody>
          <a:bodyPr wrap="square" lIns="0" tIns="0" rIns="0" bIns="0" rtlCol="0" anchor="ctr"/>
          <a:lstStyle/>
          <a:p>
            <a:pPr marL="0" indent="0" algn="ctr">
              <a:buNone/>
            </a:pPr>
            <a:r>
              <a:rPr lang="en-US" sz="5600" b="1" dirty="0">
                <a:solidFill>
                  <a:srgbClr val="D97706"/>
                </a:solidFill>
                <a:latin typeface="Georgia" pitchFamily="34" charset="0"/>
                <a:ea typeface="Georgia" pitchFamily="34" charset="-122"/>
                <a:cs typeface="Georgia" pitchFamily="34" charset="-120"/>
              </a:rPr>
              <a:t>200+</a:t>
            </a:r>
            <a:endParaRPr lang="en-US" sz="5600" dirty="0"/>
          </a:p>
        </p:txBody>
      </p:sp>
      <p:sp>
        <p:nvSpPr>
          <p:cNvPr id="8" name="Text 6"/>
          <p:cNvSpPr/>
          <p:nvPr/>
        </p:nvSpPr>
        <p:spPr>
          <a:xfrm>
            <a:off x="4754880" y="2148840"/>
            <a:ext cx="3657600" cy="365760"/>
          </a:xfrm>
          <a:prstGeom prst="rect">
            <a:avLst/>
          </a:prstGeom>
          <a:noFill/>
          <a:ln/>
        </p:spPr>
        <p:txBody>
          <a:bodyPr wrap="square" lIns="0" tIns="0" rIns="0" bIns="0" rtlCol="0" anchor="ctr"/>
          <a:lstStyle/>
          <a:p>
            <a:pPr marL="0" indent="0" algn="ctr">
              <a:buNone/>
            </a:pPr>
            <a:r>
              <a:rPr lang="en-US" sz="1600" dirty="0">
                <a:solidFill>
                  <a:srgbClr val="94A3B8"/>
                </a:solidFill>
                <a:latin typeface="Calibri" pitchFamily="34" charset="0"/>
                <a:ea typeface="Calibri" pitchFamily="34" charset="-122"/>
                <a:cs typeface="Calibri" pitchFamily="34" charset="-120"/>
              </a:rPr>
              <a:t>accused</a:t>
            </a:r>
            <a:endParaRPr lang="en-US" sz="1600" dirty="0"/>
          </a:p>
        </p:txBody>
      </p:sp>
      <p:sp>
        <p:nvSpPr>
          <p:cNvPr id="9" name="Text 7"/>
          <p:cNvSpPr/>
          <p:nvPr/>
        </p:nvSpPr>
        <p:spPr>
          <a:xfrm>
            <a:off x="731520" y="3200400"/>
            <a:ext cx="7680960" cy="731520"/>
          </a:xfrm>
          <a:prstGeom prst="rect">
            <a:avLst/>
          </a:prstGeom>
          <a:noFill/>
          <a:ln/>
        </p:spPr>
        <p:txBody>
          <a:bodyPr wrap="square" lIns="0" tIns="0" rIns="0" bIns="0" rtlCol="0" anchor="ctr"/>
          <a:lstStyle/>
          <a:p>
            <a:pPr marL="0" indent="0">
              <a:lnSpc>
                <a:spcPct val="140000"/>
              </a:lnSpc>
              <a:buNone/>
            </a:pPr>
            <a:r>
              <a:rPr lang="en-US" sz="1500" dirty="0">
                <a:solidFill>
                  <a:srgbClr val="94A3B8"/>
                </a:solidFill>
                <a:latin typeface="Calibri" pitchFamily="34" charset="0"/>
                <a:ea typeface="Calibri" pitchFamily="34" charset="-122"/>
                <a:cs typeface="Calibri" pitchFamily="34" charset="-120"/>
              </a:rPr>
              <a:t>Evidence: spectral visions, fits, accusations.</a:t>
            </a:r>
            <a:endParaRPr lang="en-US" sz="1500" dirty="0"/>
          </a:p>
          <a:p>
            <a:pPr marL="0" indent="0">
              <a:lnSpc>
                <a:spcPct val="140000"/>
              </a:lnSpc>
              <a:buNone/>
            </a:pPr>
            <a:r>
              <a:rPr lang="en-US" sz="1500" dirty="0">
                <a:solidFill>
                  <a:srgbClr val="94A3B8"/>
                </a:solidFill>
                <a:latin typeface="Calibri" pitchFamily="34" charset="0"/>
                <a:ea typeface="Calibri" pitchFamily="34" charset="-122"/>
                <a:cs typeface="Calibri" pitchFamily="34" charset="-120"/>
              </a:rPr>
              <a:t>Within years, jurors signed public apologies.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800" b="1" dirty="0">
                <a:solidFill>
                  <a:srgbClr val="FFFFFF"/>
                </a:solidFill>
                <a:latin typeface="Georgia" pitchFamily="34" charset="0"/>
                <a:ea typeface="Georgia" pitchFamily="34" charset="-122"/>
                <a:cs typeface="Georgia" pitchFamily="34" charset="-120"/>
              </a:rPr>
              <a:t>Lobotomy Epidemic (1940s–1950s)</a:t>
            </a:r>
            <a:endParaRPr lang="en-US" sz="2800" dirty="0"/>
          </a:p>
        </p:txBody>
      </p:sp>
      <p:sp>
        <p:nvSpPr>
          <p:cNvPr id="3" name="Shape 1"/>
          <p:cNvSpPr/>
          <p:nvPr/>
        </p:nvSpPr>
        <p:spPr>
          <a:xfrm>
            <a:off x="731520" y="1188720"/>
            <a:ext cx="7680960" cy="1280160"/>
          </a:xfrm>
          <a:prstGeom prst="rect">
            <a:avLst/>
          </a:prstGeom>
          <a:solidFill>
            <a:srgbClr val="1B2A4A"/>
          </a:solidFill>
          <a:ln/>
        </p:spPr>
        <p:txBody>
          <a:bodyPr/>
          <a:lstStyle/>
          <a:p>
            <a:endParaRPr/>
          </a:p>
        </p:txBody>
      </p:sp>
      <p:sp>
        <p:nvSpPr>
          <p:cNvPr id="4" name="Text 2"/>
          <p:cNvSpPr/>
          <p:nvPr/>
        </p:nvSpPr>
        <p:spPr>
          <a:xfrm>
            <a:off x="731520" y="1188720"/>
            <a:ext cx="7680960" cy="731520"/>
          </a:xfrm>
          <a:prstGeom prst="rect">
            <a:avLst/>
          </a:prstGeom>
          <a:noFill/>
          <a:ln/>
        </p:spPr>
        <p:txBody>
          <a:bodyPr wrap="square" lIns="0" tIns="0" rIns="0" bIns="0" rtlCol="0" anchor="ctr"/>
          <a:lstStyle/>
          <a:p>
            <a:pPr marL="0" indent="0" algn="ctr">
              <a:buNone/>
            </a:pPr>
            <a:r>
              <a:rPr lang="en-US" sz="5600" b="1" dirty="0">
                <a:solidFill>
                  <a:srgbClr val="D97706"/>
                </a:solidFill>
                <a:latin typeface="Georgia" pitchFamily="34" charset="0"/>
                <a:ea typeface="Georgia" pitchFamily="34" charset="-122"/>
                <a:cs typeface="Georgia" pitchFamily="34" charset="-120"/>
              </a:rPr>
              <a:t>50,000+</a:t>
            </a:r>
            <a:endParaRPr lang="en-US" sz="5600" dirty="0"/>
          </a:p>
        </p:txBody>
      </p:sp>
      <p:sp>
        <p:nvSpPr>
          <p:cNvPr id="5" name="Text 3"/>
          <p:cNvSpPr/>
          <p:nvPr/>
        </p:nvSpPr>
        <p:spPr>
          <a:xfrm>
            <a:off x="731520" y="1920240"/>
            <a:ext cx="7680960" cy="365760"/>
          </a:xfrm>
          <a:prstGeom prst="rect">
            <a:avLst/>
          </a:prstGeom>
          <a:noFill/>
          <a:ln/>
        </p:spPr>
        <p:txBody>
          <a:bodyPr wrap="square" lIns="0" tIns="0" rIns="0" bIns="0" rtlCol="0" anchor="ctr"/>
          <a:lstStyle/>
          <a:p>
            <a:pPr marL="0" indent="0" algn="ctr">
              <a:buNone/>
            </a:pPr>
            <a:r>
              <a:rPr lang="en-US" sz="1600" dirty="0">
                <a:solidFill>
                  <a:srgbClr val="94A3B8"/>
                </a:solidFill>
                <a:latin typeface="Calibri" pitchFamily="34" charset="0"/>
                <a:ea typeface="Calibri" pitchFamily="34" charset="-122"/>
                <a:cs typeface="Calibri" pitchFamily="34" charset="-120"/>
              </a:rPr>
              <a:t>lobotomies in the United States</a:t>
            </a:r>
            <a:endParaRPr lang="en-US" sz="1600" dirty="0"/>
          </a:p>
        </p:txBody>
      </p:sp>
      <p:sp>
        <p:nvSpPr>
          <p:cNvPr id="6" name="Shape 4"/>
          <p:cNvSpPr/>
          <p:nvPr/>
        </p:nvSpPr>
        <p:spPr>
          <a:xfrm>
            <a:off x="1097280" y="2743200"/>
            <a:ext cx="6949440" cy="365760"/>
          </a:xfrm>
          <a:prstGeom prst="rect">
            <a:avLst/>
          </a:prstGeom>
          <a:solidFill>
            <a:srgbClr val="1B2A4A"/>
          </a:solidFill>
          <a:ln/>
        </p:spPr>
        <p:txBody>
          <a:bodyPr/>
          <a:lstStyle/>
          <a:p>
            <a:endParaRPr/>
          </a:p>
        </p:txBody>
      </p:sp>
      <p:sp>
        <p:nvSpPr>
          <p:cNvPr id="7" name="Shape 5"/>
          <p:cNvSpPr/>
          <p:nvPr/>
        </p:nvSpPr>
        <p:spPr>
          <a:xfrm>
            <a:off x="1097280" y="2743200"/>
            <a:ext cx="54864" cy="365760"/>
          </a:xfrm>
          <a:prstGeom prst="rect">
            <a:avLst/>
          </a:prstGeom>
          <a:solidFill>
            <a:srgbClr val="D97706"/>
          </a:solidFill>
          <a:ln/>
        </p:spPr>
        <p:txBody>
          <a:bodyPr/>
          <a:lstStyle/>
          <a:p>
            <a:endParaRPr/>
          </a:p>
        </p:txBody>
      </p:sp>
      <p:sp>
        <p:nvSpPr>
          <p:cNvPr id="8" name="Text 6"/>
          <p:cNvSpPr/>
          <p:nvPr/>
        </p:nvSpPr>
        <p:spPr>
          <a:xfrm>
            <a:off x="1417320" y="2743200"/>
            <a:ext cx="6400800" cy="36576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~5% mortality rate. Thousands permanently damaged.</a:t>
            </a:r>
            <a:endParaRPr lang="en-US" sz="1300" dirty="0"/>
          </a:p>
        </p:txBody>
      </p:sp>
      <p:sp>
        <p:nvSpPr>
          <p:cNvPr id="9" name="Shape 7"/>
          <p:cNvSpPr/>
          <p:nvPr/>
        </p:nvSpPr>
        <p:spPr>
          <a:xfrm>
            <a:off x="1097280" y="3246120"/>
            <a:ext cx="6949440" cy="365760"/>
          </a:xfrm>
          <a:prstGeom prst="rect">
            <a:avLst/>
          </a:prstGeom>
          <a:solidFill>
            <a:srgbClr val="1B2A4A"/>
          </a:solidFill>
          <a:ln/>
        </p:spPr>
        <p:txBody>
          <a:bodyPr/>
          <a:lstStyle/>
          <a:p>
            <a:endParaRPr/>
          </a:p>
        </p:txBody>
      </p:sp>
      <p:sp>
        <p:nvSpPr>
          <p:cNvPr id="10" name="Shape 8"/>
          <p:cNvSpPr/>
          <p:nvPr/>
        </p:nvSpPr>
        <p:spPr>
          <a:xfrm>
            <a:off x="1097280" y="3246120"/>
            <a:ext cx="54864" cy="365760"/>
          </a:xfrm>
          <a:prstGeom prst="rect">
            <a:avLst/>
          </a:prstGeom>
          <a:solidFill>
            <a:srgbClr val="D97706"/>
          </a:solidFill>
          <a:ln/>
        </p:spPr>
        <p:txBody>
          <a:bodyPr/>
          <a:lstStyle/>
          <a:p>
            <a:endParaRPr/>
          </a:p>
        </p:txBody>
      </p:sp>
      <p:sp>
        <p:nvSpPr>
          <p:cNvPr id="11" name="Text 9"/>
          <p:cNvSpPr/>
          <p:nvPr/>
        </p:nvSpPr>
        <p:spPr>
          <a:xfrm>
            <a:off x="1417320" y="3246120"/>
            <a:ext cx="6400800" cy="36576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Freeman performed 4,000 personally — on patients as young as 4.</a:t>
            </a:r>
            <a:endParaRPr lang="en-US" sz="1300" dirty="0"/>
          </a:p>
        </p:txBody>
      </p:sp>
      <p:sp>
        <p:nvSpPr>
          <p:cNvPr id="12" name="Shape 10"/>
          <p:cNvSpPr/>
          <p:nvPr/>
        </p:nvSpPr>
        <p:spPr>
          <a:xfrm>
            <a:off x="1097280" y="3749040"/>
            <a:ext cx="6949440" cy="365760"/>
          </a:xfrm>
          <a:prstGeom prst="rect">
            <a:avLst/>
          </a:prstGeom>
          <a:solidFill>
            <a:srgbClr val="1B2A4A"/>
          </a:solidFill>
          <a:ln/>
        </p:spPr>
        <p:txBody>
          <a:bodyPr/>
          <a:lstStyle/>
          <a:p>
            <a:endParaRPr/>
          </a:p>
        </p:txBody>
      </p:sp>
      <p:sp>
        <p:nvSpPr>
          <p:cNvPr id="13" name="Shape 11"/>
          <p:cNvSpPr/>
          <p:nvPr/>
        </p:nvSpPr>
        <p:spPr>
          <a:xfrm>
            <a:off x="1097280" y="3749040"/>
            <a:ext cx="54864" cy="365760"/>
          </a:xfrm>
          <a:prstGeom prst="rect">
            <a:avLst/>
          </a:prstGeom>
          <a:solidFill>
            <a:srgbClr val="D97706"/>
          </a:solidFill>
          <a:ln/>
        </p:spPr>
        <p:txBody>
          <a:bodyPr/>
          <a:lstStyle/>
          <a:p>
            <a:endParaRPr/>
          </a:p>
        </p:txBody>
      </p:sp>
      <p:sp>
        <p:nvSpPr>
          <p:cNvPr id="14" name="Text 12"/>
          <p:cNvSpPr/>
          <p:nvPr/>
        </p:nvSpPr>
        <p:spPr>
          <a:xfrm>
            <a:off x="1417320" y="3749040"/>
            <a:ext cx="6400800" cy="36576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Celebrated with a Nobel Prize. Soviet Union banned it in 1950.</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"Refrigerator Mother" Theory (1950s–1970s)</a:t>
            </a:r>
            <a:endParaRPr lang="en-US" sz="2600" dirty="0"/>
          </a:p>
        </p:txBody>
      </p:sp>
      <p:sp>
        <p:nvSpPr>
          <p:cNvPr id="3" name="Shape 1"/>
          <p:cNvSpPr/>
          <p:nvPr/>
        </p:nvSpPr>
        <p:spPr>
          <a:xfrm>
            <a:off x="2286000" y="1188720"/>
            <a:ext cx="4572000" cy="1280160"/>
          </a:xfrm>
          <a:prstGeom prst="rect">
            <a:avLst/>
          </a:prstGeom>
          <a:solidFill>
            <a:srgbClr val="1B2A4A"/>
          </a:solidFill>
          <a:ln/>
        </p:spPr>
        <p:txBody>
          <a:bodyPr/>
          <a:lstStyle/>
          <a:p>
            <a:endParaRPr/>
          </a:p>
        </p:txBody>
      </p:sp>
      <p:sp>
        <p:nvSpPr>
          <p:cNvPr id="4" name="Text 2"/>
          <p:cNvSpPr/>
          <p:nvPr/>
        </p:nvSpPr>
        <p:spPr>
          <a:xfrm>
            <a:off x="2286000" y="1234440"/>
            <a:ext cx="4572000" cy="731520"/>
          </a:xfrm>
          <a:prstGeom prst="rect">
            <a:avLst/>
          </a:prstGeom>
          <a:noFill/>
          <a:ln/>
        </p:spPr>
        <p:txBody>
          <a:bodyPr wrap="square" lIns="0" tIns="0" rIns="0" bIns="0" rtlCol="0" anchor="ctr"/>
          <a:lstStyle/>
          <a:p>
            <a:pPr marL="0" indent="0" algn="ctr">
              <a:buNone/>
            </a:pPr>
            <a:r>
              <a:rPr lang="en-US" sz="5200" b="1" dirty="0">
                <a:solidFill>
                  <a:srgbClr val="D97706"/>
                </a:solidFill>
                <a:latin typeface="Georgia" pitchFamily="34" charset="0"/>
                <a:ea typeface="Georgia" pitchFamily="34" charset="-122"/>
                <a:cs typeface="Georgia" pitchFamily="34" charset="-120"/>
              </a:rPr>
              <a:t>20 years</a:t>
            </a:r>
            <a:endParaRPr lang="en-US" sz="5200" dirty="0"/>
          </a:p>
        </p:txBody>
      </p:sp>
      <p:sp>
        <p:nvSpPr>
          <p:cNvPr id="5" name="Text 3"/>
          <p:cNvSpPr/>
          <p:nvPr/>
        </p:nvSpPr>
        <p:spPr>
          <a:xfrm>
            <a:off x="2286000" y="1965960"/>
            <a:ext cx="4572000" cy="365760"/>
          </a:xfrm>
          <a:prstGeom prst="rect">
            <a:avLst/>
          </a:prstGeom>
          <a:noFill/>
          <a:ln/>
        </p:spPr>
        <p:txBody>
          <a:bodyPr wrap="square" lIns="0" tIns="0" rIns="0" bIns="0" rtlCol="0" anchor="ctr"/>
          <a:lstStyle/>
          <a:p>
            <a:pPr marL="0" indent="0" algn="ctr">
              <a:buNone/>
            </a:pPr>
            <a:r>
              <a:rPr lang="en-US" sz="1600" dirty="0">
                <a:solidFill>
                  <a:srgbClr val="94A3B8"/>
                </a:solidFill>
                <a:latin typeface="Calibri" pitchFamily="34" charset="0"/>
                <a:ea typeface="Calibri" pitchFamily="34" charset="-122"/>
                <a:cs typeface="Calibri" pitchFamily="34" charset="-120"/>
              </a:rPr>
              <a:t>blaming mothers for autism</a:t>
            </a:r>
            <a:endParaRPr lang="en-US" sz="1600" dirty="0"/>
          </a:p>
        </p:txBody>
      </p:sp>
      <p:sp>
        <p:nvSpPr>
          <p:cNvPr id="6" name="Text 4"/>
          <p:cNvSpPr/>
          <p:nvPr/>
        </p:nvSpPr>
        <p:spPr>
          <a:xfrm>
            <a:off x="731520" y="2834640"/>
            <a:ext cx="7680960" cy="914400"/>
          </a:xfrm>
          <a:prstGeom prst="rect">
            <a:avLst/>
          </a:prstGeom>
          <a:noFill/>
          <a:ln/>
        </p:spPr>
        <p:txBody>
          <a:bodyPr wrap="square" lIns="0" tIns="0" rIns="0" bIns="0" rtlCol="0" anchor="ctr"/>
          <a:lstStyle/>
          <a:p>
            <a:pPr marL="0" indent="0">
              <a:lnSpc>
                <a:spcPct val="150000"/>
              </a:lnSpc>
              <a:buNone/>
            </a:pPr>
            <a:r>
              <a:rPr lang="en-US" sz="1500" dirty="0">
                <a:solidFill>
                  <a:srgbClr val="94A3B8"/>
                </a:solidFill>
                <a:latin typeface="Calibri" pitchFamily="34" charset="0"/>
                <a:ea typeface="Calibri" pitchFamily="34" charset="-122"/>
                <a:cs typeface="Calibri" pitchFamily="34" charset="-120"/>
              </a:rPr>
              <a:t>Belief: Autism caused by cold, unloving mothers.</a:t>
            </a:r>
            <a:endParaRPr lang="en-US" sz="1500" dirty="0"/>
          </a:p>
          <a:p>
            <a:pPr marL="0" indent="0">
              <a:lnSpc>
                <a:spcPct val="150000"/>
              </a:lnSpc>
              <a:buNone/>
            </a:pPr>
            <a:r>
              <a:rPr lang="en-US" sz="1500" dirty="0">
                <a:solidFill>
                  <a:srgbClr val="94A3B8"/>
                </a:solidFill>
                <a:latin typeface="Calibri" pitchFamily="34" charset="0"/>
                <a:ea typeface="Calibri" pitchFamily="34" charset="-122"/>
                <a:cs typeface="Calibri" pitchFamily="34" charset="-120"/>
              </a:rPr>
              <a:t>Evidence: Psychoanalytic interpretation.</a:t>
            </a:r>
            <a:endParaRPr lang="en-US" sz="1500" dirty="0"/>
          </a:p>
          <a:p>
            <a:pPr marL="0" indent="0">
              <a:lnSpc>
                <a:spcPct val="150000"/>
              </a:lnSpc>
              <a:buNone/>
            </a:pPr>
            <a:r>
              <a:rPr lang="en-US" sz="1500" dirty="0">
                <a:solidFill>
                  <a:srgbClr val="94A3B8"/>
                </a:solidFill>
                <a:latin typeface="Calibri" pitchFamily="34" charset="0"/>
                <a:ea typeface="Calibri" pitchFamily="34" charset="-122"/>
                <a:cs typeface="Calibri" pitchFamily="34" charset="-120"/>
              </a:rPr>
              <a:t>Children institutionalized. Immense guilt inflicted.</a:t>
            </a:r>
            <a:endParaRPr lang="en-US" sz="1500" dirty="0"/>
          </a:p>
        </p:txBody>
      </p:sp>
      <p:sp>
        <p:nvSpPr>
          <p:cNvPr id="7" name="Text 5"/>
          <p:cNvSpPr/>
          <p:nvPr/>
        </p:nvSpPr>
        <p:spPr>
          <a:xfrm>
            <a:off x="731520" y="3931920"/>
            <a:ext cx="7680960" cy="457200"/>
          </a:xfrm>
          <a:prstGeom prst="rect">
            <a:avLst/>
          </a:prstGeom>
          <a:noFill/>
          <a:ln/>
        </p:spPr>
        <p:txBody>
          <a:bodyPr wrap="square" lIns="0" tIns="0" rIns="0" bIns="0" rtlCol="0" anchor="ctr"/>
          <a:lstStyle/>
          <a:p>
            <a:pPr marL="0" indent="0">
              <a:buNone/>
            </a:pPr>
            <a:r>
              <a:rPr lang="en-US" sz="1400" i="1" dirty="0">
                <a:solidFill>
                  <a:srgbClr val="22D3EE"/>
                </a:solidFill>
                <a:latin typeface="Calibri" pitchFamily="34" charset="0"/>
                <a:ea typeface="Calibri" pitchFamily="34" charset="-122"/>
                <a:cs typeface="Calibri" pitchFamily="34" charset="-120"/>
              </a:rPr>
              <a:t>Bettelheim exposed as fraud who lied about credentials and abused patients.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731520" y="274320"/>
            <a:ext cx="7680960" cy="54864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The Recovered Memory Catastrophe</a:t>
            </a:r>
            <a:endParaRPr lang="en-US" sz="2600" dirty="0"/>
          </a:p>
        </p:txBody>
      </p:sp>
      <p:sp>
        <p:nvSpPr>
          <p:cNvPr id="3" name="Text 1"/>
          <p:cNvSpPr/>
          <p:nvPr/>
        </p:nvSpPr>
        <p:spPr>
          <a:xfrm>
            <a:off x="731520" y="777240"/>
            <a:ext cx="7680960" cy="365760"/>
          </a:xfrm>
          <a:prstGeom prst="rect">
            <a:avLst/>
          </a:prstGeom>
          <a:noFill/>
          <a:ln/>
        </p:spPr>
        <p:txBody>
          <a:bodyPr wrap="square" lIns="0" tIns="0" rIns="0" bIns="0" rtlCol="0" anchor="ctr"/>
          <a:lstStyle/>
          <a:p>
            <a:pPr marL="0" indent="0">
              <a:buNone/>
            </a:pPr>
            <a:r>
              <a:rPr lang="en-US" sz="1700" b="1" i="1" dirty="0">
                <a:solidFill>
                  <a:srgbClr val="22D3EE"/>
                </a:solidFill>
                <a:latin typeface="Georgia" pitchFamily="34" charset="0"/>
                <a:ea typeface="Georgia" pitchFamily="34" charset="-122"/>
                <a:cs typeface="Georgia" pitchFamily="34" charset="-120"/>
              </a:rPr>
              <a:t>1 engine.  3 disasters.  Zero evidence.</a:t>
            </a:r>
            <a:endParaRPr lang="en-US" sz="1700" dirty="0"/>
          </a:p>
        </p:txBody>
      </p:sp>
      <p:sp>
        <p:nvSpPr>
          <p:cNvPr id="4" name="Shape 2"/>
          <p:cNvSpPr/>
          <p:nvPr/>
        </p:nvSpPr>
        <p:spPr>
          <a:xfrm>
            <a:off x="457200" y="1371600"/>
            <a:ext cx="2606040" cy="2468880"/>
          </a:xfrm>
          <a:prstGeom prst="rect">
            <a:avLst/>
          </a:prstGeom>
          <a:solidFill>
            <a:srgbClr val="1B2A4A"/>
          </a:solidFill>
          <a:ln/>
        </p:spPr>
        <p:txBody>
          <a:bodyPr/>
          <a:lstStyle/>
          <a:p>
            <a:endParaRPr/>
          </a:p>
        </p:txBody>
      </p:sp>
      <p:sp>
        <p:nvSpPr>
          <p:cNvPr id="5" name="Shape 3"/>
          <p:cNvSpPr/>
          <p:nvPr/>
        </p:nvSpPr>
        <p:spPr>
          <a:xfrm>
            <a:off x="457200" y="1371600"/>
            <a:ext cx="2606040" cy="54864"/>
          </a:xfrm>
          <a:prstGeom prst="rect">
            <a:avLst/>
          </a:prstGeom>
          <a:solidFill>
            <a:srgbClr val="D97706"/>
          </a:solidFill>
          <a:ln/>
        </p:spPr>
        <p:txBody>
          <a:bodyPr/>
          <a:lstStyle/>
          <a:p>
            <a:endParaRPr/>
          </a:p>
        </p:txBody>
      </p:sp>
      <p:sp>
        <p:nvSpPr>
          <p:cNvPr id="6" name="Text 4"/>
          <p:cNvSpPr/>
          <p:nvPr/>
        </p:nvSpPr>
        <p:spPr>
          <a:xfrm>
            <a:off x="457200" y="1508760"/>
            <a:ext cx="2606040" cy="320040"/>
          </a:xfrm>
          <a:prstGeom prst="rect">
            <a:avLst/>
          </a:prstGeom>
          <a:noFill/>
          <a:ln/>
        </p:spPr>
        <p:txBody>
          <a:bodyPr wrap="square" lIns="0" tIns="0" rIns="0" bIns="0" rtlCol="0" anchor="ctr"/>
          <a:lstStyle/>
          <a:p>
            <a:pPr marL="0" indent="0" algn="ctr">
              <a:buNone/>
            </a:pPr>
            <a:r>
              <a:rPr lang="en-US" sz="1400" b="1" dirty="0">
                <a:solidFill>
                  <a:srgbClr val="22D3EE"/>
                </a:solidFill>
                <a:latin typeface="Calibri" pitchFamily="34" charset="0"/>
                <a:ea typeface="Calibri" pitchFamily="34" charset="-122"/>
                <a:cs typeface="Calibri" pitchFamily="34" charset="-120"/>
              </a:rPr>
              <a:t>Recovered Memory</a:t>
            </a:r>
            <a:endParaRPr lang="en-US" sz="1400" dirty="0"/>
          </a:p>
        </p:txBody>
      </p:sp>
      <p:sp>
        <p:nvSpPr>
          <p:cNvPr id="7" name="Text 5"/>
          <p:cNvSpPr/>
          <p:nvPr/>
        </p:nvSpPr>
        <p:spPr>
          <a:xfrm>
            <a:off x="457200" y="1828800"/>
            <a:ext cx="2606040" cy="502920"/>
          </a:xfrm>
          <a:prstGeom prst="rect">
            <a:avLst/>
          </a:prstGeom>
          <a:noFill/>
          <a:ln/>
        </p:spPr>
        <p:txBody>
          <a:bodyPr wrap="square" lIns="0" tIns="0" rIns="0" bIns="0" rtlCol="0" anchor="ctr"/>
          <a:lstStyle/>
          <a:p>
            <a:pPr marL="0" indent="0" algn="ctr">
              <a:buNone/>
            </a:pPr>
            <a:r>
              <a:rPr lang="en-US" sz="4000" b="1" dirty="0">
                <a:solidFill>
                  <a:srgbClr val="D97706"/>
                </a:solidFill>
                <a:latin typeface="Georgia" pitchFamily="34" charset="0"/>
                <a:ea typeface="Georgia" pitchFamily="34" charset="-122"/>
                <a:cs typeface="Georgia" pitchFamily="34" charset="-120"/>
              </a:rPr>
              <a:t>~1M</a:t>
            </a:r>
            <a:endParaRPr lang="en-US" sz="4000" dirty="0"/>
          </a:p>
        </p:txBody>
      </p:sp>
      <p:sp>
        <p:nvSpPr>
          <p:cNvPr id="8" name="Text 6"/>
          <p:cNvSpPr/>
          <p:nvPr/>
        </p:nvSpPr>
        <p:spPr>
          <a:xfrm>
            <a:off x="640080" y="2331720"/>
            <a:ext cx="2240280" cy="457200"/>
          </a:xfrm>
          <a:prstGeom prst="rect">
            <a:avLst/>
          </a:prstGeom>
          <a:noFill/>
          <a:ln/>
        </p:spPr>
        <p:txBody>
          <a:bodyPr wrap="square" lIns="0" tIns="0" rIns="0" bIns="0" rtlCol="0" anchor="ctr"/>
          <a:lstStyle/>
          <a:p>
            <a:pPr marL="0" indent="0" algn="ctr">
              <a:buNone/>
            </a:pPr>
            <a:r>
              <a:rPr lang="en-US" sz="1200" dirty="0">
                <a:solidFill>
                  <a:srgbClr val="94A3B8"/>
                </a:solidFill>
                <a:latin typeface="Calibri" pitchFamily="34" charset="0"/>
                <a:ea typeface="Calibri" pitchFamily="34" charset="-122"/>
                <a:cs typeface="Calibri" pitchFamily="34" charset="-120"/>
              </a:rPr>
              <a:t>patients convinced of</a:t>
            </a:r>
            <a:endParaRPr lang="en-US" sz="1200" dirty="0"/>
          </a:p>
          <a:p>
            <a:pPr marL="0" indent="0" algn="ctr">
              <a:buNone/>
            </a:pPr>
            <a:r>
              <a:rPr lang="en-US" sz="1200" dirty="0">
                <a:solidFill>
                  <a:srgbClr val="94A3B8"/>
                </a:solidFill>
                <a:latin typeface="Calibri" pitchFamily="34" charset="0"/>
                <a:ea typeface="Calibri" pitchFamily="34" charset="-122"/>
                <a:cs typeface="Calibri" pitchFamily="34" charset="-120"/>
              </a:rPr>
              <a:t>repressed memories</a:t>
            </a:r>
            <a:endParaRPr lang="en-US" sz="1200" dirty="0"/>
          </a:p>
        </p:txBody>
      </p:sp>
      <p:sp>
        <p:nvSpPr>
          <p:cNvPr id="9" name="Text 7"/>
          <p:cNvSpPr/>
          <p:nvPr/>
        </p:nvSpPr>
        <p:spPr>
          <a:xfrm>
            <a:off x="640080" y="2880360"/>
            <a:ext cx="2240280" cy="640080"/>
          </a:xfrm>
          <a:prstGeom prst="rect">
            <a:avLst/>
          </a:prstGeom>
          <a:noFill/>
          <a:ln/>
        </p:spPr>
        <p:txBody>
          <a:bodyPr wrap="square" lIns="0" tIns="0" rIns="0" bIns="0" rtlCol="0" anchor="ctr"/>
          <a:lstStyle/>
          <a:p>
            <a:pPr marL="0" indent="0" algn="ctr">
              <a:lnSpc>
                <a:spcPct val="130000"/>
              </a:lnSpc>
              <a:buNone/>
            </a:pPr>
            <a:r>
              <a:rPr lang="en-US" sz="1100" dirty="0">
                <a:solidFill>
                  <a:srgbClr val="94A3B8"/>
                </a:solidFill>
                <a:latin typeface="Calibri" pitchFamily="34" charset="0"/>
                <a:ea typeface="Calibri" pitchFamily="34" charset="-122"/>
                <a:cs typeface="Calibri" pitchFamily="34" charset="-120"/>
              </a:rPr>
              <a:t>Tens of thousands of</a:t>
            </a:r>
            <a:endParaRPr lang="en-US" sz="1100" dirty="0"/>
          </a:p>
          <a:p>
            <a:pPr marL="0" indent="0" algn="ctr">
              <a:lnSpc>
                <a:spcPct val="130000"/>
              </a:lnSpc>
              <a:buNone/>
            </a:pPr>
            <a:r>
              <a:rPr lang="en-US" sz="1100" dirty="0">
                <a:solidFill>
                  <a:srgbClr val="94A3B8"/>
                </a:solidFill>
                <a:latin typeface="Calibri" pitchFamily="34" charset="0"/>
                <a:ea typeface="Calibri" pitchFamily="34" charset="-122"/>
                <a:cs typeface="Calibri" pitchFamily="34" charset="-120"/>
              </a:rPr>
              <a:t>families destroyed.</a:t>
            </a:r>
            <a:endParaRPr lang="en-US" sz="1100" dirty="0"/>
          </a:p>
          <a:p>
            <a:pPr marL="0" indent="0" algn="ctr">
              <a:lnSpc>
                <a:spcPct val="130000"/>
              </a:lnSpc>
              <a:buNone/>
            </a:pPr>
            <a:r>
              <a:rPr lang="en-US" sz="1100" dirty="0">
                <a:solidFill>
                  <a:srgbClr val="94A3B8"/>
                </a:solidFill>
                <a:latin typeface="Calibri" pitchFamily="34" charset="0"/>
                <a:ea typeface="Calibri" pitchFamily="34" charset="-122"/>
                <a:cs typeface="Calibri" pitchFamily="34" charset="-120"/>
              </a:rPr>
              <a:t>People imprisoned.</a:t>
            </a:r>
            <a:endParaRPr lang="en-US" sz="1100" dirty="0"/>
          </a:p>
        </p:txBody>
      </p:sp>
      <p:sp>
        <p:nvSpPr>
          <p:cNvPr id="10" name="Shape 8"/>
          <p:cNvSpPr/>
          <p:nvPr/>
        </p:nvSpPr>
        <p:spPr>
          <a:xfrm>
            <a:off x="3268980" y="1371600"/>
            <a:ext cx="2606040" cy="2468880"/>
          </a:xfrm>
          <a:prstGeom prst="rect">
            <a:avLst/>
          </a:prstGeom>
          <a:solidFill>
            <a:srgbClr val="1B2A4A"/>
          </a:solidFill>
          <a:ln/>
        </p:spPr>
        <p:txBody>
          <a:bodyPr/>
          <a:lstStyle/>
          <a:p>
            <a:endParaRPr/>
          </a:p>
        </p:txBody>
      </p:sp>
      <p:sp>
        <p:nvSpPr>
          <p:cNvPr id="11" name="Shape 9"/>
          <p:cNvSpPr/>
          <p:nvPr/>
        </p:nvSpPr>
        <p:spPr>
          <a:xfrm>
            <a:off x="3268980" y="1371600"/>
            <a:ext cx="2606040" cy="54864"/>
          </a:xfrm>
          <a:prstGeom prst="rect">
            <a:avLst/>
          </a:prstGeom>
          <a:solidFill>
            <a:srgbClr val="D97706"/>
          </a:solidFill>
          <a:ln/>
        </p:spPr>
        <p:txBody>
          <a:bodyPr/>
          <a:lstStyle/>
          <a:p>
            <a:endParaRPr/>
          </a:p>
        </p:txBody>
      </p:sp>
      <p:sp>
        <p:nvSpPr>
          <p:cNvPr id="12" name="Text 10"/>
          <p:cNvSpPr/>
          <p:nvPr/>
        </p:nvSpPr>
        <p:spPr>
          <a:xfrm>
            <a:off x="3268980" y="1508760"/>
            <a:ext cx="2606040" cy="320040"/>
          </a:xfrm>
          <a:prstGeom prst="rect">
            <a:avLst/>
          </a:prstGeom>
          <a:noFill/>
          <a:ln/>
        </p:spPr>
        <p:txBody>
          <a:bodyPr wrap="square" lIns="0" tIns="0" rIns="0" bIns="0" rtlCol="0" anchor="ctr"/>
          <a:lstStyle/>
          <a:p>
            <a:pPr marL="0" indent="0" algn="ctr">
              <a:buNone/>
            </a:pPr>
            <a:r>
              <a:rPr lang="en-US" sz="1400" b="1" dirty="0">
                <a:solidFill>
                  <a:srgbClr val="22D3EE"/>
                </a:solidFill>
                <a:latin typeface="Calibri" pitchFamily="34" charset="0"/>
                <a:ea typeface="Calibri" pitchFamily="34" charset="-122"/>
                <a:cs typeface="Calibri" pitchFamily="34" charset="-120"/>
              </a:rPr>
              <a:t>MPD/DID Epidemic</a:t>
            </a:r>
            <a:endParaRPr lang="en-US" sz="1400" dirty="0"/>
          </a:p>
        </p:txBody>
      </p:sp>
      <p:sp>
        <p:nvSpPr>
          <p:cNvPr id="13" name="Text 11"/>
          <p:cNvSpPr/>
          <p:nvPr/>
        </p:nvSpPr>
        <p:spPr>
          <a:xfrm>
            <a:off x="3268980" y="1828800"/>
            <a:ext cx="2606040" cy="502920"/>
          </a:xfrm>
          <a:prstGeom prst="rect">
            <a:avLst/>
          </a:prstGeom>
          <a:noFill/>
          <a:ln/>
        </p:spPr>
        <p:txBody>
          <a:bodyPr wrap="square" lIns="0" tIns="0" rIns="0" bIns="0" rtlCol="0" anchor="ctr"/>
          <a:lstStyle/>
          <a:p>
            <a:pPr marL="0" indent="0" algn="ctr">
              <a:buNone/>
            </a:pPr>
            <a:r>
              <a:rPr lang="en-US" sz="4000" b="1" dirty="0">
                <a:solidFill>
                  <a:srgbClr val="D97706"/>
                </a:solidFill>
                <a:latin typeface="Georgia" pitchFamily="34" charset="0"/>
                <a:ea typeface="Georgia" pitchFamily="34" charset="-122"/>
                <a:cs typeface="Georgia" pitchFamily="34" charset="-120"/>
              </a:rPr>
              <a:t>50,000</a:t>
            </a:r>
            <a:endParaRPr lang="en-US" sz="4000" dirty="0"/>
          </a:p>
        </p:txBody>
      </p:sp>
      <p:sp>
        <p:nvSpPr>
          <p:cNvPr id="14" name="Text 12"/>
          <p:cNvSpPr/>
          <p:nvPr/>
        </p:nvSpPr>
        <p:spPr>
          <a:xfrm>
            <a:off x="3451860" y="2331720"/>
            <a:ext cx="2240280" cy="457200"/>
          </a:xfrm>
          <a:prstGeom prst="rect">
            <a:avLst/>
          </a:prstGeom>
          <a:noFill/>
          <a:ln/>
        </p:spPr>
        <p:txBody>
          <a:bodyPr wrap="square" lIns="0" tIns="0" rIns="0" bIns="0" rtlCol="0" anchor="ctr"/>
          <a:lstStyle/>
          <a:p>
            <a:pPr marL="0" indent="0" algn="ctr">
              <a:buNone/>
            </a:pPr>
            <a:r>
              <a:rPr lang="en-US" sz="1200" dirty="0">
                <a:solidFill>
                  <a:srgbClr val="94A3B8"/>
                </a:solidFill>
                <a:latin typeface="Calibri" pitchFamily="34" charset="0"/>
                <a:ea typeface="Calibri" pitchFamily="34" charset="-122"/>
                <a:cs typeface="Calibri" pitchFamily="34" charset="-120"/>
              </a:rPr>
              <a:t>diagnoses vs. ~200</a:t>
            </a:r>
            <a:endParaRPr lang="en-US" sz="1200" dirty="0"/>
          </a:p>
          <a:p>
            <a:pPr marL="0" indent="0" algn="ctr">
              <a:buNone/>
            </a:pPr>
            <a:r>
              <a:rPr lang="en-US" sz="1200" dirty="0">
                <a:solidFill>
                  <a:srgbClr val="94A3B8"/>
                </a:solidFill>
                <a:latin typeface="Calibri" pitchFamily="34" charset="0"/>
                <a:ea typeface="Calibri" pitchFamily="34" charset="-122"/>
                <a:cs typeface="Calibri" pitchFamily="34" charset="-120"/>
              </a:rPr>
              <a:t>in all prior history</a:t>
            </a:r>
            <a:endParaRPr lang="en-US" sz="1200" dirty="0"/>
          </a:p>
        </p:txBody>
      </p:sp>
      <p:sp>
        <p:nvSpPr>
          <p:cNvPr id="15" name="Text 13"/>
          <p:cNvSpPr/>
          <p:nvPr/>
        </p:nvSpPr>
        <p:spPr>
          <a:xfrm>
            <a:off x="3451860" y="2880360"/>
            <a:ext cx="2240280" cy="640080"/>
          </a:xfrm>
          <a:prstGeom prst="rect">
            <a:avLst/>
          </a:prstGeom>
          <a:noFill/>
          <a:ln/>
        </p:spPr>
        <p:txBody>
          <a:bodyPr wrap="square" lIns="0" tIns="0" rIns="0" bIns="0" rtlCol="0" anchor="ctr"/>
          <a:lstStyle/>
          <a:p>
            <a:pPr marL="0" indent="0" algn="ctr">
              <a:lnSpc>
                <a:spcPct val="130000"/>
              </a:lnSpc>
              <a:buNone/>
            </a:pPr>
            <a:r>
              <a:rPr lang="en-US" sz="1100" dirty="0">
                <a:solidFill>
                  <a:srgbClr val="94A3B8"/>
                </a:solidFill>
                <a:latin typeface="Calibri" pitchFamily="34" charset="0"/>
                <a:ea typeface="Calibri" pitchFamily="34" charset="-122"/>
                <a:cs typeface="Calibri" pitchFamily="34" charset="-120"/>
              </a:rPr>
              <a:t>Iatrogenic — created by</a:t>
            </a:r>
            <a:endParaRPr lang="en-US" sz="1100" dirty="0"/>
          </a:p>
          <a:p>
            <a:pPr marL="0" indent="0" algn="ctr">
              <a:lnSpc>
                <a:spcPct val="130000"/>
              </a:lnSpc>
              <a:buNone/>
            </a:pPr>
            <a:r>
              <a:rPr lang="en-US" sz="1100" dirty="0">
                <a:solidFill>
                  <a:srgbClr val="94A3B8"/>
                </a:solidFill>
                <a:latin typeface="Calibri" pitchFamily="34" charset="0"/>
                <a:ea typeface="Calibri" pitchFamily="34" charset="-122"/>
                <a:cs typeface="Calibri" pitchFamily="34" charset="-120"/>
              </a:rPr>
              <a:t>the therapy itself.</a:t>
            </a:r>
            <a:endParaRPr lang="en-US" sz="1100" dirty="0"/>
          </a:p>
          <a:p>
            <a:pPr marL="0" indent="0" algn="ctr">
              <a:lnSpc>
                <a:spcPct val="130000"/>
              </a:lnSpc>
              <a:buNone/>
            </a:pPr>
            <a:r>
              <a:rPr lang="en-US" sz="1100" dirty="0">
                <a:solidFill>
                  <a:srgbClr val="94A3B8"/>
                </a:solidFill>
                <a:latin typeface="Calibri" pitchFamily="34" charset="0"/>
                <a:ea typeface="Calibri" pitchFamily="34" charset="-122"/>
                <a:cs typeface="Calibri" pitchFamily="34" charset="-120"/>
              </a:rPr>
              <a:t>Disappeared when stopped.</a:t>
            </a:r>
            <a:endParaRPr lang="en-US" sz="1100" dirty="0"/>
          </a:p>
        </p:txBody>
      </p:sp>
      <p:sp>
        <p:nvSpPr>
          <p:cNvPr id="16" name="Shape 14"/>
          <p:cNvSpPr/>
          <p:nvPr/>
        </p:nvSpPr>
        <p:spPr>
          <a:xfrm>
            <a:off x="6080760" y="1371600"/>
            <a:ext cx="2606040" cy="2468880"/>
          </a:xfrm>
          <a:prstGeom prst="rect">
            <a:avLst/>
          </a:prstGeom>
          <a:solidFill>
            <a:srgbClr val="1B2A4A"/>
          </a:solidFill>
          <a:ln/>
        </p:spPr>
        <p:txBody>
          <a:bodyPr/>
          <a:lstStyle/>
          <a:p>
            <a:endParaRPr/>
          </a:p>
        </p:txBody>
      </p:sp>
      <p:sp>
        <p:nvSpPr>
          <p:cNvPr id="17" name="Shape 15"/>
          <p:cNvSpPr/>
          <p:nvPr/>
        </p:nvSpPr>
        <p:spPr>
          <a:xfrm>
            <a:off x="6080760" y="1371600"/>
            <a:ext cx="2606040" cy="54864"/>
          </a:xfrm>
          <a:prstGeom prst="rect">
            <a:avLst/>
          </a:prstGeom>
          <a:solidFill>
            <a:srgbClr val="D97706"/>
          </a:solidFill>
          <a:ln/>
        </p:spPr>
        <p:txBody>
          <a:bodyPr/>
          <a:lstStyle/>
          <a:p>
            <a:endParaRPr/>
          </a:p>
        </p:txBody>
      </p:sp>
      <p:sp>
        <p:nvSpPr>
          <p:cNvPr id="18" name="Text 16"/>
          <p:cNvSpPr/>
          <p:nvPr/>
        </p:nvSpPr>
        <p:spPr>
          <a:xfrm>
            <a:off x="6080760" y="1508760"/>
            <a:ext cx="2606040" cy="320040"/>
          </a:xfrm>
          <a:prstGeom prst="rect">
            <a:avLst/>
          </a:prstGeom>
          <a:noFill/>
          <a:ln/>
        </p:spPr>
        <p:txBody>
          <a:bodyPr wrap="square" lIns="0" tIns="0" rIns="0" bIns="0" rtlCol="0" anchor="ctr"/>
          <a:lstStyle/>
          <a:p>
            <a:pPr marL="0" indent="0" algn="ctr">
              <a:buNone/>
            </a:pPr>
            <a:r>
              <a:rPr lang="en-US" sz="1400" b="1" dirty="0">
                <a:solidFill>
                  <a:srgbClr val="22D3EE"/>
                </a:solidFill>
                <a:latin typeface="Calibri" pitchFamily="34" charset="0"/>
                <a:ea typeface="Calibri" pitchFamily="34" charset="-122"/>
                <a:cs typeface="Calibri" pitchFamily="34" charset="-120"/>
              </a:rPr>
              <a:t>Satanic Panic</a:t>
            </a:r>
            <a:endParaRPr lang="en-US" sz="1400" dirty="0"/>
          </a:p>
        </p:txBody>
      </p:sp>
      <p:sp>
        <p:nvSpPr>
          <p:cNvPr id="19" name="Text 17"/>
          <p:cNvSpPr/>
          <p:nvPr/>
        </p:nvSpPr>
        <p:spPr>
          <a:xfrm>
            <a:off x="6080760" y="1828800"/>
            <a:ext cx="2606040" cy="502920"/>
          </a:xfrm>
          <a:prstGeom prst="rect">
            <a:avLst/>
          </a:prstGeom>
          <a:noFill/>
          <a:ln/>
        </p:spPr>
        <p:txBody>
          <a:bodyPr wrap="square" lIns="0" tIns="0" rIns="0" bIns="0" rtlCol="0" anchor="ctr"/>
          <a:lstStyle/>
          <a:p>
            <a:pPr marL="0" indent="0" algn="ctr">
              <a:buNone/>
            </a:pPr>
            <a:r>
              <a:rPr lang="en-US" sz="4000" b="1" dirty="0">
                <a:solidFill>
                  <a:srgbClr val="D97706"/>
                </a:solidFill>
                <a:latin typeface="Georgia" pitchFamily="34" charset="0"/>
                <a:ea typeface="Georgia" pitchFamily="34" charset="-122"/>
                <a:cs typeface="Georgia" pitchFamily="34" charset="-120"/>
              </a:rPr>
              <a:t>12,000+</a:t>
            </a:r>
            <a:endParaRPr lang="en-US" sz="4000" dirty="0"/>
          </a:p>
        </p:txBody>
      </p:sp>
      <p:sp>
        <p:nvSpPr>
          <p:cNvPr id="20" name="Text 18"/>
          <p:cNvSpPr/>
          <p:nvPr/>
        </p:nvSpPr>
        <p:spPr>
          <a:xfrm>
            <a:off x="6263640" y="2331720"/>
            <a:ext cx="2240280" cy="457200"/>
          </a:xfrm>
          <a:prstGeom prst="rect">
            <a:avLst/>
          </a:prstGeom>
          <a:noFill/>
          <a:ln/>
        </p:spPr>
        <p:txBody>
          <a:bodyPr wrap="square" lIns="0" tIns="0" rIns="0" bIns="0" rtlCol="0" anchor="ctr"/>
          <a:lstStyle/>
          <a:p>
            <a:pPr marL="0" indent="0" algn="ctr">
              <a:buNone/>
            </a:pPr>
            <a:r>
              <a:rPr lang="en-US" sz="1200" dirty="0">
                <a:solidFill>
                  <a:srgbClr val="94A3B8"/>
                </a:solidFill>
                <a:latin typeface="Calibri" pitchFamily="34" charset="0"/>
                <a:ea typeface="Calibri" pitchFamily="34" charset="-122"/>
                <a:cs typeface="Calibri" pitchFamily="34" charset="-120"/>
              </a:rPr>
              <a:t>cases alleged</a:t>
            </a:r>
            <a:endParaRPr lang="en-US" sz="1200" dirty="0"/>
          </a:p>
        </p:txBody>
      </p:sp>
      <p:sp>
        <p:nvSpPr>
          <p:cNvPr id="21" name="Text 19"/>
          <p:cNvSpPr/>
          <p:nvPr/>
        </p:nvSpPr>
        <p:spPr>
          <a:xfrm>
            <a:off x="6263640" y="2880360"/>
            <a:ext cx="2240280" cy="640080"/>
          </a:xfrm>
          <a:prstGeom prst="rect">
            <a:avLst/>
          </a:prstGeom>
          <a:noFill/>
          <a:ln/>
        </p:spPr>
        <p:txBody>
          <a:bodyPr wrap="square" lIns="0" tIns="0" rIns="0" bIns="0" rtlCol="0" anchor="ctr"/>
          <a:lstStyle/>
          <a:p>
            <a:pPr marL="0" indent="0" algn="ctr">
              <a:lnSpc>
                <a:spcPct val="130000"/>
              </a:lnSpc>
              <a:buNone/>
            </a:pPr>
            <a:r>
              <a:rPr lang="en-US" sz="1100" dirty="0">
                <a:solidFill>
                  <a:srgbClr val="94A3B8"/>
                </a:solidFill>
                <a:latin typeface="Calibri" pitchFamily="34" charset="0"/>
                <a:ea typeface="Calibri" pitchFamily="34" charset="-122"/>
                <a:cs typeface="Calibri" pitchFamily="34" charset="-120"/>
              </a:rPr>
              <a:t>McMartin: 7 yrs, $15M,</a:t>
            </a:r>
            <a:endParaRPr lang="en-US" sz="1100" dirty="0"/>
          </a:p>
          <a:p>
            <a:pPr marL="0" indent="0" algn="ctr">
              <a:lnSpc>
                <a:spcPct val="130000"/>
              </a:lnSpc>
              <a:buNone/>
            </a:pPr>
            <a:r>
              <a:rPr lang="en-US" sz="1100" dirty="0">
                <a:solidFill>
                  <a:srgbClr val="94A3B8"/>
                </a:solidFill>
                <a:latin typeface="Calibri" pitchFamily="34" charset="0"/>
                <a:ea typeface="Calibri" pitchFamily="34" charset="-122"/>
                <a:cs typeface="Calibri" pitchFamily="34" charset="-120"/>
              </a:rPr>
              <a:t>zero convictions.</a:t>
            </a:r>
            <a:endParaRPr lang="en-US" sz="1100" dirty="0"/>
          </a:p>
          <a:p>
            <a:pPr marL="0" indent="0" algn="ctr">
              <a:lnSpc>
                <a:spcPct val="130000"/>
              </a:lnSpc>
              <a:buNone/>
            </a:pPr>
            <a:r>
              <a:rPr lang="en-US" sz="1100" dirty="0">
                <a:solidFill>
                  <a:srgbClr val="94A3B8"/>
                </a:solidFill>
                <a:latin typeface="Calibri" pitchFamily="34" charset="0"/>
                <a:ea typeface="Calibri" pitchFamily="34" charset="-122"/>
                <a:cs typeface="Calibri" pitchFamily="34" charset="-120"/>
              </a:rPr>
              <a:t>FBI: zero evidence.</a:t>
            </a:r>
            <a:endParaRPr lang="en-US" sz="1100" dirty="0"/>
          </a:p>
        </p:txBody>
      </p:sp>
      <p:sp>
        <p:nvSpPr>
          <p:cNvPr id="22" name="Text 20"/>
          <p:cNvSpPr/>
          <p:nvPr/>
        </p:nvSpPr>
        <p:spPr>
          <a:xfrm>
            <a:off x="731520" y="4114800"/>
            <a:ext cx="7680960" cy="45720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All three fell together. False Memory Syndrome Foundation (1992). Malpractice suits, license revocations.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0F4F8"/>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The Common Pattern</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1371600" y="1188720"/>
          <a:ext cx="6400800" cy="914400"/>
        </p:xfrm>
        <a:graphic>
          <a:graphicData uri="http://schemas.openxmlformats.org/drawingml/2006/table">
            <a:tbl>
              <a:tblPr/>
              <a:tblGrid>
                <a:gridCol w="45720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Element</a:t>
                      </a:r>
                      <a:endParaRPr lang="en-US" sz="14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2A4A"/>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Present in All Cases</a:t>
                      </a:r>
                      <a:endParaRPr lang="en-US" sz="14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411480">
                <a:tc>
                  <a:txBody>
                    <a:bodyPr/>
                    <a:lstStyle/>
                    <a:p>
                      <a:pPr marL="0" indent="0">
                        <a:buNone/>
                      </a:pPr>
                      <a:r>
                        <a:rPr lang="en-US" sz="1400" dirty="0">
                          <a:solidFill>
                            <a:srgbClr val="1E293B"/>
                          </a:solidFill>
                          <a:latin typeface="Calibri" pitchFamily="34" charset="0"/>
                          <a:ea typeface="Calibri" pitchFamily="34" charset="-122"/>
                          <a:cs typeface="Calibri" pitchFamily="34" charset="-120"/>
                        </a:rPr>
                        <a:t>No objective evidence</a:t>
                      </a:r>
                      <a:endParaRPr lang="en-US" sz="14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b="1" dirty="0">
                          <a:solidFill>
                            <a:srgbClr val="0891B2"/>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400" dirty="0">
                          <a:solidFill>
                            <a:srgbClr val="1E293B"/>
                          </a:solidFill>
                          <a:latin typeface="Calibri" pitchFamily="34" charset="0"/>
                          <a:ea typeface="Calibri" pitchFamily="34" charset="-122"/>
                          <a:cs typeface="Calibri" pitchFamily="34" charset="-120"/>
                        </a:rPr>
                        <a:t>No way to test validity</a:t>
                      </a:r>
                      <a:endParaRPr lang="en-US" sz="14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c>
                  <a:txBody>
                    <a:bodyPr/>
                    <a:lstStyle/>
                    <a:p>
                      <a:pPr marL="0" indent="0" algn="ctr">
                        <a:buNone/>
                      </a:pPr>
                      <a:r>
                        <a:rPr lang="en-US" sz="1600" b="1" dirty="0">
                          <a:solidFill>
                            <a:srgbClr val="0891B2"/>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extLst>
                  <a:ext uri="{0D108BD9-81ED-4DB2-BD59-A6C34878D82A}">
                    <a16:rowId xmlns:a16="http://schemas.microsoft.com/office/drawing/2014/main" val="10002"/>
                  </a:ext>
                </a:extLst>
              </a:tr>
              <a:tr h="411480">
                <a:tc>
                  <a:txBody>
                    <a:bodyPr/>
                    <a:lstStyle/>
                    <a:p>
                      <a:pPr marL="0" indent="0">
                        <a:buNone/>
                      </a:pPr>
                      <a:r>
                        <a:rPr lang="en-US" sz="1400" dirty="0">
                          <a:solidFill>
                            <a:srgbClr val="1E293B"/>
                          </a:solidFill>
                          <a:latin typeface="Calibri" pitchFamily="34" charset="0"/>
                          <a:ea typeface="Calibri" pitchFamily="34" charset="-122"/>
                          <a:cs typeface="Calibri" pitchFamily="34" charset="-120"/>
                        </a:rPr>
                        <a:t>Emotion as the glue (fear, care, outrage)</a:t>
                      </a:r>
                      <a:endParaRPr lang="en-US" sz="14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b="1" dirty="0">
                          <a:solidFill>
                            <a:srgbClr val="0891B2"/>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400" dirty="0">
                          <a:solidFill>
                            <a:srgbClr val="1E293B"/>
                          </a:solidFill>
                          <a:latin typeface="Calibri" pitchFamily="34" charset="0"/>
                          <a:ea typeface="Calibri" pitchFamily="34" charset="-122"/>
                          <a:cs typeface="Calibri" pitchFamily="34" charset="-120"/>
                        </a:rPr>
                        <a:t>Spread through professionals</a:t>
                      </a:r>
                      <a:endParaRPr lang="en-US" sz="14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c>
                  <a:txBody>
                    <a:bodyPr/>
                    <a:lstStyle/>
                    <a:p>
                      <a:pPr marL="0" indent="0" algn="ctr">
                        <a:buNone/>
                      </a:pPr>
                      <a:r>
                        <a:rPr lang="en-US" sz="1600" b="1" dirty="0">
                          <a:solidFill>
                            <a:srgbClr val="0891B2"/>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extLst>
                  <a:ext uri="{0D108BD9-81ED-4DB2-BD59-A6C34878D82A}">
                    <a16:rowId xmlns:a16="http://schemas.microsoft.com/office/drawing/2014/main" val="10004"/>
                  </a:ext>
                </a:extLst>
              </a:tr>
              <a:tr h="411480">
                <a:tc>
                  <a:txBody>
                    <a:bodyPr/>
                    <a:lstStyle/>
                    <a:p>
                      <a:pPr marL="0" indent="0">
                        <a:buNone/>
                      </a:pPr>
                      <a:r>
                        <a:rPr lang="en-US" sz="1400" dirty="0">
                          <a:solidFill>
                            <a:srgbClr val="1E293B"/>
                          </a:solidFill>
                          <a:latin typeface="Calibri" pitchFamily="34" charset="0"/>
                          <a:ea typeface="Calibri" pitchFamily="34" charset="-122"/>
                          <a:cs typeface="Calibri" pitchFamily="34" charset="-120"/>
                        </a:rPr>
                        <a:t>Ended in calamity</a:t>
                      </a:r>
                      <a:endParaRPr lang="en-US" sz="14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b="1" dirty="0">
                          <a:solidFill>
                            <a:srgbClr val="0891B2"/>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0F1B2D"/>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3886200" y="731520"/>
            <a:ext cx="1371600" cy="1371600"/>
          </a:xfrm>
          <a:prstGeom prst="rect">
            <a:avLst/>
          </a:prstGeom>
        </p:spPr>
      </p:pic>
      <p:sp>
        <p:nvSpPr>
          <p:cNvPr id="3" name="Text 0"/>
          <p:cNvSpPr/>
          <p:nvPr/>
        </p:nvSpPr>
        <p:spPr>
          <a:xfrm>
            <a:off x="731520" y="2194560"/>
            <a:ext cx="7680960" cy="731520"/>
          </a:xfrm>
          <a:prstGeom prst="rect">
            <a:avLst/>
          </a:prstGeom>
          <a:noFill/>
          <a:ln/>
        </p:spPr>
        <p:txBody>
          <a:bodyPr wrap="square" lIns="0" tIns="0" rIns="0" bIns="0" rtlCol="0" anchor="ctr"/>
          <a:lstStyle/>
          <a:p>
            <a:pPr marL="0" indent="0" algn="ctr">
              <a:buNone/>
            </a:pPr>
            <a:r>
              <a:rPr lang="en-US" sz="3600" b="1" dirty="0">
                <a:solidFill>
                  <a:srgbClr val="FFFFFF"/>
                </a:solidFill>
                <a:latin typeface="Georgia" pitchFamily="34" charset="0"/>
                <a:ea typeface="Georgia" pitchFamily="34" charset="-122"/>
                <a:cs typeface="Georgia" pitchFamily="34" charset="-120"/>
              </a:rPr>
              <a:t>What About Now?</a:t>
            </a:r>
            <a:endParaRPr lang="en-US" sz="3600" dirty="0"/>
          </a:p>
        </p:txBody>
      </p:sp>
      <p:sp>
        <p:nvSpPr>
          <p:cNvPr id="4" name="Text 1"/>
          <p:cNvSpPr/>
          <p:nvPr/>
        </p:nvSpPr>
        <p:spPr>
          <a:xfrm>
            <a:off x="1371600" y="3108960"/>
            <a:ext cx="6400800" cy="822960"/>
          </a:xfrm>
          <a:prstGeom prst="rect">
            <a:avLst/>
          </a:prstGeom>
          <a:noFill/>
          <a:ln/>
        </p:spPr>
        <p:txBody>
          <a:bodyPr wrap="square" lIns="0" tIns="0" rIns="0" bIns="0" rtlCol="0" anchor="ctr"/>
          <a:lstStyle/>
          <a:p>
            <a:pPr marL="0" indent="0" algn="ctr">
              <a:lnSpc>
                <a:spcPct val="140000"/>
              </a:lnSpc>
              <a:buNone/>
            </a:pPr>
            <a:r>
              <a:rPr lang="en-US" sz="1700" dirty="0">
                <a:solidFill>
                  <a:srgbClr val="22D3EE"/>
                </a:solidFill>
                <a:latin typeface="Calibri" pitchFamily="34" charset="0"/>
                <a:ea typeface="Calibri" pitchFamily="34" charset="-122"/>
                <a:cs typeface="Calibri" pitchFamily="34" charset="-120"/>
              </a:rPr>
              <a:t>What social contagions might be happening right now?</a:t>
            </a:r>
            <a:endParaRPr lang="en-US" sz="1700" dirty="0"/>
          </a:p>
          <a:p>
            <a:pPr marL="0" indent="0" algn="ctr">
              <a:lnSpc>
                <a:spcPct val="140000"/>
              </a:lnSpc>
              <a:buNone/>
            </a:pPr>
            <a:r>
              <a:rPr lang="en-US" sz="1700" dirty="0">
                <a:solidFill>
                  <a:srgbClr val="22D3EE"/>
                </a:solidFill>
                <a:latin typeface="Calibri" pitchFamily="34" charset="0"/>
                <a:ea typeface="Calibri" pitchFamily="34" charset="-122"/>
                <a:cs typeface="Calibri" pitchFamily="34" charset="-120"/>
              </a:rPr>
              <a:t>What topics feel off-limits to question?</a:t>
            </a:r>
            <a:endParaRPr lang="en-US" sz="1700" dirty="0"/>
          </a:p>
        </p:txBody>
      </p:sp>
      <p:sp>
        <p:nvSpPr>
          <p:cNvPr id="5" name="Text 2"/>
          <p:cNvSpPr/>
          <p:nvPr/>
        </p:nvSpPr>
        <p:spPr>
          <a:xfrm>
            <a:off x="914400" y="4023360"/>
            <a:ext cx="7315200" cy="731520"/>
          </a:xfrm>
          <a:prstGeom prst="rect">
            <a:avLst/>
          </a:prstGeom>
          <a:noFill/>
          <a:ln/>
        </p:spPr>
        <p:txBody>
          <a:bodyPr wrap="square" lIns="0" tIns="0" rIns="0" bIns="0" rtlCol="0" anchor="ctr"/>
          <a:lstStyle/>
          <a:p>
            <a:pPr marL="0" indent="0" algn="ctr">
              <a:lnSpc>
                <a:spcPct val="140000"/>
              </a:lnSpc>
              <a:buNone/>
            </a:pPr>
            <a:r>
              <a:rPr lang="en-US" sz="1400" dirty="0">
                <a:solidFill>
                  <a:srgbClr val="94A3B8"/>
                </a:solidFill>
                <a:latin typeface="Calibri" pitchFamily="34" charset="0"/>
                <a:ea typeface="Calibri" pitchFamily="34" charset="-122"/>
                <a:cs typeface="Calibri" pitchFamily="34" charset="-120"/>
              </a:rPr>
              <a:t>These forces are real. They serve a function — likely a biological function.</a:t>
            </a:r>
            <a:endParaRPr lang="en-US" sz="1400" dirty="0"/>
          </a:p>
          <a:p>
            <a:pPr marL="0" indent="0" algn="ctr">
              <a:lnSpc>
                <a:spcPct val="140000"/>
              </a:lnSpc>
              <a:buNone/>
            </a:pPr>
            <a:r>
              <a:rPr lang="en-US" sz="1400" dirty="0">
                <a:solidFill>
                  <a:srgbClr val="94A3B8"/>
                </a:solidFill>
                <a:latin typeface="Calibri" pitchFamily="34" charset="0"/>
                <a:ea typeface="Calibri" pitchFamily="34" charset="-122"/>
                <a:cs typeface="Calibri" pitchFamily="34" charset="-120"/>
              </a:rPr>
              <a:t>The question is whether we can recognize them.</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715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914400"/>
            <a:ext cx="7315200" cy="2286000"/>
          </a:xfrm>
          <a:prstGeom prst="rect">
            <a:avLst/>
          </a:prstGeom>
          <a:noFill/>
        </p:spPr>
        <p:txBody>
          <a:bodyPr wrap="square">
            <a:spAutoFit/>
          </a:bodyPr>
          <a:lstStyle/>
          <a:p>
            <a:pPr algn="l"/>
            <a:r>
              <a:rPr sz="2400" i="1">
                <a:solidFill>
                  <a:srgbClr val="22D3EE"/>
                </a:solidFill>
                <a:latin typeface="Georgia"/>
              </a:rPr>
              <a:t>"Hope is not the same thing as optimism.
It is not the conviction that something will turn out well,
but the certainty that something makes sense,
regardless of how it turns out."</a:t>
            </a:r>
          </a:p>
        </p:txBody>
      </p:sp>
      <p:sp>
        <p:nvSpPr>
          <p:cNvPr id="4" name="TextBox 3"/>
          <p:cNvSpPr txBox="1"/>
          <p:nvPr/>
        </p:nvSpPr>
        <p:spPr>
          <a:xfrm>
            <a:off x="914400" y="3200400"/>
            <a:ext cx="7315200" cy="457200"/>
          </a:xfrm>
          <a:prstGeom prst="rect">
            <a:avLst/>
          </a:prstGeom>
          <a:noFill/>
        </p:spPr>
        <p:txBody>
          <a:bodyPr wrap="square">
            <a:spAutoFit/>
          </a:bodyPr>
          <a:lstStyle/>
          <a:p>
            <a:pPr algn="l"/>
            <a:r>
              <a:rPr sz="1600">
                <a:solidFill>
                  <a:srgbClr val="94A3B8"/>
                </a:solidFill>
                <a:latin typeface="Calibri"/>
              </a:rPr>
              <a:t>— Vaclav Havel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E7490"/>
        </a:solidFill>
        <a:effectLst/>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marL="0" indent="0" algn="ctr">
              <a:buNone/>
            </a:pPr>
            <a:r>
              <a:rPr lang="en-US" sz="4800" b="1" dirty="0">
                <a:solidFill>
                  <a:srgbClr val="FFFFFF"/>
                </a:solidFill>
                <a:latin typeface="Georgia" pitchFamily="34" charset="0"/>
                <a:ea typeface="Georgia" pitchFamily="34" charset="-122"/>
                <a:cs typeface="Georgia" pitchFamily="34" charset="-120"/>
              </a:rPr>
              <a:t>V</a:t>
            </a:r>
            <a:endParaRPr lang="en-US" sz="4800" dirty="0"/>
          </a:p>
        </p:txBody>
      </p:sp>
      <p:sp>
        <p:nvSpPr>
          <p:cNvPr id="3" name="Shape 1"/>
          <p:cNvSpPr/>
          <p:nvPr/>
        </p:nvSpPr>
        <p:spPr>
          <a:xfrm>
            <a:off x="2011680" y="1371600"/>
            <a:ext cx="36576" cy="640080"/>
          </a:xfrm>
          <a:prstGeom prst="rect">
            <a:avLst/>
          </a:prstGeom>
          <a:solidFill>
            <a:srgbClr val="22D3EE"/>
          </a:solidFill>
          <a:ln/>
        </p:spPr>
        <p:txBody>
          <a:bodyPr/>
          <a:lstStyle/>
          <a:p>
            <a:endParaRPr/>
          </a:p>
        </p:txBody>
      </p:sp>
      <p:sp>
        <p:nvSpPr>
          <p:cNvPr id="4" name="Text 2"/>
          <p:cNvSpPr/>
          <p:nvPr/>
        </p:nvSpPr>
        <p:spPr>
          <a:xfrm>
            <a:off x="2286000" y="1005840"/>
            <a:ext cx="5486400" cy="118872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Why This Keeps</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Happening</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marL="0" indent="0">
              <a:buNone/>
            </a:pPr>
            <a:r>
              <a:rPr lang="en-US" sz="1300" i="1" dirty="0">
                <a:solidFill>
                  <a:srgbClr val="22D3EE"/>
                </a:solidFill>
                <a:latin typeface="Calibri" pitchFamily="34" charset="0"/>
                <a:ea typeface="Calibri" pitchFamily="34" charset="-122"/>
                <a:cs typeface="Calibri" pitchFamily="34" charset="-120"/>
              </a:rPr>
              <a:t>12 minutes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0F4F8"/>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400" b="1" dirty="0">
                <a:solidFill>
                  <a:srgbClr val="1E293B"/>
                </a:solidFill>
                <a:latin typeface="Georgia" pitchFamily="34" charset="0"/>
                <a:ea typeface="Georgia" pitchFamily="34" charset="-122"/>
                <a:cs typeface="Georgia" pitchFamily="34" charset="-120"/>
              </a:rPr>
              <a:t>Anxiety = Perceived Uncertainty + Urgency</a:t>
            </a:r>
            <a:endParaRPr lang="en-US" sz="2400" dirty="0"/>
          </a:p>
        </p:txBody>
      </p:sp>
      <p:sp>
        <p:nvSpPr>
          <p:cNvPr id="3" name="Shape 1"/>
          <p:cNvSpPr/>
          <p:nvPr/>
        </p:nvSpPr>
        <p:spPr>
          <a:xfrm>
            <a:off x="731520" y="1280160"/>
            <a:ext cx="2560320" cy="10972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4" name="Shape 2"/>
          <p:cNvSpPr/>
          <p:nvPr/>
        </p:nvSpPr>
        <p:spPr>
          <a:xfrm>
            <a:off x="731520" y="1280160"/>
            <a:ext cx="2560320" cy="54864"/>
          </a:xfrm>
          <a:prstGeom prst="rect">
            <a:avLst/>
          </a:prstGeom>
          <a:solidFill>
            <a:srgbClr val="D97706"/>
          </a:solidFill>
          <a:ln/>
        </p:spPr>
        <p:txBody>
          <a:bodyPr/>
          <a:lstStyle/>
          <a:p>
            <a:endParaRPr/>
          </a:p>
        </p:txBody>
      </p:sp>
      <p:sp>
        <p:nvSpPr>
          <p:cNvPr id="5" name="Text 3"/>
          <p:cNvSpPr/>
          <p:nvPr/>
        </p:nvSpPr>
        <p:spPr>
          <a:xfrm>
            <a:off x="731520" y="1417320"/>
            <a:ext cx="2560320" cy="457200"/>
          </a:xfrm>
          <a:prstGeom prst="rect">
            <a:avLst/>
          </a:prstGeom>
          <a:noFill/>
          <a:ln/>
        </p:spPr>
        <p:txBody>
          <a:bodyPr wrap="square" lIns="0" tIns="0" rIns="0" bIns="0" rtlCol="0" anchor="ctr"/>
          <a:lstStyle/>
          <a:p>
            <a:pPr marL="0" indent="0" algn="ctr">
              <a:buNone/>
            </a:pPr>
            <a:r>
              <a:rPr lang="en-US" sz="2000" b="1" dirty="0">
                <a:solidFill>
                  <a:srgbClr val="1E293B"/>
                </a:solidFill>
                <a:latin typeface="Calibri" pitchFamily="34" charset="0"/>
                <a:ea typeface="Calibri" pitchFamily="34" charset="-122"/>
                <a:cs typeface="Calibri" pitchFamily="34" charset="-120"/>
              </a:rPr>
              <a:t>Uncertainty</a:t>
            </a:r>
            <a:endParaRPr lang="en-US" sz="2000" dirty="0"/>
          </a:p>
        </p:txBody>
      </p:sp>
      <p:sp>
        <p:nvSpPr>
          <p:cNvPr id="6" name="Text 4"/>
          <p:cNvSpPr/>
          <p:nvPr/>
        </p:nvSpPr>
        <p:spPr>
          <a:xfrm>
            <a:off x="731520" y="1874520"/>
            <a:ext cx="2560320" cy="457200"/>
          </a:xfrm>
          <a:prstGeom prst="rect">
            <a:avLst/>
          </a:prstGeom>
          <a:noFill/>
          <a:ln/>
        </p:spPr>
        <p:txBody>
          <a:bodyPr wrap="square" lIns="0" tIns="0" rIns="0" bIns="0"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Something in the environment</a:t>
            </a:r>
            <a:endParaRPr lang="en-US" sz="1100" dirty="0"/>
          </a:p>
          <a:p>
            <a:pPr marL="0" indent="0" algn="ctr">
              <a:buNone/>
            </a:pPr>
            <a:r>
              <a:rPr lang="en-US" sz="1100" dirty="0">
                <a:solidFill>
                  <a:srgbClr val="475569"/>
                </a:solidFill>
                <a:latin typeface="Calibri" pitchFamily="34" charset="0"/>
                <a:ea typeface="Calibri" pitchFamily="34" charset="-122"/>
                <a:cs typeface="Calibri" pitchFamily="34" charset="-120"/>
              </a:rPr>
              <a:t>creates this perception</a:t>
            </a:r>
            <a:endParaRPr lang="en-US" sz="1100" dirty="0"/>
          </a:p>
        </p:txBody>
      </p:sp>
      <p:sp>
        <p:nvSpPr>
          <p:cNvPr id="7" name="Text 5"/>
          <p:cNvSpPr/>
          <p:nvPr/>
        </p:nvSpPr>
        <p:spPr>
          <a:xfrm>
            <a:off x="3291840" y="1371600"/>
            <a:ext cx="548640" cy="914400"/>
          </a:xfrm>
          <a:prstGeom prst="rect">
            <a:avLst/>
          </a:prstGeom>
          <a:noFill/>
          <a:ln/>
        </p:spPr>
        <p:txBody>
          <a:bodyPr wrap="square" lIns="0" tIns="0" rIns="0" bIns="0" rtlCol="0" anchor="ctr"/>
          <a:lstStyle/>
          <a:p>
            <a:pPr marL="0" indent="0" algn="ctr">
              <a:buNone/>
            </a:pPr>
            <a:r>
              <a:rPr lang="en-US" sz="3600" b="1" dirty="0">
                <a:solidFill>
                  <a:srgbClr val="0891B2"/>
                </a:solidFill>
                <a:latin typeface="Georgia" pitchFamily="34" charset="0"/>
                <a:ea typeface="Georgia" pitchFamily="34" charset="-122"/>
                <a:cs typeface="Georgia" pitchFamily="34" charset="-120"/>
              </a:rPr>
              <a:t>+</a:t>
            </a:r>
            <a:endParaRPr lang="en-US" sz="3600" dirty="0"/>
          </a:p>
        </p:txBody>
      </p:sp>
      <p:sp>
        <p:nvSpPr>
          <p:cNvPr id="8" name="Shape 6"/>
          <p:cNvSpPr/>
          <p:nvPr/>
        </p:nvSpPr>
        <p:spPr>
          <a:xfrm>
            <a:off x="3840480" y="1280160"/>
            <a:ext cx="2560320" cy="10972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9" name="Shape 7"/>
          <p:cNvSpPr/>
          <p:nvPr/>
        </p:nvSpPr>
        <p:spPr>
          <a:xfrm>
            <a:off x="3840480" y="1280160"/>
            <a:ext cx="2560320" cy="54864"/>
          </a:xfrm>
          <a:prstGeom prst="rect">
            <a:avLst/>
          </a:prstGeom>
          <a:solidFill>
            <a:srgbClr val="D97706"/>
          </a:solidFill>
          <a:ln/>
        </p:spPr>
        <p:txBody>
          <a:bodyPr/>
          <a:lstStyle/>
          <a:p>
            <a:endParaRPr/>
          </a:p>
        </p:txBody>
      </p:sp>
      <p:sp>
        <p:nvSpPr>
          <p:cNvPr id="10" name="Text 8"/>
          <p:cNvSpPr/>
          <p:nvPr/>
        </p:nvSpPr>
        <p:spPr>
          <a:xfrm>
            <a:off x="3840480" y="1417320"/>
            <a:ext cx="2560320" cy="457200"/>
          </a:xfrm>
          <a:prstGeom prst="rect">
            <a:avLst/>
          </a:prstGeom>
          <a:noFill/>
          <a:ln/>
        </p:spPr>
        <p:txBody>
          <a:bodyPr wrap="square" lIns="0" tIns="0" rIns="0" bIns="0" rtlCol="0" anchor="ctr"/>
          <a:lstStyle/>
          <a:p>
            <a:pPr marL="0" indent="0" algn="ctr">
              <a:buNone/>
            </a:pPr>
            <a:r>
              <a:rPr lang="en-US" sz="2000" b="1" dirty="0">
                <a:solidFill>
                  <a:srgbClr val="1E293B"/>
                </a:solidFill>
                <a:latin typeface="Calibri" pitchFamily="34" charset="0"/>
                <a:ea typeface="Calibri" pitchFamily="34" charset="-122"/>
                <a:cs typeface="Calibri" pitchFamily="34" charset="-120"/>
              </a:rPr>
              <a:t>Urgency</a:t>
            </a:r>
            <a:endParaRPr lang="en-US" sz="2000" dirty="0"/>
          </a:p>
        </p:txBody>
      </p:sp>
      <p:sp>
        <p:nvSpPr>
          <p:cNvPr id="11" name="Text 9"/>
          <p:cNvSpPr/>
          <p:nvPr/>
        </p:nvSpPr>
        <p:spPr>
          <a:xfrm>
            <a:off x="3840480" y="1874520"/>
            <a:ext cx="2560320" cy="457200"/>
          </a:xfrm>
          <a:prstGeom prst="rect">
            <a:avLst/>
          </a:prstGeom>
          <a:noFill/>
          <a:ln/>
        </p:spPr>
        <p:txBody>
          <a:bodyPr wrap="square" lIns="0" tIns="0" rIns="0" bIns="0"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Must act now, can't wait</a:t>
            </a:r>
            <a:endParaRPr lang="en-US" sz="1100" dirty="0"/>
          </a:p>
          <a:p>
            <a:pPr marL="0" indent="0" algn="ctr">
              <a:buNone/>
            </a:pPr>
            <a:r>
              <a:rPr lang="en-US" sz="1100" dirty="0">
                <a:solidFill>
                  <a:srgbClr val="475569"/>
                </a:solidFill>
                <a:latin typeface="Calibri" pitchFamily="34" charset="0"/>
                <a:ea typeface="Calibri" pitchFamily="34" charset="-122"/>
                <a:cs typeface="Calibri" pitchFamily="34" charset="-120"/>
              </a:rPr>
              <a:t>for more information</a:t>
            </a:r>
            <a:endParaRPr lang="en-US" sz="1100" dirty="0"/>
          </a:p>
        </p:txBody>
      </p:sp>
      <p:sp>
        <p:nvSpPr>
          <p:cNvPr id="12" name="Text 10"/>
          <p:cNvSpPr/>
          <p:nvPr/>
        </p:nvSpPr>
        <p:spPr>
          <a:xfrm>
            <a:off x="6400800" y="1371600"/>
            <a:ext cx="548640" cy="914400"/>
          </a:xfrm>
          <a:prstGeom prst="rect">
            <a:avLst/>
          </a:prstGeom>
          <a:noFill/>
          <a:ln/>
        </p:spPr>
        <p:txBody>
          <a:bodyPr wrap="square" lIns="0" tIns="0" rIns="0" bIns="0" rtlCol="0" anchor="ctr"/>
          <a:lstStyle/>
          <a:p>
            <a:pPr marL="0" indent="0" algn="ctr">
              <a:buNone/>
            </a:pPr>
            <a:r>
              <a:rPr lang="en-US" sz="3600" b="1" dirty="0">
                <a:solidFill>
                  <a:srgbClr val="0891B2"/>
                </a:solidFill>
                <a:latin typeface="Georgia" pitchFamily="34" charset="0"/>
                <a:ea typeface="Georgia" pitchFamily="34" charset="-122"/>
                <a:cs typeface="Georgia" pitchFamily="34" charset="-120"/>
              </a:rPr>
              <a:t>=</a:t>
            </a:r>
            <a:endParaRPr lang="en-US" sz="3600" dirty="0"/>
          </a:p>
        </p:txBody>
      </p:sp>
      <p:sp>
        <p:nvSpPr>
          <p:cNvPr id="13" name="Shape 11"/>
          <p:cNvSpPr/>
          <p:nvPr/>
        </p:nvSpPr>
        <p:spPr>
          <a:xfrm>
            <a:off x="6949440" y="1280160"/>
            <a:ext cx="1463040" cy="1097280"/>
          </a:xfrm>
          <a:prstGeom prst="rect">
            <a:avLst/>
          </a:prstGeom>
          <a:solidFill>
            <a:srgbClr val="0891B2"/>
          </a:solidFill>
          <a:ln/>
        </p:spPr>
        <p:txBody>
          <a:bodyPr/>
          <a:lstStyle/>
          <a:p>
            <a:endParaRPr/>
          </a:p>
        </p:txBody>
      </p:sp>
      <p:sp>
        <p:nvSpPr>
          <p:cNvPr id="14" name="Text 12"/>
          <p:cNvSpPr/>
          <p:nvPr/>
        </p:nvSpPr>
        <p:spPr>
          <a:xfrm>
            <a:off x="6949440" y="1417320"/>
            <a:ext cx="1463040" cy="45720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Anxiety</a:t>
            </a:r>
            <a:endParaRPr lang="en-US" sz="2000" dirty="0"/>
          </a:p>
        </p:txBody>
      </p:sp>
      <p:sp>
        <p:nvSpPr>
          <p:cNvPr id="15" name="Text 13"/>
          <p:cNvSpPr/>
          <p:nvPr/>
        </p:nvSpPr>
        <p:spPr>
          <a:xfrm>
            <a:off x="6949440" y="1874520"/>
            <a:ext cx="1463040" cy="457200"/>
          </a:xfrm>
          <a:prstGeom prst="rect">
            <a:avLst/>
          </a:prstGeom>
          <a:noFill/>
          <a:ln/>
        </p:spPr>
        <p:txBody>
          <a:bodyPr wrap="square" lIns="0" tIns="0" rIns="0" bIns="0" rtlCol="0" anchor="ctr"/>
          <a:lstStyle/>
          <a:p>
            <a:pPr marL="0" indent="0" algn="ctr">
              <a:buNone/>
            </a:pPr>
            <a:r>
              <a:rPr lang="en-US" sz="1100" dirty="0">
                <a:solidFill>
                  <a:srgbClr val="22D3EE"/>
                </a:solidFill>
                <a:latin typeface="Calibri" pitchFamily="34" charset="0"/>
                <a:ea typeface="Calibri" pitchFamily="34" charset="-122"/>
                <a:cs typeface="Calibri" pitchFamily="34" charset="-120"/>
              </a:rPr>
              <a:t>Search for</a:t>
            </a:r>
            <a:endParaRPr lang="en-US" sz="1100" dirty="0"/>
          </a:p>
          <a:p>
            <a:pPr marL="0" indent="0" algn="ctr">
              <a:buNone/>
            </a:pPr>
            <a:r>
              <a:rPr lang="en-US" sz="1100" dirty="0">
                <a:solidFill>
                  <a:srgbClr val="22D3EE"/>
                </a:solidFill>
                <a:latin typeface="Calibri" pitchFamily="34" charset="0"/>
                <a:ea typeface="Calibri" pitchFamily="34" charset="-122"/>
                <a:cs typeface="Calibri" pitchFamily="34" charset="-120"/>
              </a:rPr>
              <a:t>relief begins</a:t>
            </a:r>
            <a:endParaRPr lang="en-US" sz="1100" dirty="0"/>
          </a:p>
        </p:txBody>
      </p:sp>
      <p:sp>
        <p:nvSpPr>
          <p:cNvPr id="16" name="Text 14"/>
          <p:cNvSpPr/>
          <p:nvPr/>
        </p:nvSpPr>
        <p:spPr>
          <a:xfrm>
            <a:off x="731520" y="2651760"/>
            <a:ext cx="7680960" cy="457200"/>
          </a:xfrm>
          <a:prstGeom prst="rect">
            <a:avLst/>
          </a:prstGeom>
          <a:noFill/>
          <a:ln/>
        </p:spPr>
        <p:txBody>
          <a:bodyPr wrap="square" lIns="0" tIns="0" rIns="0" bIns="0" rtlCol="0" anchor="ctr"/>
          <a:lstStyle/>
          <a:p>
            <a:pPr marL="0" indent="0">
              <a:buNone/>
            </a:pPr>
            <a:r>
              <a:rPr lang="en-US" sz="1600" b="1" dirty="0">
                <a:solidFill>
                  <a:srgbClr val="1E293B"/>
                </a:solidFill>
                <a:latin typeface="Calibri" pitchFamily="34" charset="0"/>
                <a:ea typeface="Calibri" pitchFamily="34" charset="-122"/>
                <a:cs typeface="Calibri" pitchFamily="34" charset="-120"/>
              </a:rPr>
              <a:t>The ideology provides psychological relief:</a:t>
            </a:r>
            <a:endParaRPr lang="en-US" sz="1600" dirty="0"/>
          </a:p>
        </p:txBody>
      </p:sp>
      <p:sp>
        <p:nvSpPr>
          <p:cNvPr id="17" name="Shape 15"/>
          <p:cNvSpPr/>
          <p:nvPr/>
        </p:nvSpPr>
        <p:spPr>
          <a:xfrm>
            <a:off x="731520" y="3108960"/>
            <a:ext cx="365760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18" name="Shape 16"/>
          <p:cNvSpPr/>
          <p:nvPr/>
        </p:nvSpPr>
        <p:spPr>
          <a:xfrm>
            <a:off x="731520" y="3108960"/>
            <a:ext cx="54864" cy="731520"/>
          </a:xfrm>
          <a:prstGeom prst="rect">
            <a:avLst/>
          </a:prstGeom>
          <a:solidFill>
            <a:srgbClr val="D97706"/>
          </a:solidFill>
          <a:ln/>
        </p:spPr>
        <p:txBody>
          <a:bodyPr/>
          <a:lstStyle/>
          <a:p>
            <a:endParaRPr/>
          </a:p>
        </p:txBody>
      </p:sp>
      <p:sp>
        <p:nvSpPr>
          <p:cNvPr id="19" name="Text 17"/>
          <p:cNvSpPr/>
          <p:nvPr/>
        </p:nvSpPr>
        <p:spPr>
          <a:xfrm>
            <a:off x="1005840" y="3108960"/>
            <a:ext cx="3108960" cy="7315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Untestable </a:t>
            </a:r>
            <a:r>
              <a:rPr lang="en-US" sz="1400" dirty="0">
                <a:solidFill>
                  <a:srgbClr val="475569"/>
                </a:solidFill>
                <a:latin typeface="Calibri" pitchFamily="34" charset="0"/>
                <a:ea typeface="Calibri" pitchFamily="34" charset="-122"/>
                <a:cs typeface="Calibri" pitchFamily="34" charset="-120"/>
              </a:rPr>
              <a:t>— can't prove it wrong</a:t>
            </a:r>
            <a:endParaRPr lang="en-US" sz="1400" dirty="0"/>
          </a:p>
        </p:txBody>
      </p:sp>
      <p:sp>
        <p:nvSpPr>
          <p:cNvPr id="20" name="Shape 18"/>
          <p:cNvSpPr/>
          <p:nvPr/>
        </p:nvSpPr>
        <p:spPr>
          <a:xfrm>
            <a:off x="4754880" y="3108960"/>
            <a:ext cx="365760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21" name="Shape 19"/>
          <p:cNvSpPr/>
          <p:nvPr/>
        </p:nvSpPr>
        <p:spPr>
          <a:xfrm>
            <a:off x="4754880" y="3108960"/>
            <a:ext cx="54864" cy="731520"/>
          </a:xfrm>
          <a:prstGeom prst="rect">
            <a:avLst/>
          </a:prstGeom>
          <a:solidFill>
            <a:srgbClr val="D97706"/>
          </a:solidFill>
          <a:ln/>
        </p:spPr>
        <p:txBody>
          <a:bodyPr/>
          <a:lstStyle/>
          <a:p>
            <a:endParaRPr/>
          </a:p>
        </p:txBody>
      </p:sp>
      <p:sp>
        <p:nvSpPr>
          <p:cNvPr id="22" name="Text 20"/>
          <p:cNvSpPr/>
          <p:nvPr/>
        </p:nvSpPr>
        <p:spPr>
          <a:xfrm>
            <a:off x="5029200" y="3108960"/>
            <a:ext cx="3108960" cy="7315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Simple </a:t>
            </a:r>
            <a:r>
              <a:rPr lang="en-US" sz="1400" dirty="0">
                <a:solidFill>
                  <a:srgbClr val="475569"/>
                </a:solidFill>
                <a:latin typeface="Calibri" pitchFamily="34" charset="0"/>
                <a:ea typeface="Calibri" pitchFamily="34" charset="-122"/>
                <a:cs typeface="Calibri" pitchFamily="34" charset="-120"/>
              </a:rPr>
              <a:t>— but oversimplified</a:t>
            </a:r>
            <a:endParaRPr lang="en-US" sz="1400" dirty="0"/>
          </a:p>
        </p:txBody>
      </p:sp>
      <p:sp>
        <p:nvSpPr>
          <p:cNvPr id="23" name="Text 21"/>
          <p:cNvSpPr/>
          <p:nvPr/>
        </p:nvSpPr>
        <p:spPr>
          <a:xfrm>
            <a:off x="731520" y="4114800"/>
            <a:ext cx="7680960" cy="457200"/>
          </a:xfrm>
          <a:prstGeom prst="rect">
            <a:avLst/>
          </a:prstGeom>
          <a:noFill/>
          <a:ln/>
        </p:spPr>
        <p:txBody>
          <a:bodyPr wrap="square" lIns="0" tIns="0" rIns="0" bIns="0" rtlCol="0" anchor="ctr"/>
          <a:lstStyle/>
          <a:p>
            <a:pPr marL="0" indent="0">
              <a:buNone/>
            </a:pPr>
            <a:r>
              <a:rPr lang="en-US" sz="1800" b="1" i="1" dirty="0">
                <a:solidFill>
                  <a:srgbClr val="0891B2"/>
                </a:solidFill>
                <a:latin typeface="Georgia" pitchFamily="34" charset="0"/>
                <a:ea typeface="Georgia" pitchFamily="34" charset="-122"/>
                <a:cs typeface="Georgia" pitchFamily="34" charset="-120"/>
              </a:rPr>
              <a:t>Believers feel better. That's why it spreads.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Cambridge-Somerville Youth Study</a:t>
            </a:r>
            <a:endParaRPr lang="en-US" sz="2600" dirty="0"/>
          </a:p>
        </p:txBody>
      </p:sp>
      <p:sp>
        <p:nvSpPr>
          <p:cNvPr id="3" name="Text 1"/>
          <p:cNvSpPr/>
          <p:nvPr/>
        </p:nvSpPr>
        <p:spPr>
          <a:xfrm>
            <a:off x="731520" y="914400"/>
            <a:ext cx="7680960" cy="36576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506 boys. Matched pairs. Random assignment. 30-year follow-up.</a:t>
            </a:r>
            <a:endParaRPr lang="en-US" sz="1400" dirty="0"/>
          </a:p>
        </p:txBody>
      </p:sp>
      <p:sp>
        <p:nvSpPr>
          <p:cNvPr id="4" name="Text 2"/>
          <p:cNvSpPr/>
          <p:nvPr/>
        </p:nvSpPr>
        <p:spPr>
          <a:xfrm>
            <a:off x="731520" y="1371600"/>
            <a:ext cx="7680960" cy="32004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Treatment group received:</a:t>
            </a:r>
            <a:endParaRPr lang="en-US" sz="1400" dirty="0"/>
          </a:p>
        </p:txBody>
      </p:sp>
      <p:sp>
        <p:nvSpPr>
          <p:cNvPr id="5" name="Text 3"/>
          <p:cNvSpPr/>
          <p:nvPr/>
        </p:nvSpPr>
        <p:spPr>
          <a:xfrm>
            <a:off x="731520" y="1691640"/>
            <a:ext cx="7680960" cy="32004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Counseling, mentorship, summer camp, caring adults.</a:t>
            </a:r>
            <a:endParaRPr lang="en-US" sz="1400" dirty="0"/>
          </a:p>
        </p:txBody>
      </p:sp>
      <p:sp>
        <p:nvSpPr>
          <p:cNvPr id="6" name="Text 4"/>
          <p:cNvSpPr/>
          <p:nvPr/>
        </p:nvSpPr>
        <p:spPr>
          <a:xfrm>
            <a:off x="731520" y="2103120"/>
            <a:ext cx="7680960" cy="320040"/>
          </a:xfrm>
          <a:prstGeom prst="rect">
            <a:avLst/>
          </a:prstGeom>
          <a:noFill/>
          <a:ln/>
        </p:spPr>
        <p:txBody>
          <a:bodyPr wrap="square" lIns="0" tIns="0" rIns="0" bIns="0" rtlCol="0" anchor="ctr"/>
          <a:lstStyle/>
          <a:p>
            <a:pPr marL="0" indent="0">
              <a:buNone/>
            </a:pPr>
            <a:r>
              <a:rPr lang="en-US" sz="1400" b="1" dirty="0">
                <a:solidFill>
                  <a:srgbClr val="DC2626"/>
                </a:solidFill>
                <a:latin typeface="Calibri" pitchFamily="34" charset="0"/>
                <a:ea typeface="Calibri" pitchFamily="34" charset="-122"/>
                <a:cs typeface="Calibri" pitchFamily="34" charset="-120"/>
              </a:rPr>
              <a:t>Treatment group had:</a:t>
            </a:r>
            <a:endParaRPr lang="en-US" sz="1400" dirty="0"/>
          </a:p>
        </p:txBody>
      </p:sp>
      <p:sp>
        <p:nvSpPr>
          <p:cNvPr id="7" name="Shape 5"/>
          <p:cNvSpPr/>
          <p:nvPr/>
        </p:nvSpPr>
        <p:spPr>
          <a:xfrm>
            <a:off x="1097280" y="2514600"/>
            <a:ext cx="6949440" cy="274320"/>
          </a:xfrm>
          <a:prstGeom prst="rect">
            <a:avLst/>
          </a:prstGeom>
          <a:solidFill>
            <a:srgbClr val="F0F4F8"/>
          </a:solidFill>
          <a:ln/>
        </p:spPr>
        <p:txBody>
          <a:bodyPr/>
          <a:lstStyle/>
          <a:p>
            <a:endParaRPr/>
          </a:p>
        </p:txBody>
      </p:sp>
      <p:sp>
        <p:nvSpPr>
          <p:cNvPr id="8" name="Text 6"/>
          <p:cNvSpPr/>
          <p:nvPr/>
        </p:nvSpPr>
        <p:spPr>
          <a:xfrm>
            <a:off x="1371600" y="2514600"/>
            <a:ext cx="6400800" cy="27432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  More criminal offending (2+ crimes)</a:t>
            </a:r>
            <a:endParaRPr lang="en-US" sz="1400" dirty="0"/>
          </a:p>
        </p:txBody>
      </p:sp>
      <p:sp>
        <p:nvSpPr>
          <p:cNvPr id="9" name="Shape 7"/>
          <p:cNvSpPr/>
          <p:nvPr/>
        </p:nvSpPr>
        <p:spPr>
          <a:xfrm>
            <a:off x="1097280" y="2862072"/>
            <a:ext cx="6949440" cy="274320"/>
          </a:xfrm>
          <a:prstGeom prst="rect">
            <a:avLst/>
          </a:prstGeom>
          <a:solidFill>
            <a:srgbClr val="F8FAFC"/>
          </a:solidFill>
          <a:ln/>
        </p:spPr>
        <p:txBody>
          <a:bodyPr/>
          <a:lstStyle/>
          <a:p>
            <a:endParaRPr/>
          </a:p>
        </p:txBody>
      </p:sp>
      <p:sp>
        <p:nvSpPr>
          <p:cNvPr id="10" name="Text 8"/>
          <p:cNvSpPr/>
          <p:nvPr/>
        </p:nvSpPr>
        <p:spPr>
          <a:xfrm>
            <a:off x="1371600" y="2862072"/>
            <a:ext cx="6400800" cy="27432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  More alcohol abuse</a:t>
            </a:r>
            <a:endParaRPr lang="en-US" sz="1400" dirty="0"/>
          </a:p>
        </p:txBody>
      </p:sp>
      <p:sp>
        <p:nvSpPr>
          <p:cNvPr id="11" name="Shape 9"/>
          <p:cNvSpPr/>
          <p:nvPr/>
        </p:nvSpPr>
        <p:spPr>
          <a:xfrm>
            <a:off x="1097280" y="3209544"/>
            <a:ext cx="6949440" cy="274320"/>
          </a:xfrm>
          <a:prstGeom prst="rect">
            <a:avLst/>
          </a:prstGeom>
          <a:solidFill>
            <a:srgbClr val="F0F4F8"/>
          </a:solidFill>
          <a:ln/>
        </p:spPr>
        <p:txBody>
          <a:bodyPr/>
          <a:lstStyle/>
          <a:p>
            <a:endParaRPr/>
          </a:p>
        </p:txBody>
      </p:sp>
      <p:sp>
        <p:nvSpPr>
          <p:cNvPr id="12" name="Text 10"/>
          <p:cNvSpPr/>
          <p:nvPr/>
        </p:nvSpPr>
        <p:spPr>
          <a:xfrm>
            <a:off x="1371600" y="3209544"/>
            <a:ext cx="6400800" cy="27432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  More mental illness symptoms</a:t>
            </a:r>
            <a:endParaRPr lang="en-US" sz="1400" dirty="0"/>
          </a:p>
        </p:txBody>
      </p:sp>
      <p:sp>
        <p:nvSpPr>
          <p:cNvPr id="13" name="Shape 11"/>
          <p:cNvSpPr/>
          <p:nvPr/>
        </p:nvSpPr>
        <p:spPr>
          <a:xfrm>
            <a:off x="1097280" y="3557016"/>
            <a:ext cx="6949440" cy="274320"/>
          </a:xfrm>
          <a:prstGeom prst="rect">
            <a:avLst/>
          </a:prstGeom>
          <a:solidFill>
            <a:srgbClr val="F8FAFC"/>
          </a:solidFill>
          <a:ln/>
        </p:spPr>
        <p:txBody>
          <a:bodyPr/>
          <a:lstStyle/>
          <a:p>
            <a:endParaRPr/>
          </a:p>
        </p:txBody>
      </p:sp>
      <p:sp>
        <p:nvSpPr>
          <p:cNvPr id="14" name="Text 12"/>
          <p:cNvSpPr/>
          <p:nvPr/>
        </p:nvSpPr>
        <p:spPr>
          <a:xfrm>
            <a:off x="1371600" y="3557016"/>
            <a:ext cx="6400800" cy="27432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  Lower job satisfaction</a:t>
            </a:r>
            <a:endParaRPr lang="en-US" sz="1400" dirty="0"/>
          </a:p>
        </p:txBody>
      </p:sp>
      <p:sp>
        <p:nvSpPr>
          <p:cNvPr id="15" name="Shape 13"/>
          <p:cNvSpPr/>
          <p:nvPr/>
        </p:nvSpPr>
        <p:spPr>
          <a:xfrm>
            <a:off x="1097280" y="3904488"/>
            <a:ext cx="6949440" cy="274320"/>
          </a:xfrm>
          <a:prstGeom prst="rect">
            <a:avLst/>
          </a:prstGeom>
          <a:solidFill>
            <a:srgbClr val="F0F4F8"/>
          </a:solidFill>
          <a:ln/>
        </p:spPr>
        <p:txBody>
          <a:bodyPr/>
          <a:lstStyle/>
          <a:p>
            <a:endParaRPr/>
          </a:p>
        </p:txBody>
      </p:sp>
      <p:sp>
        <p:nvSpPr>
          <p:cNvPr id="16" name="Text 14"/>
          <p:cNvSpPr/>
          <p:nvPr/>
        </p:nvSpPr>
        <p:spPr>
          <a:xfrm>
            <a:off x="1371600" y="3904488"/>
            <a:ext cx="6400800" cy="27432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  Earlier death</a:t>
            </a:r>
            <a:endParaRPr lang="en-US" sz="1400" dirty="0"/>
          </a:p>
        </p:txBody>
      </p:sp>
      <p:sp>
        <p:nvSpPr>
          <p:cNvPr id="17" name="Shape 15"/>
          <p:cNvSpPr/>
          <p:nvPr/>
        </p:nvSpPr>
        <p:spPr>
          <a:xfrm>
            <a:off x="731520" y="4297680"/>
            <a:ext cx="7680960" cy="548640"/>
          </a:xfrm>
          <a:prstGeom prst="rect">
            <a:avLst/>
          </a:prstGeom>
          <a:solidFill>
            <a:srgbClr val="1B2A4A"/>
          </a:solidFill>
          <a:ln/>
        </p:spPr>
        <p:txBody>
          <a:bodyPr/>
          <a:lstStyle/>
          <a:p>
            <a:endParaRPr/>
          </a:p>
        </p:txBody>
      </p:sp>
      <p:sp>
        <p:nvSpPr>
          <p:cNvPr id="18" name="Text 16"/>
          <p:cNvSpPr/>
          <p:nvPr/>
        </p:nvSpPr>
        <p:spPr>
          <a:xfrm>
            <a:off x="1005840" y="4297680"/>
            <a:ext cx="7132320" cy="548640"/>
          </a:xfrm>
          <a:prstGeom prst="rect">
            <a:avLst/>
          </a:prstGeom>
          <a:noFill/>
          <a:ln/>
        </p:spPr>
        <p:txBody>
          <a:bodyPr wrap="square" lIns="0" tIns="0" rIns="0" bIns="0" rtlCol="0" anchor="ctr"/>
          <a:lstStyle/>
          <a:p>
            <a:pPr marL="0" indent="0">
              <a:buNone/>
            </a:pPr>
            <a:r>
              <a:rPr lang="en-US" sz="1700" b="1" dirty="0">
                <a:solidFill>
                  <a:srgbClr val="22D3EE"/>
                </a:solidFill>
                <a:latin typeface="Georgia" pitchFamily="34" charset="0"/>
                <a:ea typeface="Georgia" pitchFamily="34" charset="-122"/>
                <a:cs typeface="Georgia" pitchFamily="34" charset="-120"/>
              </a:rPr>
              <a:t>Caring isn't enough. Without measurement, caring can hurt.</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715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914400"/>
            <a:ext cx="7315200" cy="2286000"/>
          </a:xfrm>
          <a:prstGeom prst="rect">
            <a:avLst/>
          </a:prstGeom>
          <a:noFill/>
        </p:spPr>
        <p:txBody>
          <a:bodyPr wrap="square">
            <a:spAutoFit/>
          </a:bodyPr>
          <a:lstStyle/>
          <a:p>
            <a:pPr algn="l"/>
            <a:r>
              <a:rPr sz="2400" i="1">
                <a:solidFill>
                  <a:srgbClr val="22D3EE"/>
                </a:solidFill>
                <a:latin typeface="Georgia"/>
              </a:rPr>
              <a:t>"The first principle is that you must not fool yourself
— and you are the easiest person to fool."</a:t>
            </a:r>
          </a:p>
        </p:txBody>
      </p:sp>
      <p:sp>
        <p:nvSpPr>
          <p:cNvPr id="4" name="TextBox 3"/>
          <p:cNvSpPr txBox="1"/>
          <p:nvPr/>
        </p:nvSpPr>
        <p:spPr>
          <a:xfrm>
            <a:off x="914400" y="3200400"/>
            <a:ext cx="7315200" cy="457200"/>
          </a:xfrm>
          <a:prstGeom prst="rect">
            <a:avLst/>
          </a:prstGeom>
          <a:noFill/>
        </p:spPr>
        <p:txBody>
          <a:bodyPr wrap="square">
            <a:spAutoFit/>
          </a:bodyPr>
          <a:lstStyle/>
          <a:p>
            <a:pPr algn="l"/>
            <a:r>
              <a:rPr sz="1600">
                <a:solidFill>
                  <a:srgbClr val="94A3B8"/>
                </a:solidFill>
                <a:latin typeface="Calibri"/>
              </a:rPr>
              <a:t>— Richard Feynman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0E7490"/>
        </a:solidFill>
        <a:effectLst/>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marL="0" indent="0" algn="ctr">
              <a:buNone/>
            </a:pPr>
            <a:r>
              <a:rPr lang="en-US" sz="4800" b="1" dirty="0">
                <a:solidFill>
                  <a:srgbClr val="FFFFFF"/>
                </a:solidFill>
                <a:latin typeface="Georgia" pitchFamily="34" charset="0"/>
                <a:ea typeface="Georgia" pitchFamily="34" charset="-122"/>
                <a:cs typeface="Georgia" pitchFamily="34" charset="-120"/>
              </a:rPr>
              <a:t>VI</a:t>
            </a:r>
            <a:endParaRPr lang="en-US" sz="4800" dirty="0"/>
          </a:p>
        </p:txBody>
      </p:sp>
      <p:sp>
        <p:nvSpPr>
          <p:cNvPr id="3" name="Shape 1"/>
          <p:cNvSpPr/>
          <p:nvPr/>
        </p:nvSpPr>
        <p:spPr>
          <a:xfrm>
            <a:off x="2011680" y="1371600"/>
            <a:ext cx="36576" cy="640080"/>
          </a:xfrm>
          <a:prstGeom prst="rect">
            <a:avLst/>
          </a:prstGeom>
          <a:solidFill>
            <a:srgbClr val="22D3EE"/>
          </a:solidFill>
          <a:ln/>
        </p:spPr>
        <p:txBody>
          <a:bodyPr/>
          <a:lstStyle/>
          <a:p>
            <a:endParaRPr/>
          </a:p>
        </p:txBody>
      </p:sp>
      <p:sp>
        <p:nvSpPr>
          <p:cNvPr id="4" name="Text 2"/>
          <p:cNvSpPr/>
          <p:nvPr/>
        </p:nvSpPr>
        <p:spPr>
          <a:xfrm>
            <a:off x="2286000" y="1097280"/>
            <a:ext cx="5486400" cy="914400"/>
          </a:xfrm>
          <a:prstGeom prst="rect">
            <a:avLst/>
          </a:prstGeom>
          <a:noFill/>
          <a:ln/>
        </p:spPr>
        <p:txBody>
          <a:bodyPr wrap="square" lIns="0" tIns="0" rIns="0" bIns="0"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The Proposal</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marL="0" indent="0">
              <a:buNone/>
            </a:pPr>
            <a:r>
              <a:rPr lang="en-US" sz="1300" i="1" dirty="0">
                <a:solidFill>
                  <a:srgbClr val="22D3EE"/>
                </a:solidFill>
                <a:latin typeface="Calibri" pitchFamily="34" charset="0"/>
                <a:ea typeface="Calibri" pitchFamily="34" charset="-122"/>
                <a:cs typeface="Calibri" pitchFamily="34" charset="-120"/>
              </a:rPr>
              <a:t>13 minutes</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715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914400"/>
            <a:ext cx="7315200" cy="2286000"/>
          </a:xfrm>
          <a:prstGeom prst="rect">
            <a:avLst/>
          </a:prstGeom>
          <a:noFill/>
        </p:spPr>
        <p:txBody>
          <a:bodyPr wrap="square">
            <a:spAutoFit/>
          </a:bodyPr>
          <a:lstStyle/>
          <a:p>
            <a:pPr algn="l"/>
            <a:r>
              <a:rPr sz="2400" i="1">
                <a:solidFill>
                  <a:srgbClr val="22D3EE"/>
                </a:solidFill>
                <a:latin typeface="Georgia"/>
              </a:rPr>
              <a:t>"You don't see something until you have the right
metaphor to let you perceive it."</a:t>
            </a:r>
          </a:p>
        </p:txBody>
      </p:sp>
      <p:sp>
        <p:nvSpPr>
          <p:cNvPr id="4" name="TextBox 3"/>
          <p:cNvSpPr txBox="1"/>
          <p:nvPr/>
        </p:nvSpPr>
        <p:spPr>
          <a:xfrm>
            <a:off x="914400" y="3200400"/>
            <a:ext cx="7315200" cy="457200"/>
          </a:xfrm>
          <a:prstGeom prst="rect">
            <a:avLst/>
          </a:prstGeom>
          <a:noFill/>
        </p:spPr>
        <p:txBody>
          <a:bodyPr wrap="square">
            <a:spAutoFit/>
          </a:bodyPr>
          <a:lstStyle/>
          <a:p>
            <a:pPr algn="l"/>
            <a:r>
              <a:rPr sz="1600" dirty="0">
                <a:solidFill>
                  <a:srgbClr val="94A3B8"/>
                </a:solidFill>
                <a:latin typeface="Calibri"/>
              </a:rPr>
              <a:t>— James Gleick</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F0F4F8"/>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The Blade of Grass</a:t>
            </a:r>
            <a:endParaRPr lang="en-US" sz="2800" dirty="0"/>
          </a:p>
        </p:txBody>
      </p:sp>
      <p:pic>
        <p:nvPicPr>
          <p:cNvPr id="3" name="Image 0" descr="preencoded.png"/>
          <p:cNvPicPr>
            <a:picLocks noChangeAspect="1"/>
          </p:cNvPicPr>
          <p:nvPr/>
        </p:nvPicPr>
        <p:blipFill>
          <a:blip r:embed="rId3"/>
          <a:stretch>
            <a:fillRect/>
          </a:stretch>
        </p:blipFill>
        <p:spPr>
          <a:xfrm>
            <a:off x="914400" y="1280160"/>
            <a:ext cx="457200" cy="457200"/>
          </a:xfrm>
          <a:prstGeom prst="rect">
            <a:avLst/>
          </a:prstGeom>
        </p:spPr>
      </p:pic>
      <p:sp>
        <p:nvSpPr>
          <p:cNvPr id="4" name="Text 1"/>
          <p:cNvSpPr/>
          <p:nvPr/>
        </p:nvSpPr>
        <p:spPr>
          <a:xfrm>
            <a:off x="1645920" y="1280160"/>
            <a:ext cx="6400800" cy="411480"/>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Studying a blade of grass to understand why it bends</a:t>
            </a:r>
            <a:endParaRPr lang="en-US" sz="1600" dirty="0"/>
          </a:p>
        </p:txBody>
      </p:sp>
      <p:sp>
        <p:nvSpPr>
          <p:cNvPr id="5" name="Text 2"/>
          <p:cNvSpPr/>
          <p:nvPr/>
        </p:nvSpPr>
        <p:spPr>
          <a:xfrm>
            <a:off x="1645920" y="1783080"/>
            <a:ext cx="6400800" cy="411480"/>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Measuring angle, position, structure</a:t>
            </a:r>
            <a:endParaRPr lang="en-US" sz="1600" dirty="0"/>
          </a:p>
        </p:txBody>
      </p:sp>
      <p:sp>
        <p:nvSpPr>
          <p:cNvPr id="6" name="Text 3"/>
          <p:cNvSpPr/>
          <p:nvPr/>
        </p:nvSpPr>
        <p:spPr>
          <a:xfrm>
            <a:off x="1645920" y="2286000"/>
            <a:ext cx="6400800" cy="411480"/>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Still can't predict movement</a:t>
            </a:r>
            <a:endParaRPr lang="en-US" sz="1600" dirty="0"/>
          </a:p>
        </p:txBody>
      </p:sp>
      <p:sp>
        <p:nvSpPr>
          <p:cNvPr id="7" name="Shape 4"/>
          <p:cNvSpPr/>
          <p:nvPr/>
        </p:nvSpPr>
        <p:spPr>
          <a:xfrm>
            <a:off x="731520" y="2926080"/>
            <a:ext cx="7680960" cy="914400"/>
          </a:xfrm>
          <a:prstGeom prst="rect">
            <a:avLst/>
          </a:prstGeom>
          <a:solidFill>
            <a:srgbClr val="0891B2"/>
          </a:solidFill>
          <a:ln/>
        </p:spPr>
        <p:txBody>
          <a:bodyPr/>
          <a:lstStyle/>
          <a:p>
            <a:endParaRPr/>
          </a:p>
        </p:txBody>
      </p:sp>
      <p:sp>
        <p:nvSpPr>
          <p:cNvPr id="8" name="Text 5"/>
          <p:cNvSpPr/>
          <p:nvPr/>
        </p:nvSpPr>
        <p:spPr>
          <a:xfrm>
            <a:off x="1005840" y="2926080"/>
            <a:ext cx="7132320" cy="91440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Because the grass isn't the phenomenon.</a:t>
            </a:r>
            <a:endParaRPr lang="en-US" sz="2200" dirty="0"/>
          </a:p>
          <a:p>
            <a:pPr marL="0" indent="0">
              <a:buNone/>
            </a:pPr>
            <a:r>
              <a:rPr lang="en-US" sz="2200" b="1" dirty="0">
                <a:solidFill>
                  <a:srgbClr val="FFFFFF"/>
                </a:solidFill>
                <a:latin typeface="Georgia" pitchFamily="34" charset="0"/>
                <a:ea typeface="Georgia" pitchFamily="34" charset="-122"/>
                <a:cs typeface="Georgia" pitchFamily="34" charset="-120"/>
              </a:rPr>
              <a:t>The wind is.</a:t>
            </a:r>
            <a:endParaRPr lang="en-US" sz="2200" dirty="0"/>
          </a:p>
        </p:txBody>
      </p:sp>
      <p:sp>
        <p:nvSpPr>
          <p:cNvPr id="9" name="Text 6"/>
          <p:cNvSpPr/>
          <p:nvPr/>
        </p:nvSpPr>
        <p:spPr>
          <a:xfrm>
            <a:off x="731520" y="4114800"/>
            <a:ext cx="7680960" cy="640080"/>
          </a:xfrm>
          <a:prstGeom prst="rect">
            <a:avLst/>
          </a:prstGeom>
          <a:noFill/>
          <a:ln/>
        </p:spPr>
        <p:txBody>
          <a:bodyPr wrap="square" lIns="0" tIns="0" rIns="0" bIns="0" rtlCol="0" anchor="ctr"/>
          <a:lstStyle/>
          <a:p>
            <a:pPr marL="0" indent="0">
              <a:lnSpc>
                <a:spcPct val="140000"/>
              </a:lnSpc>
              <a:buNone/>
            </a:pPr>
            <a:r>
              <a:rPr lang="en-US" sz="1600" i="1" dirty="0">
                <a:solidFill>
                  <a:srgbClr val="1E293B"/>
                </a:solidFill>
                <a:latin typeface="Georgia" pitchFamily="34" charset="0"/>
                <a:ea typeface="Georgia" pitchFamily="34" charset="-122"/>
                <a:cs typeface="Georgia" pitchFamily="34" charset="-120"/>
              </a:rPr>
              <a:t>We've spent 80 years studying individuals.</a:t>
            </a:r>
            <a:endParaRPr lang="en-US" sz="1600" dirty="0"/>
          </a:p>
          <a:p>
            <a:pPr marL="0" indent="0">
              <a:lnSpc>
                <a:spcPct val="140000"/>
              </a:lnSpc>
              <a:buNone/>
            </a:pPr>
            <a:r>
              <a:rPr lang="en-US" sz="1600" i="1" dirty="0">
                <a:solidFill>
                  <a:srgbClr val="1E293B"/>
                </a:solidFill>
                <a:latin typeface="Georgia" pitchFamily="34" charset="0"/>
                <a:ea typeface="Georgia" pitchFamily="34" charset="-122"/>
                <a:cs typeface="Georgia" pitchFamily="34" charset="-120"/>
              </a:rPr>
              <a:t>The pattern is in the system.</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715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914400"/>
            <a:ext cx="7315200" cy="2286000"/>
          </a:xfrm>
          <a:prstGeom prst="rect">
            <a:avLst/>
          </a:prstGeom>
          <a:noFill/>
        </p:spPr>
        <p:txBody>
          <a:bodyPr wrap="square">
            <a:spAutoFit/>
          </a:bodyPr>
          <a:lstStyle/>
          <a:p>
            <a:pPr algn="l"/>
            <a:r>
              <a:rPr sz="2400" i="1">
                <a:solidFill>
                  <a:srgbClr val="22D3EE"/>
                </a:solidFill>
                <a:latin typeface="Georgia"/>
              </a:rPr>
              <a:t>"If you see a whole thing — it seems that it's always
beautiful. Planets, lives... But up close a world's all
dirt and rocks. And day to day, life's a hard job,
you get tired, you lose the pattern."</a:t>
            </a:r>
          </a:p>
        </p:txBody>
      </p:sp>
      <p:sp>
        <p:nvSpPr>
          <p:cNvPr id="4" name="TextBox 3"/>
          <p:cNvSpPr txBox="1"/>
          <p:nvPr/>
        </p:nvSpPr>
        <p:spPr>
          <a:xfrm>
            <a:off x="914400" y="3200400"/>
            <a:ext cx="7315200" cy="457200"/>
          </a:xfrm>
          <a:prstGeom prst="rect">
            <a:avLst/>
          </a:prstGeom>
          <a:noFill/>
        </p:spPr>
        <p:txBody>
          <a:bodyPr wrap="square">
            <a:spAutoFit/>
          </a:bodyPr>
          <a:lstStyle/>
          <a:p>
            <a:pPr algn="l"/>
            <a:r>
              <a:rPr sz="1600">
                <a:solidFill>
                  <a:srgbClr val="94A3B8"/>
                </a:solidFill>
                <a:latin typeface="Calibri"/>
              </a:rPr>
              <a:t>— Ursula K. Le Guin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3000" b="1" dirty="0">
                <a:solidFill>
                  <a:srgbClr val="1E293B"/>
                </a:solidFill>
                <a:latin typeface="Georgia" pitchFamily="34" charset="0"/>
                <a:ea typeface="Georgia" pitchFamily="34" charset="-122"/>
                <a:cs typeface="Georgia" pitchFamily="34" charset="-120"/>
              </a:rPr>
              <a:t>Why Family?</a:t>
            </a:r>
            <a:endParaRPr lang="en-US" sz="3000" dirty="0"/>
          </a:p>
        </p:txBody>
      </p:sp>
      <p:sp>
        <p:nvSpPr>
          <p:cNvPr id="3" name="Shape 1"/>
          <p:cNvSpPr/>
          <p:nvPr/>
        </p:nvSpPr>
        <p:spPr>
          <a:xfrm>
            <a:off x="731520" y="1188720"/>
            <a:ext cx="2514600" cy="21945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4" name="Text 2"/>
          <p:cNvSpPr/>
          <p:nvPr/>
        </p:nvSpPr>
        <p:spPr>
          <a:xfrm>
            <a:off x="1005840" y="1463040"/>
            <a:ext cx="1965960" cy="457200"/>
          </a:xfrm>
          <a:prstGeom prst="rect">
            <a:avLst/>
          </a:prstGeom>
          <a:noFill/>
          <a:ln/>
        </p:spPr>
        <p:txBody>
          <a:bodyPr wrap="square" lIns="0" tIns="0" rIns="0" bIns="0" rtlCol="0" anchor="ctr"/>
          <a:lstStyle/>
          <a:p>
            <a:pPr marL="0" indent="0">
              <a:buNone/>
            </a:pPr>
            <a:r>
              <a:rPr lang="en-US" sz="1800" b="1" dirty="0">
                <a:solidFill>
                  <a:srgbClr val="1E293B"/>
                </a:solidFill>
                <a:latin typeface="Calibri" pitchFamily="34" charset="0"/>
                <a:ea typeface="Calibri" pitchFamily="34" charset="-122"/>
                <a:cs typeface="Calibri" pitchFamily="34" charset="-120"/>
              </a:rPr>
              <a:t>Not the Individual</a:t>
            </a:r>
            <a:endParaRPr lang="en-US" sz="1800" dirty="0"/>
          </a:p>
        </p:txBody>
      </p:sp>
      <p:sp>
        <p:nvSpPr>
          <p:cNvPr id="5" name="Text 3"/>
          <p:cNvSpPr/>
          <p:nvPr/>
        </p:nvSpPr>
        <p:spPr>
          <a:xfrm>
            <a:off x="1005840" y="2011680"/>
            <a:ext cx="1965960" cy="73152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Misses the pattern</a:t>
            </a:r>
            <a:endParaRPr lang="en-US" sz="1400" dirty="0"/>
          </a:p>
        </p:txBody>
      </p:sp>
      <p:sp>
        <p:nvSpPr>
          <p:cNvPr id="6" name="Shape 4"/>
          <p:cNvSpPr/>
          <p:nvPr/>
        </p:nvSpPr>
        <p:spPr>
          <a:xfrm>
            <a:off x="3566160" y="1188720"/>
            <a:ext cx="2514600" cy="21945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7" name="Text 5"/>
          <p:cNvSpPr/>
          <p:nvPr/>
        </p:nvSpPr>
        <p:spPr>
          <a:xfrm>
            <a:off x="3840480" y="1463040"/>
            <a:ext cx="1965960" cy="457200"/>
          </a:xfrm>
          <a:prstGeom prst="rect">
            <a:avLst/>
          </a:prstGeom>
          <a:noFill/>
          <a:ln/>
        </p:spPr>
        <p:txBody>
          <a:bodyPr wrap="square" lIns="0" tIns="0" rIns="0" bIns="0" rtlCol="0" anchor="ctr"/>
          <a:lstStyle/>
          <a:p>
            <a:pPr marL="0" indent="0">
              <a:buNone/>
            </a:pPr>
            <a:r>
              <a:rPr lang="en-US" sz="1800" b="1" dirty="0">
                <a:solidFill>
                  <a:srgbClr val="1E293B"/>
                </a:solidFill>
                <a:latin typeface="Calibri" pitchFamily="34" charset="0"/>
                <a:ea typeface="Calibri" pitchFamily="34" charset="-122"/>
                <a:cs typeface="Calibri" pitchFamily="34" charset="-120"/>
              </a:rPr>
              <a:t>Not Society</a:t>
            </a:r>
            <a:endParaRPr lang="en-US" sz="1800" dirty="0"/>
          </a:p>
        </p:txBody>
      </p:sp>
      <p:sp>
        <p:nvSpPr>
          <p:cNvPr id="8" name="Text 6"/>
          <p:cNvSpPr/>
          <p:nvPr/>
        </p:nvSpPr>
        <p:spPr>
          <a:xfrm>
            <a:off x="3840480" y="2011680"/>
            <a:ext cx="1965960" cy="73152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Too big to measure</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or intervene</a:t>
            </a:r>
            <a:endParaRPr lang="en-US" sz="1400" dirty="0"/>
          </a:p>
        </p:txBody>
      </p:sp>
      <p:sp>
        <p:nvSpPr>
          <p:cNvPr id="9" name="Shape 7"/>
          <p:cNvSpPr/>
          <p:nvPr/>
        </p:nvSpPr>
        <p:spPr>
          <a:xfrm>
            <a:off x="6400800" y="1188720"/>
            <a:ext cx="2514600" cy="2194560"/>
          </a:xfrm>
          <a:prstGeom prst="rect">
            <a:avLst/>
          </a:prstGeom>
          <a:solidFill>
            <a:srgbClr val="0891B2"/>
          </a:solidFill>
          <a:ln/>
          <a:effectLst>
            <a:outerShdw blurRad="76200" dist="25400" dir="8100000" algn="bl" rotWithShape="0">
              <a:srgbClr val="000000">
                <a:alpha val="12000"/>
              </a:srgbClr>
            </a:outerShdw>
          </a:effectLst>
        </p:spPr>
        <p:txBody>
          <a:bodyPr/>
          <a:lstStyle/>
          <a:p>
            <a:endParaRPr/>
          </a:p>
        </p:txBody>
      </p:sp>
      <p:sp>
        <p:nvSpPr>
          <p:cNvPr id="10" name="Text 8"/>
          <p:cNvSpPr/>
          <p:nvPr/>
        </p:nvSpPr>
        <p:spPr>
          <a:xfrm>
            <a:off x="6675120" y="1463040"/>
            <a:ext cx="196596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The Family</a:t>
            </a:r>
            <a:endParaRPr lang="en-US" sz="1800" dirty="0"/>
          </a:p>
        </p:txBody>
      </p:sp>
      <p:sp>
        <p:nvSpPr>
          <p:cNvPr id="11" name="Text 9"/>
          <p:cNvSpPr/>
          <p:nvPr/>
        </p:nvSpPr>
        <p:spPr>
          <a:xfrm>
            <a:off x="6675120" y="2011680"/>
            <a:ext cx="1965960" cy="731520"/>
          </a:xfrm>
          <a:prstGeom prst="rect">
            <a:avLst/>
          </a:prstGeom>
          <a:noFill/>
          <a:ln/>
        </p:spPr>
        <p:txBody>
          <a:bodyPr wrap="square" lIns="0" tIns="0" rIns="0" bIns="0" rtlCol="0" anchor="ctr"/>
          <a:lstStyle/>
          <a:p>
            <a:pPr marL="0" indent="0">
              <a:buNone/>
            </a:pPr>
            <a:r>
              <a:rPr lang="en-US" sz="1400" dirty="0">
                <a:solidFill>
                  <a:srgbClr val="22D3EE"/>
                </a:solidFill>
                <a:latin typeface="Calibri" pitchFamily="34" charset="0"/>
                <a:ea typeface="Calibri" pitchFamily="34" charset="-122"/>
                <a:cs typeface="Calibri" pitchFamily="34" charset="-120"/>
              </a:rPr>
              <a:t>Smallest system where</a:t>
            </a:r>
            <a:endParaRPr lang="en-US" sz="1400" dirty="0"/>
          </a:p>
          <a:p>
            <a:pPr marL="0" indent="0">
              <a:buNone/>
            </a:pPr>
            <a:r>
              <a:rPr lang="en-US" sz="1400" dirty="0">
                <a:solidFill>
                  <a:srgbClr val="22D3EE"/>
                </a:solidFill>
                <a:latin typeface="Calibri" pitchFamily="34" charset="0"/>
                <a:ea typeface="Calibri" pitchFamily="34" charset="-122"/>
                <a:cs typeface="Calibri" pitchFamily="34" charset="-120"/>
              </a:rPr>
              <a:t>the pattern is visible</a:t>
            </a:r>
            <a:endParaRPr lang="en-US" sz="1400" dirty="0"/>
          </a:p>
        </p:txBody>
      </p:sp>
      <p:sp>
        <p:nvSpPr>
          <p:cNvPr id="12" name="Text 10"/>
          <p:cNvSpPr/>
          <p:nvPr/>
        </p:nvSpPr>
        <p:spPr>
          <a:xfrm>
            <a:off x="731520" y="3749040"/>
            <a:ext cx="7680960" cy="457200"/>
          </a:xfrm>
          <a:prstGeom prst="rect">
            <a:avLst/>
          </a:prstGeom>
          <a:noFill/>
          <a:ln/>
        </p:spPr>
        <p:txBody>
          <a:bodyPr wrap="square" lIns="0" tIns="0" rIns="0" bIns="0" rtlCol="0" anchor="ctr"/>
          <a:lstStyle/>
          <a:p>
            <a:pPr marL="0" indent="0">
              <a:buNone/>
            </a:pPr>
            <a:r>
              <a:rPr lang="en-US" sz="1800" b="1" i="1" dirty="0">
                <a:solidFill>
                  <a:srgbClr val="0891B2"/>
                </a:solidFill>
                <a:latin typeface="Georgia" pitchFamily="34" charset="0"/>
                <a:ea typeface="Georgia" pitchFamily="34" charset="-122"/>
                <a:cs typeface="Georgia" pitchFamily="34" charset="-120"/>
              </a:rPr>
              <a:t>One level up from the blade of grass.</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bg>
      <p:bgPr>
        <a:solidFill>
          <a:srgbClr val="F0F4F8"/>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Facts Calm People Down</a:t>
            </a:r>
            <a:endParaRPr lang="en-US" sz="2800" dirty="0"/>
          </a:p>
        </p:txBody>
      </p:sp>
      <p:sp>
        <p:nvSpPr>
          <p:cNvPr id="3" name="Shape 1"/>
          <p:cNvSpPr/>
          <p:nvPr/>
        </p:nvSpPr>
        <p:spPr>
          <a:xfrm>
            <a:off x="731520" y="1188720"/>
            <a:ext cx="3657600" cy="18288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4" name="Shape 2"/>
          <p:cNvSpPr/>
          <p:nvPr/>
        </p:nvSpPr>
        <p:spPr>
          <a:xfrm>
            <a:off x="731520" y="1188720"/>
            <a:ext cx="3657600" cy="54864"/>
          </a:xfrm>
          <a:prstGeom prst="rect">
            <a:avLst/>
          </a:prstGeom>
          <a:solidFill>
            <a:srgbClr val="D97706"/>
          </a:solidFill>
          <a:ln/>
        </p:spPr>
        <p:txBody>
          <a:bodyPr/>
          <a:lstStyle/>
          <a:p>
            <a:endParaRPr/>
          </a:p>
        </p:txBody>
      </p:sp>
      <p:sp>
        <p:nvSpPr>
          <p:cNvPr id="5" name="Text 3"/>
          <p:cNvSpPr/>
          <p:nvPr/>
        </p:nvSpPr>
        <p:spPr>
          <a:xfrm>
            <a:off x="1005840" y="1371600"/>
            <a:ext cx="3108960" cy="36576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Without Common Currency</a:t>
            </a:r>
            <a:endParaRPr lang="en-US" sz="1500" dirty="0"/>
          </a:p>
        </p:txBody>
      </p:sp>
      <p:sp>
        <p:nvSpPr>
          <p:cNvPr id="6" name="Text 4"/>
          <p:cNvSpPr/>
          <p:nvPr/>
        </p:nvSpPr>
        <p:spPr>
          <a:xfrm>
            <a:off x="1005840" y="1828800"/>
            <a:ext cx="3108960" cy="914400"/>
          </a:xfrm>
          <a:prstGeom prst="rect">
            <a:avLst/>
          </a:prstGeom>
          <a:noFill/>
          <a:ln/>
        </p:spPr>
        <p:txBody>
          <a:bodyPr wrap="square" lIns="0" tIns="0" rIns="0" bIns="0" rtlCol="0" anchor="ctr"/>
          <a:lstStyle/>
          <a:p>
            <a:pPr marL="0" indent="0">
              <a:lnSpc>
                <a:spcPct val="150000"/>
              </a:lnSpc>
              <a:buNone/>
            </a:pPr>
            <a:r>
              <a:rPr lang="en-US" sz="1300" dirty="0">
                <a:solidFill>
                  <a:srgbClr val="475569"/>
                </a:solidFill>
                <a:latin typeface="Calibri" pitchFamily="34" charset="0"/>
                <a:ea typeface="Calibri" pitchFamily="34" charset="-122"/>
                <a:cs typeface="Calibri" pitchFamily="34" charset="-120"/>
              </a:rPr>
              <a:t>Opinion vs. opinion</a:t>
            </a:r>
            <a:endParaRPr lang="en-US" sz="1300" dirty="0"/>
          </a:p>
          <a:p>
            <a:pPr marL="0" indent="0">
              <a:lnSpc>
                <a:spcPct val="150000"/>
              </a:lnSpc>
              <a:buNone/>
            </a:pPr>
            <a:r>
              <a:rPr lang="en-US" sz="1300" dirty="0">
                <a:solidFill>
                  <a:srgbClr val="475569"/>
                </a:solidFill>
                <a:latin typeface="Calibri" pitchFamily="34" charset="0"/>
                <a:ea typeface="Calibri" pitchFamily="34" charset="-122"/>
                <a:cs typeface="Calibri" pitchFamily="34" charset="-120"/>
              </a:rPr>
              <a:t>Loudest voice wins</a:t>
            </a:r>
            <a:endParaRPr lang="en-US" sz="1300" dirty="0"/>
          </a:p>
          <a:p>
            <a:pPr marL="0" indent="0">
              <a:lnSpc>
                <a:spcPct val="150000"/>
              </a:lnSpc>
              <a:buNone/>
            </a:pPr>
            <a:r>
              <a:rPr lang="en-US" sz="1300" dirty="0">
                <a:solidFill>
                  <a:srgbClr val="475569"/>
                </a:solidFill>
                <a:latin typeface="Calibri" pitchFamily="34" charset="0"/>
                <a:ea typeface="Calibri" pitchFamily="34" charset="-122"/>
                <a:cs typeface="Calibri" pitchFamily="34" charset="-120"/>
              </a:rPr>
              <a:t>Tribal hierarchy determines outcomes</a:t>
            </a:r>
            <a:endParaRPr lang="en-US" sz="1300" dirty="0"/>
          </a:p>
        </p:txBody>
      </p:sp>
      <p:sp>
        <p:nvSpPr>
          <p:cNvPr id="7" name="Shape 5"/>
          <p:cNvSpPr/>
          <p:nvPr/>
        </p:nvSpPr>
        <p:spPr>
          <a:xfrm>
            <a:off x="4754880" y="1188720"/>
            <a:ext cx="3657600" cy="18288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8" name="Shape 6"/>
          <p:cNvSpPr/>
          <p:nvPr/>
        </p:nvSpPr>
        <p:spPr>
          <a:xfrm>
            <a:off x="4754880" y="1188720"/>
            <a:ext cx="3657600" cy="54864"/>
          </a:xfrm>
          <a:prstGeom prst="rect">
            <a:avLst/>
          </a:prstGeom>
          <a:solidFill>
            <a:srgbClr val="0891B2"/>
          </a:solidFill>
          <a:ln/>
        </p:spPr>
        <p:txBody>
          <a:bodyPr/>
          <a:lstStyle/>
          <a:p>
            <a:endParaRPr/>
          </a:p>
        </p:txBody>
      </p:sp>
      <p:sp>
        <p:nvSpPr>
          <p:cNvPr id="9" name="Text 7"/>
          <p:cNvSpPr/>
          <p:nvPr/>
        </p:nvSpPr>
        <p:spPr>
          <a:xfrm>
            <a:off x="5029200" y="1371600"/>
            <a:ext cx="3108960" cy="36576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With Measurable Concepts</a:t>
            </a:r>
            <a:endParaRPr lang="en-US" sz="1500" dirty="0"/>
          </a:p>
        </p:txBody>
      </p:sp>
      <p:sp>
        <p:nvSpPr>
          <p:cNvPr id="10" name="Text 8"/>
          <p:cNvSpPr/>
          <p:nvPr/>
        </p:nvSpPr>
        <p:spPr>
          <a:xfrm>
            <a:off x="5029200" y="1828800"/>
            <a:ext cx="3108960" cy="914400"/>
          </a:xfrm>
          <a:prstGeom prst="rect">
            <a:avLst/>
          </a:prstGeom>
          <a:noFill/>
          <a:ln/>
        </p:spPr>
        <p:txBody>
          <a:bodyPr wrap="square" lIns="0" tIns="0" rIns="0" bIns="0" rtlCol="0" anchor="ctr"/>
          <a:lstStyle/>
          <a:p>
            <a:pPr marL="0" indent="0">
              <a:lnSpc>
                <a:spcPct val="150000"/>
              </a:lnSpc>
              <a:buNone/>
            </a:pPr>
            <a:r>
              <a:rPr lang="en-US" sz="1300" dirty="0">
                <a:solidFill>
                  <a:srgbClr val="475569"/>
                </a:solidFill>
                <a:latin typeface="Calibri" pitchFamily="34" charset="0"/>
                <a:ea typeface="Calibri" pitchFamily="34" charset="-122"/>
                <a:cs typeface="Calibri" pitchFamily="34" charset="-120"/>
              </a:rPr>
              <a:t>Depolarized baseline</a:t>
            </a:r>
            <a:endParaRPr lang="en-US" sz="1300" dirty="0"/>
          </a:p>
          <a:p>
            <a:pPr marL="0" indent="0">
              <a:lnSpc>
                <a:spcPct val="150000"/>
              </a:lnSpc>
              <a:buNone/>
            </a:pPr>
            <a:r>
              <a:rPr lang="en-US" sz="1300" dirty="0">
                <a:solidFill>
                  <a:srgbClr val="475569"/>
                </a:solidFill>
                <a:latin typeface="Calibri" pitchFamily="34" charset="0"/>
                <a:ea typeface="Calibri" pitchFamily="34" charset="-122"/>
                <a:cs typeface="Calibri" pitchFamily="34" charset="-120"/>
              </a:rPr>
              <a:t>Coordination at scale</a:t>
            </a:r>
            <a:endParaRPr lang="en-US" sz="1300" dirty="0"/>
          </a:p>
          <a:p>
            <a:pPr marL="0" indent="0">
              <a:lnSpc>
                <a:spcPct val="150000"/>
              </a:lnSpc>
              <a:buNone/>
            </a:pPr>
            <a:r>
              <a:rPr lang="en-US" sz="1300" dirty="0">
                <a:solidFill>
                  <a:srgbClr val="475569"/>
                </a:solidFill>
                <a:latin typeface="Calibri" pitchFamily="34" charset="0"/>
                <a:ea typeface="Calibri" pitchFamily="34" charset="-122"/>
                <a:cs typeface="Calibri" pitchFamily="34" charset="-120"/>
              </a:rPr>
              <a:t>Healthier uncertainty reduction</a:t>
            </a:r>
            <a:endParaRPr lang="en-US" sz="1300" dirty="0"/>
          </a:p>
        </p:txBody>
      </p:sp>
      <p:sp>
        <p:nvSpPr>
          <p:cNvPr id="11" name="Shape 9"/>
          <p:cNvSpPr/>
          <p:nvPr/>
        </p:nvSpPr>
        <p:spPr>
          <a:xfrm>
            <a:off x="731520" y="3383280"/>
            <a:ext cx="7680960" cy="640080"/>
          </a:xfrm>
          <a:prstGeom prst="rect">
            <a:avLst/>
          </a:prstGeom>
          <a:solidFill>
            <a:srgbClr val="1B2A4A"/>
          </a:solidFill>
          <a:ln/>
        </p:spPr>
        <p:txBody>
          <a:bodyPr/>
          <a:lstStyle/>
          <a:p>
            <a:endParaRPr/>
          </a:p>
        </p:txBody>
      </p:sp>
      <p:sp>
        <p:nvSpPr>
          <p:cNvPr id="12" name="Text 10"/>
          <p:cNvSpPr/>
          <p:nvPr/>
        </p:nvSpPr>
        <p:spPr>
          <a:xfrm>
            <a:off x="1005840" y="3383280"/>
            <a:ext cx="7132320" cy="640080"/>
          </a:xfrm>
          <a:prstGeom prst="rect">
            <a:avLst/>
          </a:prstGeom>
          <a:noFill/>
          <a:ln/>
        </p:spPr>
        <p:txBody>
          <a:bodyPr wrap="square" lIns="0" tIns="0" rIns="0" bIns="0" rtlCol="0" anchor="ctr"/>
          <a:lstStyle/>
          <a:p>
            <a:pPr marL="0" indent="0">
              <a:buNone/>
            </a:pPr>
            <a:r>
              <a:rPr lang="en-US" sz="1700" b="1" dirty="0">
                <a:solidFill>
                  <a:srgbClr val="22D3EE"/>
                </a:solidFill>
                <a:latin typeface="Georgia" pitchFamily="34" charset="0"/>
                <a:ea typeface="Georgia" pitchFamily="34" charset="-122"/>
                <a:cs typeface="Georgia" pitchFamily="34" charset="-120"/>
              </a:rPr>
              <a:t>Measurability reduces uncertainty without the catastrophic side effects.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What You'll Get Today</a:t>
            </a:r>
            <a:endParaRPr lang="en-US" sz="2800" dirty="0"/>
          </a:p>
        </p:txBody>
      </p:sp>
      <p:sp>
        <p:nvSpPr>
          <p:cNvPr id="3" name="Shape 1"/>
          <p:cNvSpPr/>
          <p:nvPr/>
        </p:nvSpPr>
        <p:spPr>
          <a:xfrm>
            <a:off x="731520" y="1188720"/>
            <a:ext cx="3657600" cy="11887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4" name="Shape 2"/>
          <p:cNvSpPr/>
          <p:nvPr/>
        </p:nvSpPr>
        <p:spPr>
          <a:xfrm>
            <a:off x="731520" y="1188720"/>
            <a:ext cx="54864" cy="1188720"/>
          </a:xfrm>
          <a:prstGeom prst="rect">
            <a:avLst/>
          </a:prstGeom>
          <a:solidFill>
            <a:srgbClr val="0891B2"/>
          </a:solidFill>
          <a:ln/>
        </p:spPr>
        <p:txBody>
          <a:bodyPr/>
          <a:lstStyle/>
          <a:p>
            <a:endParaRPr/>
          </a:p>
        </p:txBody>
      </p:sp>
      <p:pic>
        <p:nvPicPr>
          <p:cNvPr id="5" name="Image 0" descr="preencoded.png"/>
          <p:cNvPicPr>
            <a:picLocks noChangeAspect="1"/>
          </p:cNvPicPr>
          <p:nvPr/>
        </p:nvPicPr>
        <p:blipFill>
          <a:blip r:embed="rId3"/>
          <a:stretch>
            <a:fillRect/>
          </a:stretch>
        </p:blipFill>
        <p:spPr>
          <a:xfrm>
            <a:off x="1005840" y="1417320"/>
            <a:ext cx="365760" cy="365760"/>
          </a:xfrm>
          <a:prstGeom prst="rect">
            <a:avLst/>
          </a:prstGeom>
        </p:spPr>
      </p:pic>
      <p:sp>
        <p:nvSpPr>
          <p:cNvPr id="6" name="Text 3"/>
          <p:cNvSpPr/>
          <p:nvPr/>
        </p:nvSpPr>
        <p:spPr>
          <a:xfrm>
            <a:off x="1508760" y="1325880"/>
            <a:ext cx="2560320" cy="365760"/>
          </a:xfrm>
          <a:prstGeom prst="rect">
            <a:avLst/>
          </a:prstGeom>
          <a:noFill/>
          <a:ln/>
        </p:spPr>
        <p:txBody>
          <a:bodyPr wrap="square" lIns="0" tIns="0" rIns="0" bIns="0" rtlCol="0" anchor="ctr"/>
          <a:lstStyle/>
          <a:p>
            <a:pPr marL="0" indent="0">
              <a:buNone/>
            </a:pPr>
            <a:r>
              <a:rPr lang="en-US" sz="1600" b="1" dirty="0">
                <a:solidFill>
                  <a:srgbClr val="1E293B"/>
                </a:solidFill>
                <a:latin typeface="Calibri" pitchFamily="34" charset="0"/>
                <a:ea typeface="Calibri" pitchFamily="34" charset="-122"/>
                <a:cs typeface="Calibri" pitchFamily="34" charset="-120"/>
              </a:rPr>
              <a:t>SARF</a:t>
            </a:r>
            <a:endParaRPr lang="en-US" sz="1600" dirty="0"/>
          </a:p>
        </p:txBody>
      </p:sp>
      <p:sp>
        <p:nvSpPr>
          <p:cNvPr id="7" name="Text 4"/>
          <p:cNvSpPr/>
          <p:nvPr/>
        </p:nvSpPr>
        <p:spPr>
          <a:xfrm>
            <a:off x="1508760" y="1737360"/>
            <a:ext cx="2560320" cy="457200"/>
          </a:xfrm>
          <a:prstGeom prst="rect">
            <a:avLst/>
          </a:prstGeom>
          <a:noFill/>
          <a:ln/>
        </p:spPr>
        <p:txBody>
          <a:bodyPr wrap="square" lIns="0" tIns="0" rIns="0" bIns="0" rtlCol="0" anchor="ctr"/>
          <a:lstStyle/>
          <a:p>
            <a:pPr marL="0" indent="0">
              <a:buNone/>
            </a:pPr>
            <a:r>
              <a:rPr lang="en-US" sz="1300" dirty="0">
                <a:solidFill>
                  <a:srgbClr val="475569"/>
                </a:solidFill>
                <a:latin typeface="Calibri" pitchFamily="34" charset="0"/>
                <a:ea typeface="Calibri" pitchFamily="34" charset="-122"/>
                <a:cs typeface="Calibri" pitchFamily="34" charset="-120"/>
              </a:rPr>
              <a:t>Measurable concepts for family-level patterns</a:t>
            </a:r>
            <a:endParaRPr lang="en-US" sz="1300" dirty="0"/>
          </a:p>
        </p:txBody>
      </p:sp>
      <p:sp>
        <p:nvSpPr>
          <p:cNvPr id="8" name="Shape 5"/>
          <p:cNvSpPr/>
          <p:nvPr/>
        </p:nvSpPr>
        <p:spPr>
          <a:xfrm>
            <a:off x="4754880" y="1188720"/>
            <a:ext cx="3657600" cy="11887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9" name="Shape 6"/>
          <p:cNvSpPr/>
          <p:nvPr/>
        </p:nvSpPr>
        <p:spPr>
          <a:xfrm>
            <a:off x="4754880" y="1188720"/>
            <a:ext cx="54864" cy="1188720"/>
          </a:xfrm>
          <a:prstGeom prst="rect">
            <a:avLst/>
          </a:prstGeom>
          <a:solidFill>
            <a:srgbClr val="0891B2"/>
          </a:solidFill>
          <a:ln/>
        </p:spPr>
        <p:txBody>
          <a:bodyPr/>
          <a:lstStyle/>
          <a:p>
            <a:endParaRPr/>
          </a:p>
        </p:txBody>
      </p:sp>
      <p:pic>
        <p:nvPicPr>
          <p:cNvPr id="10" name="Image 1" descr="preencoded.png"/>
          <p:cNvPicPr>
            <a:picLocks noChangeAspect="1"/>
          </p:cNvPicPr>
          <p:nvPr/>
        </p:nvPicPr>
        <p:blipFill>
          <a:blip r:embed="rId4"/>
          <a:stretch>
            <a:fillRect/>
          </a:stretch>
        </p:blipFill>
        <p:spPr>
          <a:xfrm>
            <a:off x="5029200" y="1417320"/>
            <a:ext cx="365760" cy="365760"/>
          </a:xfrm>
          <a:prstGeom prst="rect">
            <a:avLst/>
          </a:prstGeom>
        </p:spPr>
      </p:pic>
      <p:sp>
        <p:nvSpPr>
          <p:cNvPr id="11" name="Text 7"/>
          <p:cNvSpPr/>
          <p:nvPr/>
        </p:nvSpPr>
        <p:spPr>
          <a:xfrm>
            <a:off x="5532120" y="1325880"/>
            <a:ext cx="2560320" cy="365760"/>
          </a:xfrm>
          <a:prstGeom prst="rect">
            <a:avLst/>
          </a:prstGeom>
          <a:noFill/>
          <a:ln/>
        </p:spPr>
        <p:txBody>
          <a:bodyPr wrap="square" lIns="0" tIns="0" rIns="0" bIns="0" rtlCol="0" anchor="ctr"/>
          <a:lstStyle/>
          <a:p>
            <a:pPr marL="0" indent="0">
              <a:buNone/>
            </a:pPr>
            <a:r>
              <a:rPr lang="en-US" sz="1600" b="1" dirty="0">
                <a:solidFill>
                  <a:srgbClr val="1E293B"/>
                </a:solidFill>
                <a:latin typeface="Calibri" pitchFamily="34" charset="0"/>
                <a:ea typeface="Calibri" pitchFamily="34" charset="-122"/>
                <a:cs typeface="Calibri" pitchFamily="34" charset="-120"/>
              </a:rPr>
              <a:t>AI Tools</a:t>
            </a:r>
            <a:endParaRPr lang="en-US" sz="1600" dirty="0"/>
          </a:p>
        </p:txBody>
      </p:sp>
      <p:sp>
        <p:nvSpPr>
          <p:cNvPr id="12" name="Text 8"/>
          <p:cNvSpPr/>
          <p:nvPr/>
        </p:nvSpPr>
        <p:spPr>
          <a:xfrm>
            <a:off x="5532120" y="1737360"/>
            <a:ext cx="2560320" cy="457200"/>
          </a:xfrm>
          <a:prstGeom prst="rect">
            <a:avLst/>
          </a:prstGeom>
          <a:noFill/>
          <a:ln/>
        </p:spPr>
        <p:txBody>
          <a:bodyPr wrap="square" lIns="0" tIns="0" rIns="0" bIns="0" rtlCol="0" anchor="ctr"/>
          <a:lstStyle/>
          <a:p>
            <a:pPr marL="0" indent="0">
              <a:buNone/>
            </a:pPr>
            <a:r>
              <a:rPr lang="en-US" sz="1300" dirty="0">
                <a:solidFill>
                  <a:srgbClr val="475569"/>
                </a:solidFill>
                <a:latin typeface="Calibri" pitchFamily="34" charset="0"/>
                <a:ea typeface="Calibri" pitchFamily="34" charset="-122"/>
                <a:cs typeface="Calibri" pitchFamily="34" charset="-120"/>
              </a:rPr>
              <a:t>Technology to capture what we're learning to see</a:t>
            </a:r>
            <a:endParaRPr lang="en-US" sz="1300" dirty="0"/>
          </a:p>
        </p:txBody>
      </p:sp>
      <p:sp>
        <p:nvSpPr>
          <p:cNvPr id="13" name="Shape 9"/>
          <p:cNvSpPr/>
          <p:nvPr/>
        </p:nvSpPr>
        <p:spPr>
          <a:xfrm>
            <a:off x="731520" y="2606040"/>
            <a:ext cx="3657600" cy="11887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14" name="Shape 10"/>
          <p:cNvSpPr/>
          <p:nvPr/>
        </p:nvSpPr>
        <p:spPr>
          <a:xfrm>
            <a:off x="731520" y="2606040"/>
            <a:ext cx="54864" cy="1188720"/>
          </a:xfrm>
          <a:prstGeom prst="rect">
            <a:avLst/>
          </a:prstGeom>
          <a:solidFill>
            <a:srgbClr val="0891B2"/>
          </a:solidFill>
          <a:ln/>
        </p:spPr>
        <p:txBody>
          <a:bodyPr/>
          <a:lstStyle/>
          <a:p>
            <a:endParaRPr/>
          </a:p>
        </p:txBody>
      </p:sp>
      <p:pic>
        <p:nvPicPr>
          <p:cNvPr id="15" name="Image 2" descr="preencoded.png"/>
          <p:cNvPicPr>
            <a:picLocks noChangeAspect="1"/>
          </p:cNvPicPr>
          <p:nvPr/>
        </p:nvPicPr>
        <p:blipFill>
          <a:blip r:embed="rId5"/>
          <a:stretch>
            <a:fillRect/>
          </a:stretch>
        </p:blipFill>
        <p:spPr>
          <a:xfrm>
            <a:off x="1005840" y="2834640"/>
            <a:ext cx="365760" cy="365760"/>
          </a:xfrm>
          <a:prstGeom prst="rect">
            <a:avLst/>
          </a:prstGeom>
        </p:spPr>
      </p:pic>
      <p:sp>
        <p:nvSpPr>
          <p:cNvPr id="16" name="Text 11"/>
          <p:cNvSpPr/>
          <p:nvPr/>
        </p:nvSpPr>
        <p:spPr>
          <a:xfrm>
            <a:off x="1508760" y="2743200"/>
            <a:ext cx="2560320" cy="365760"/>
          </a:xfrm>
          <a:prstGeom prst="rect">
            <a:avLst/>
          </a:prstGeom>
          <a:noFill/>
          <a:ln/>
        </p:spPr>
        <p:txBody>
          <a:bodyPr wrap="square" lIns="0" tIns="0" rIns="0" bIns="0" rtlCol="0" anchor="ctr"/>
          <a:lstStyle/>
          <a:p>
            <a:pPr marL="0" indent="0">
              <a:buNone/>
            </a:pPr>
            <a:r>
              <a:rPr lang="en-US" sz="1600" b="1" dirty="0">
                <a:solidFill>
                  <a:srgbClr val="1E293B"/>
                </a:solidFill>
                <a:latin typeface="Calibri" pitchFamily="34" charset="0"/>
                <a:ea typeface="Calibri" pitchFamily="34" charset="-122"/>
                <a:cs typeface="Calibri" pitchFamily="34" charset="-120"/>
              </a:rPr>
              <a:t>App Demo</a:t>
            </a:r>
            <a:endParaRPr lang="en-US" sz="1600" dirty="0"/>
          </a:p>
        </p:txBody>
      </p:sp>
      <p:sp>
        <p:nvSpPr>
          <p:cNvPr id="17" name="Text 12"/>
          <p:cNvSpPr/>
          <p:nvPr/>
        </p:nvSpPr>
        <p:spPr>
          <a:xfrm>
            <a:off x="1508760" y="3154680"/>
            <a:ext cx="2560320" cy="457200"/>
          </a:xfrm>
          <a:prstGeom prst="rect">
            <a:avLst/>
          </a:prstGeom>
          <a:noFill/>
          <a:ln/>
        </p:spPr>
        <p:txBody>
          <a:bodyPr wrap="square" lIns="0" tIns="0" rIns="0" bIns="0" rtlCol="0" anchor="ctr"/>
          <a:lstStyle/>
          <a:p>
            <a:pPr marL="0" indent="0">
              <a:buNone/>
            </a:pPr>
            <a:r>
              <a:rPr lang="en-US" sz="1300" dirty="0">
                <a:solidFill>
                  <a:srgbClr val="475569"/>
                </a:solidFill>
                <a:latin typeface="Calibri" pitchFamily="34" charset="0"/>
                <a:ea typeface="Calibri" pitchFamily="34" charset="-122"/>
                <a:cs typeface="Calibri" pitchFamily="34" charset="-120"/>
              </a:rPr>
              <a:t>Practical tools you can use Monday</a:t>
            </a:r>
            <a:endParaRPr lang="en-US" sz="1300" dirty="0"/>
          </a:p>
        </p:txBody>
      </p:sp>
      <p:sp>
        <p:nvSpPr>
          <p:cNvPr id="18" name="Shape 13"/>
          <p:cNvSpPr/>
          <p:nvPr/>
        </p:nvSpPr>
        <p:spPr>
          <a:xfrm>
            <a:off x="4754880" y="2606040"/>
            <a:ext cx="3657600" cy="11887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a:p>
        </p:txBody>
      </p:sp>
      <p:sp>
        <p:nvSpPr>
          <p:cNvPr id="19" name="Shape 14"/>
          <p:cNvSpPr/>
          <p:nvPr/>
        </p:nvSpPr>
        <p:spPr>
          <a:xfrm>
            <a:off x="4754880" y="2606040"/>
            <a:ext cx="54864" cy="1188720"/>
          </a:xfrm>
          <a:prstGeom prst="rect">
            <a:avLst/>
          </a:prstGeom>
          <a:solidFill>
            <a:srgbClr val="0891B2"/>
          </a:solidFill>
          <a:ln/>
        </p:spPr>
        <p:txBody>
          <a:bodyPr/>
          <a:lstStyle/>
          <a:p>
            <a:endParaRPr/>
          </a:p>
        </p:txBody>
      </p:sp>
      <p:pic>
        <p:nvPicPr>
          <p:cNvPr id="20" name="Image 3" descr="preencoded.png"/>
          <p:cNvPicPr>
            <a:picLocks noChangeAspect="1"/>
          </p:cNvPicPr>
          <p:nvPr/>
        </p:nvPicPr>
        <p:blipFill>
          <a:blip r:embed="rId6"/>
          <a:stretch>
            <a:fillRect/>
          </a:stretch>
        </p:blipFill>
        <p:spPr>
          <a:xfrm>
            <a:off x="5029200" y="2834640"/>
            <a:ext cx="365760" cy="365760"/>
          </a:xfrm>
          <a:prstGeom prst="rect">
            <a:avLst/>
          </a:prstGeom>
        </p:spPr>
      </p:pic>
      <p:sp>
        <p:nvSpPr>
          <p:cNvPr id="21" name="Text 15"/>
          <p:cNvSpPr/>
          <p:nvPr/>
        </p:nvSpPr>
        <p:spPr>
          <a:xfrm>
            <a:off x="5532120" y="2743200"/>
            <a:ext cx="2560320" cy="365760"/>
          </a:xfrm>
          <a:prstGeom prst="rect">
            <a:avLst/>
          </a:prstGeom>
          <a:noFill/>
          <a:ln/>
        </p:spPr>
        <p:txBody>
          <a:bodyPr wrap="square" lIns="0" tIns="0" rIns="0" bIns="0" rtlCol="0" anchor="ctr"/>
          <a:lstStyle/>
          <a:p>
            <a:pPr marL="0" indent="0">
              <a:buNone/>
            </a:pPr>
            <a:r>
              <a:rPr lang="en-US" sz="1600" b="1" dirty="0">
                <a:solidFill>
                  <a:srgbClr val="1E293B"/>
                </a:solidFill>
                <a:latin typeface="Calibri" pitchFamily="34" charset="0"/>
                <a:ea typeface="Calibri" pitchFamily="34" charset="-122"/>
                <a:cs typeface="Calibri" pitchFamily="34" charset="-120"/>
              </a:rPr>
              <a:t>Clinical Case</a:t>
            </a:r>
            <a:endParaRPr lang="en-US" sz="1600" dirty="0"/>
          </a:p>
        </p:txBody>
      </p:sp>
      <p:sp>
        <p:nvSpPr>
          <p:cNvPr id="22" name="Text 16"/>
          <p:cNvSpPr/>
          <p:nvPr/>
        </p:nvSpPr>
        <p:spPr>
          <a:xfrm>
            <a:off x="5532120" y="3154680"/>
            <a:ext cx="2560320" cy="457200"/>
          </a:xfrm>
          <a:prstGeom prst="rect">
            <a:avLst/>
          </a:prstGeom>
          <a:noFill/>
          <a:ln/>
        </p:spPr>
        <p:txBody>
          <a:bodyPr wrap="square" lIns="0" tIns="0" rIns="0" bIns="0" rtlCol="0" anchor="ctr"/>
          <a:lstStyle/>
          <a:p>
            <a:pPr marL="0" indent="0">
              <a:buNone/>
            </a:pPr>
            <a:r>
              <a:rPr lang="en-US" sz="1300" dirty="0">
                <a:solidFill>
                  <a:srgbClr val="475569"/>
                </a:solidFill>
                <a:latin typeface="Calibri" pitchFamily="34" charset="0"/>
                <a:ea typeface="Calibri" pitchFamily="34" charset="-122"/>
                <a:cs typeface="Calibri" pitchFamily="34" charset="-120"/>
              </a:rPr>
              <a:t>Evidence it works</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715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7680960" cy="914400"/>
          </a:xfrm>
          <a:prstGeom prst="rect">
            <a:avLst/>
          </a:prstGeom>
          <a:noFill/>
        </p:spPr>
        <p:txBody>
          <a:bodyPr wrap="square">
            <a:spAutoFit/>
          </a:bodyPr>
          <a:lstStyle/>
          <a:p>
            <a:r>
              <a:rPr sz="1400">
                <a:solidFill>
                  <a:srgbClr val="94A3B8"/>
                </a:solidFill>
                <a:latin typeface="Calibri"/>
              </a:rPr>
              <a:t>Barbara McClintock spent decades observing individual corn plants so closely she could recognize each one. The scientific establishment ignored her for 30 years. She won the Nobel Prize.</a:t>
            </a:r>
          </a:p>
        </p:txBody>
      </p:sp>
      <p:sp>
        <p:nvSpPr>
          <p:cNvPr id="4" name="TextBox 3"/>
          <p:cNvSpPr txBox="1"/>
          <p:nvPr/>
        </p:nvSpPr>
        <p:spPr>
          <a:xfrm>
            <a:off x="731520" y="1600200"/>
            <a:ext cx="7680960" cy="1143000"/>
          </a:xfrm>
          <a:prstGeom prst="rect">
            <a:avLst/>
          </a:prstGeom>
          <a:noFill/>
        </p:spPr>
        <p:txBody>
          <a:bodyPr wrap="square">
            <a:spAutoFit/>
          </a:bodyPr>
          <a:lstStyle/>
          <a:p>
            <a:pPr algn="l"/>
            <a:r>
              <a:rPr sz="2200" i="1">
                <a:solidFill>
                  <a:srgbClr val="22D3EE"/>
                </a:solidFill>
                <a:latin typeface="Georgia"/>
              </a:rPr>
              <a:t>"If you know you are on the right track, if you have this inner knowledge, then nobody can turn you off... regardless of what they say."</a:t>
            </a:r>
          </a:p>
        </p:txBody>
      </p:sp>
      <p:sp>
        <p:nvSpPr>
          <p:cNvPr id="5" name="TextBox 4"/>
          <p:cNvSpPr txBox="1"/>
          <p:nvPr/>
        </p:nvSpPr>
        <p:spPr>
          <a:xfrm>
            <a:off x="731520" y="2743200"/>
            <a:ext cx="7680960" cy="342900"/>
          </a:xfrm>
          <a:prstGeom prst="rect">
            <a:avLst/>
          </a:prstGeom>
          <a:noFill/>
        </p:spPr>
        <p:txBody>
          <a:bodyPr wrap="none">
            <a:spAutoFit/>
          </a:bodyPr>
          <a:lstStyle/>
          <a:p>
            <a:pPr algn="l"/>
            <a:r>
              <a:rPr sz="1400">
                <a:solidFill>
                  <a:srgbClr val="94A3B8"/>
                </a:solidFill>
                <a:latin typeface="Calibri"/>
              </a:rPr>
              <a:t>— Barbara McClintock</a:t>
            </a:r>
          </a:p>
        </p:txBody>
      </p:sp>
      <p:sp>
        <p:nvSpPr>
          <p:cNvPr id="6" name="Rectangle 5"/>
          <p:cNvSpPr/>
          <p:nvPr/>
        </p:nvSpPr>
        <p:spPr>
          <a:xfrm>
            <a:off x="731520" y="3200400"/>
            <a:ext cx="1097280" cy="381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3429000"/>
            <a:ext cx="7680960" cy="685800"/>
          </a:xfrm>
          <a:prstGeom prst="rect">
            <a:avLst/>
          </a:prstGeom>
          <a:noFill/>
        </p:spPr>
        <p:txBody>
          <a:bodyPr wrap="square">
            <a:spAutoFit/>
          </a:bodyPr>
          <a:lstStyle/>
          <a:p>
            <a:pPr algn="l"/>
            <a:r>
              <a:rPr sz="2600" i="1">
                <a:solidFill>
                  <a:srgbClr val="D97706"/>
                </a:solidFill>
                <a:latin typeface="Georgia"/>
              </a:rPr>
              <a:t>"Attention is the beginning of devotion."</a:t>
            </a:r>
          </a:p>
        </p:txBody>
      </p:sp>
      <p:sp>
        <p:nvSpPr>
          <p:cNvPr id="8" name="TextBox 7"/>
          <p:cNvSpPr txBox="1"/>
          <p:nvPr/>
        </p:nvSpPr>
        <p:spPr>
          <a:xfrm>
            <a:off x="731520" y="4114800"/>
            <a:ext cx="7680960" cy="342900"/>
          </a:xfrm>
          <a:prstGeom prst="rect">
            <a:avLst/>
          </a:prstGeom>
          <a:noFill/>
        </p:spPr>
        <p:txBody>
          <a:bodyPr wrap="none">
            <a:spAutoFit/>
          </a:bodyPr>
          <a:lstStyle/>
          <a:p>
            <a:pPr algn="l"/>
            <a:r>
              <a:rPr sz="1400">
                <a:solidFill>
                  <a:srgbClr val="94A3B8"/>
                </a:solidFill>
                <a:latin typeface="Calibri"/>
              </a:rPr>
              <a:t>— Mary Oliver</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a:p>
        </p:txBody>
      </p:sp>
      <p:sp>
        <p:nvSpPr>
          <p:cNvPr id="3" name="Text 1"/>
          <p:cNvSpPr/>
          <p:nvPr/>
        </p:nvSpPr>
        <p:spPr>
          <a:xfrm>
            <a:off x="731520" y="914400"/>
            <a:ext cx="7680960" cy="1645920"/>
          </a:xfrm>
          <a:prstGeom prst="rect">
            <a:avLst/>
          </a:prstGeom>
          <a:noFill/>
          <a:ln/>
        </p:spPr>
        <p:txBody>
          <a:bodyPr wrap="square" lIns="0" tIns="0" rIns="0" bIns="0" rtlCol="0" anchor="ctr"/>
          <a:lstStyle/>
          <a:p>
            <a:pPr marL="0" indent="0">
              <a:lnSpc>
                <a:spcPct val="115000"/>
              </a:lnSpc>
              <a:buNone/>
            </a:pPr>
            <a:r>
              <a:rPr lang="en-US" sz="3800" b="1" dirty="0">
                <a:solidFill>
                  <a:srgbClr val="FFFFFF"/>
                </a:solidFill>
                <a:latin typeface="Georgia" pitchFamily="34" charset="0"/>
                <a:ea typeface="Georgia" pitchFamily="34" charset="-122"/>
                <a:cs typeface="Georgia" pitchFamily="34" charset="-120"/>
              </a:rPr>
              <a:t>Everyone needs</a:t>
            </a:r>
            <a:endParaRPr lang="en-US" sz="3800" dirty="0"/>
          </a:p>
          <a:p>
            <a:pPr marL="0" indent="0">
              <a:lnSpc>
                <a:spcPct val="115000"/>
              </a:lnSpc>
              <a:buNone/>
            </a:pPr>
            <a:r>
              <a:rPr lang="en-US" sz="3800" b="1" dirty="0">
                <a:solidFill>
                  <a:srgbClr val="FFFFFF"/>
                </a:solidFill>
                <a:latin typeface="Georgia" pitchFamily="34" charset="0"/>
                <a:ea typeface="Georgia" pitchFamily="34" charset="-122"/>
                <a:cs typeface="Georgia" pitchFamily="34" charset="-120"/>
              </a:rPr>
              <a:t>scientific thinking.</a:t>
            </a:r>
            <a:endParaRPr lang="en-US" sz="3800" dirty="0"/>
          </a:p>
        </p:txBody>
      </p:sp>
      <p:sp>
        <p:nvSpPr>
          <p:cNvPr id="4" name="Shape 2"/>
          <p:cNvSpPr/>
          <p:nvPr/>
        </p:nvSpPr>
        <p:spPr>
          <a:xfrm>
            <a:off x="731520" y="2743200"/>
            <a:ext cx="1097280" cy="36576"/>
          </a:xfrm>
          <a:prstGeom prst="rect">
            <a:avLst/>
          </a:prstGeom>
          <a:solidFill>
            <a:srgbClr val="0891B2"/>
          </a:solidFill>
          <a:ln/>
        </p:spPr>
        <p:txBody>
          <a:bodyPr/>
          <a:lstStyle/>
          <a:p>
            <a:endParaRPr/>
          </a:p>
        </p:txBody>
      </p:sp>
      <p:sp>
        <p:nvSpPr>
          <p:cNvPr id="5" name="Text 3"/>
          <p:cNvSpPr/>
          <p:nvPr/>
        </p:nvSpPr>
        <p:spPr>
          <a:xfrm>
            <a:off x="731520" y="3017520"/>
            <a:ext cx="7680960" cy="548640"/>
          </a:xfrm>
          <a:prstGeom prst="rect">
            <a:avLst/>
          </a:prstGeom>
          <a:noFill/>
          <a:ln/>
        </p:spPr>
        <p:txBody>
          <a:bodyPr wrap="square" lIns="0" tIns="0" rIns="0" bIns="0" rtlCol="0" anchor="ctr"/>
          <a:lstStyle/>
          <a:p>
            <a:pPr marL="0" indent="0">
              <a:buNone/>
            </a:pPr>
            <a:r>
              <a:rPr lang="en-US" sz="2200" dirty="0">
                <a:solidFill>
                  <a:srgbClr val="22D3EE"/>
                </a:solidFill>
                <a:latin typeface="Georgia" pitchFamily="34" charset="0"/>
                <a:ea typeface="Georgia" pitchFamily="34" charset="-122"/>
                <a:cs typeface="Georgia" pitchFamily="34" charset="-120"/>
              </a:rPr>
              <a:t>Before your next intake, draw the family.</a:t>
            </a:r>
            <a:endParaRPr lang="en-US" sz="2200" dirty="0"/>
          </a:p>
        </p:txBody>
      </p:sp>
      <p:sp>
        <p:nvSpPr>
          <p:cNvPr id="6" name="Text 4"/>
          <p:cNvSpPr/>
          <p:nvPr/>
        </p:nvSpPr>
        <p:spPr>
          <a:xfrm>
            <a:off x="731520" y="3749040"/>
            <a:ext cx="7680960" cy="731520"/>
          </a:xfrm>
          <a:prstGeom prst="rect">
            <a:avLst/>
          </a:prstGeom>
          <a:noFill/>
          <a:ln/>
        </p:spPr>
        <p:txBody>
          <a:bodyPr wrap="square" lIns="0" tIns="0" rIns="0" bIns="0" rtlCol="0" anchor="ctr"/>
          <a:lstStyle/>
          <a:p>
            <a:pPr marL="0" indent="0">
              <a:lnSpc>
                <a:spcPct val="140000"/>
              </a:lnSpc>
              <a:buNone/>
            </a:pPr>
            <a:r>
              <a:rPr lang="en-US" sz="1600" dirty="0">
                <a:solidFill>
                  <a:srgbClr val="94A3B8"/>
                </a:solidFill>
                <a:latin typeface="Calibri" pitchFamily="34" charset="0"/>
                <a:ea typeface="Calibri" pitchFamily="34" charset="-122"/>
                <a:cs typeface="Calibri" pitchFamily="34" charset="-120"/>
              </a:rPr>
              <a:t>Before your next intervention, ask:</a:t>
            </a:r>
            <a:endParaRPr lang="en-US" sz="1600" dirty="0"/>
          </a:p>
          <a:p>
            <a:pPr marL="0" indent="0">
              <a:lnSpc>
                <a:spcPct val="140000"/>
              </a:lnSpc>
              <a:buNone/>
            </a:pPr>
            <a:r>
              <a:rPr lang="en-US" sz="1600" dirty="0">
                <a:solidFill>
                  <a:srgbClr val="94A3B8"/>
                </a:solidFill>
                <a:latin typeface="Calibri" pitchFamily="34" charset="0"/>
                <a:ea typeface="Calibri" pitchFamily="34" charset="-122"/>
                <a:cs typeface="Calibri" pitchFamily="34" charset="-120"/>
              </a:rPr>
              <a:t>How would I know if this is making things worse?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3833</Words>
  <Application>Microsoft Macintosh PowerPoint</Application>
  <PresentationFormat>On-screen Show (16:9)</PresentationFormat>
  <Paragraphs>477</Paragraphs>
  <Slides>31</Slides>
  <Notes>31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Family? The State of Behavioral Health</dc:title>
  <dc:subject>PptxGenJS Presentation</dc:subject>
  <dc:creator>Dr. Patrick Stinson</dc:creator>
  <cp:lastModifiedBy>Patrick Stinson</cp:lastModifiedBy>
  <cp:revision>1</cp:revision>
  <dcterms:created xsi:type="dcterms:W3CDTF">2026-02-27T02:51:39Z</dcterms:created>
  <dcterms:modified xsi:type="dcterms:W3CDTF">2026-02-28T00:18:01Z</dcterms:modified>
</cp:coreProperties>
</file>