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Family?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of Behavioral Health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1 of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Patrick Stinson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 Family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011680" y="1371600"/>
            <a:ext cx="36576" cy="640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1005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Engineer's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Confession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011680" y="1371600"/>
            <a:ext cx="36576" cy="640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1005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Broken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Treatment-Prevalence Paradox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4x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treatment for depression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(1987–2007)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508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02920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prevalence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(stayed the same or increased)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66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treatment does not mean less depression.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Ormel et al., 2022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Fire Keeps Getting Relit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20040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03120" y="1280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1st episode relapse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457200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2057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2nd episode relapse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640080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3rd episode relapse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768096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661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within a decade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Youth Crisis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teen depression (2010–2021)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4028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926080" y="22402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suicide deaths ages 10–24 (2007–2021)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29184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926080" y="3291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students seriously considered suicide (2023)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therapists, more spending, more awareness than ever.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Base Itself Is Unreliable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1234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psychology studies replicate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2461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NIMH stopped funding DSM-only research (2013)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703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Insel: DSM diagnoses are "consensus about clusters of clinical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not any objective laboratory measure."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Public Senses Something Is Wrong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834640" y="11887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costs of therapy outweigh benefits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57400"/>
            <a:ext cx="54864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57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34640" y="20574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 most therapists need therapy themselves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26080"/>
            <a:ext cx="54864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26–50%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34640" y="29260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estimate of therapy effectiveness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skepticism has a basis.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011680" y="1371600"/>
            <a:ext cx="36576" cy="640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1005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Catastrophes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minutes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Salem Witch Trials (1692)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325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7548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spectral visions, fits, accusations.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years, jurors signed public apologies.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Lobotomy Epidemic (1940s–1950s)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50,000+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lobotomies in the United States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694944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743200"/>
            <a:ext cx="54864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mortality rate. Thousands permanently damaged.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246120"/>
            <a:ext cx="694944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3246120"/>
            <a:ext cx="54864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 performed 4,000 personally — on patients as young as 4.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749040"/>
            <a:ext cx="694944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3749040"/>
            <a:ext cx="54864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Celebrated with a Nobel Prize. Soviet Union banned it in 1950.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"Refrigerator Mother" Theory (1950s–1970s)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0" y="1188720"/>
            <a:ext cx="4572000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1234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years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mothers for autism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Belief: Autism caused by cold, unloving mothers.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Psychoanalytic interpretation.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institutionalized. Immense guilt inflicted.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Bettelheim exposed as fraud who lied about credentials and abused patients.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Recovered Memory Therapy (1980s–1990s)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convinced they had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repressed memories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234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families destroyed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imprisoned on false accusations.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found zero evidence of satanic abuse.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Satanic Panic &amp; MPD Epidemic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28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Satanic Panic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12,000+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alleged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McMartin: 7 years, $15M,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convictions.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228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MPD/DID Epidemic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645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vs. ~200 in all prior history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iatrogenic — created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therapy itself.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Common Pattern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in All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objective 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way to test validity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 as the glue (fear, care, outrage)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through professionals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Ended in calamity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About Now?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371600" y="3108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social contagions might be happening right now?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topics feel off-limits to question?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forces are real. They serve a function — likely a biological function.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whether we can recognize them.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011680" y="1371600"/>
            <a:ext cx="36576" cy="640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1005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Keeps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Happening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Anxiety = Perceived Uncertainty + Urgency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in the environment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this perception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840480" y="128016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0" y="1280160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act now, can't wait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more information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3716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949440" y="1280160"/>
            <a:ext cx="1463040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begins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ideology provides psychological relief: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Untestable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can't prove it wrong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but oversimplified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Believers feel better. That's why it spreads.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Cambridge-Somerville Youth Study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 boys. Matched pairs. Random assignment. 30-year follow-up.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group received: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Counseling, mentorship, summer camp, caring adults.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group had: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6949440" cy="2743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514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criminal offending (2+ crimes)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862072"/>
            <a:ext cx="694944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862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alcohol abuse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209544"/>
            <a:ext cx="6949440" cy="2743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2095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mental illness symptoms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557016"/>
            <a:ext cx="694944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557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Lower job satisfaction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3904488"/>
            <a:ext cx="6949440" cy="2743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904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Earlier death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97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Caring isn't enough. Without measurement, caring can hurt.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011680" y="1371600"/>
            <a:ext cx="36576" cy="640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Proposal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minutes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Blade of Grass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a blade of grass to understand why it bends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645920" y="1783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angle, position, structure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4592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can't predict movement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9260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the grass isn't the phenomenon.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 is.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spent 80 years studying individuals.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 is in the system.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Family?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14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Individual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pattern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188720"/>
            <a:ext cx="2514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Society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0" y="2011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big to measure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intervene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2514600" cy="21945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system where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visible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level up from the blade of grass.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Facts Calm People Down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Common Currency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vs. opinion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Loudest voice wins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hierarchy determines outcomes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Measurable Concepts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Depolarized baseline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at scale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Healthier uncertainty reduction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3832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Measurability reduces uncertainty without the catastrophic side effects.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Get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SARF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concepts for family-level patterns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18872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53212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to capture what we're learning to see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" y="260604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260604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346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Demo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0876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tools you can use Monday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54880" y="260604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60604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8346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Case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53212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it works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needs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thinking.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your next intake, draw the family.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next intervention, ask: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I know if this is making things worse?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Family? The State of Behavioral Health</dc:title>
  <dc:subject>PptxGenJS Presentation</dc:subject>
  <dc:creator>Dr. Patrick Stinson</dc:creator>
  <cp:lastModifiedBy>Dr. Patrick Stinson</cp:lastModifiedBy>
  <cp:revision>1</cp:revision>
  <dcterms:created xsi:type="dcterms:W3CDTF">2026-02-25T02:14:49Z</dcterms:created>
  <dcterms:modified xsi:type="dcterms:W3CDTF">2026-02-25T02:14:49Z</dcterms:modified>
</cp:coreProperties>
</file>