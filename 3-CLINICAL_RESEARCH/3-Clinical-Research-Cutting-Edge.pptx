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4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4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4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4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4200" kern="1200">
        <a:solidFill>
          <a:schemeClr val="tx1"/>
        </a:solidFill>
        <a:latin typeface="+mn-lt"/>
        <a:ea typeface="+mn-ea"/>
        <a:cs typeface="+mn-cs"/>
      </a:defRPr>
    </a:lvl1pPr>
    <a:lvl2pPr marL="457200" algn="l" defTabSz="914400" rtl="0" eaLnBrk="1" latinLnBrk="0" hangingPunct="1">
      <a:defRPr sz="4200" kern="1200">
        <a:solidFill>
          <a:schemeClr val="tx1"/>
        </a:solidFill>
        <a:latin typeface="+mn-lt"/>
        <a:ea typeface="+mn-ea"/>
        <a:cs typeface="+mn-cs"/>
      </a:defRPr>
    </a:lvl2pPr>
    <a:lvl3pPr marL="914400" algn="l" defTabSz="914400" rtl="0" eaLnBrk="1" latinLnBrk="0" hangingPunct="1">
      <a:defRPr sz="4200" kern="1200">
        <a:solidFill>
          <a:schemeClr val="tx1"/>
        </a:solidFill>
        <a:latin typeface="+mn-lt"/>
        <a:ea typeface="+mn-ea"/>
        <a:cs typeface="+mn-cs"/>
      </a:defRPr>
    </a:lvl3pPr>
    <a:lvl4pPr marL="1371600" algn="l" defTabSz="914400" rtl="0" eaLnBrk="1" latinLnBrk="0" hangingPunct="1">
      <a:defRPr sz="4200" kern="1200">
        <a:solidFill>
          <a:schemeClr val="tx1"/>
        </a:solidFill>
        <a:latin typeface="+mn-lt"/>
        <a:ea typeface="+mn-ea"/>
        <a:cs typeface="+mn-cs"/>
      </a:defRPr>
    </a:lvl4pPr>
    <a:lvl5pPr marL="1828800" algn="l" defTabSz="914400" rtl="0" eaLnBrk="1" latinLnBrk="0" hangingPunct="1">
      <a:defRPr sz="4200" kern="1200">
        <a:solidFill>
          <a:schemeClr val="tx1"/>
        </a:solidFill>
        <a:latin typeface="+mn-lt"/>
        <a:ea typeface="+mn-ea"/>
        <a:cs typeface="+mn-cs"/>
      </a:defRPr>
    </a:lvl5pPr>
    <a:lvl6pPr marL="2286000" algn="l" defTabSz="914400" rtl="0" eaLnBrk="1" latinLnBrk="0" hangingPunct="1">
      <a:defRPr sz="4200" kern="1200">
        <a:solidFill>
          <a:schemeClr val="tx1"/>
        </a:solidFill>
        <a:latin typeface="+mn-lt"/>
        <a:ea typeface="+mn-ea"/>
        <a:cs typeface="+mn-cs"/>
      </a:defRPr>
    </a:lvl6pPr>
    <a:lvl7pPr marL="2743200" algn="l" defTabSz="914400" rtl="0" eaLnBrk="1" latinLnBrk="0" hangingPunct="1">
      <a:defRPr sz="4200" kern="1200">
        <a:solidFill>
          <a:schemeClr val="tx1"/>
        </a:solidFill>
        <a:latin typeface="+mn-lt"/>
        <a:ea typeface="+mn-ea"/>
        <a:cs typeface="+mn-cs"/>
      </a:defRPr>
    </a:lvl7pPr>
    <a:lvl8pPr marL="3200400" algn="l" defTabSz="914400" rtl="0" eaLnBrk="1" latinLnBrk="0" hangingPunct="1">
      <a:defRPr sz="4200" kern="1200">
        <a:solidFill>
          <a:schemeClr val="tx1"/>
        </a:solidFill>
        <a:latin typeface="+mn-lt"/>
        <a:ea typeface="+mn-ea"/>
        <a:cs typeface="+mn-cs"/>
      </a:defRPr>
    </a:lvl8pPr>
    <a:lvl9pPr marL="3657600" algn="l" defTabSz="914400" rtl="0" eaLnBrk="1" latinLnBrk="0" hangingPunct="1">
      <a:defRPr sz="4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TITLE SLIDE</a:t>
            </a:r>
          </a:p>
          <a:p>
            <a:r>
              <a:rPr sz="4200"/>
              <a:t>"Clinical Research at the Cutting Edge"</a:t>
            </a:r>
          </a:p>
          <a:p>
            <a:r>
              <a:rPr sz="4200"/>
              <a:t>Presentation 3 of 5. Duration: 45 minutes (11:15-12:00).</a:t>
            </a:r>
          </a:p>
          <a:p>
            <a:r>
              <a:rPr sz="4200"/>
              <a:t>Format: Conversational, low resolution, room for questions throughout.</a:t>
            </a:r>
          </a:p>
          <a:p>
            <a:r>
              <a:rPr sz="4200"/>
              <a:t>Follows: SARF Intro (framework) and Why Family (catastrophes).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SECTION I: CONNECTING TO THIS MORNING (5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WITHOUT MEASUREMENT, WE CAN'T TELL WHEN WE'RE MAKING IT WORSE.</a:t>
            </a:r>
          </a:p>
          <a:p>
            <a:r>
              <a:rPr sz="4200"/>
              <a:t>This morning we saw:</a:t>
            </a:r>
          </a:p>
          <a:p>
            <a:r>
              <a:rPr sz="4200"/>
              <a:t>- Practices that harmed the people they intended to help</a:t>
            </a:r>
          </a:p>
          <a:p>
            <a:r>
              <a:rPr sz="4200"/>
              <a:t>- Professions swept up in beliefs that destroyed lives</a:t>
            </a:r>
          </a:p>
          <a:p>
            <a:r>
              <a:rPr sz="4200"/>
              <a:t>- No one asked: "What if this is making things worse?"</a:t>
            </a:r>
          </a:p>
          <a:p>
            <a:r>
              <a:rPr sz="4200"/>
              <a:t>Cambridge-Somerville: Caring intervention. Treatment group had more crime, more addiction, earlier death.</a:t>
            </a:r>
          </a:p>
          <a:p>
            <a:r>
              <a:rPr sz="4200"/>
              <a:t>"How would we know?"</a:t>
            </a:r>
          </a:p>
          <a:p>
            <a:r>
              <a:rPr sz="4200"/>
              <a:t>This presentation is the answer to that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SECTION II: THE SCALING PROBLEM (10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BIG DATA VS. SMALL DATA</a:t>
            </a:r>
          </a:p>
          <a:p>
            <a:r>
              <a:rPr sz="4200"/>
              <a:t>Big Data: Millions of records, simple variables, machine-readable (insurance claims, lab results).</a:t>
            </a:r>
          </a:p>
          <a:p>
            <a:r>
              <a:rPr sz="4200"/>
              <a:t>Small Data: Rich qualitative information, requires interpretation, requires intelligent inference (clinical interviews, family history).</a:t>
            </a:r>
          </a:p>
          <a:p>
            <a:r>
              <a:rPr sz="4200"/>
              <a:t>Our problem is small data.</a:t>
            </a:r>
          </a:p>
          <a:p/>
          <a:p>
            <a:r>
              <a:rPr sz="4200"/>
              <a:t>THE CODING PROBLEM: To test SARF, someone has to code cases—read/listen to clinical interviews, identify shifts in S, A, R, F, record them on a timeline. Previously: humans doing this tediously, by hand.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WHY THIS RESEARCH NEVER HAPPENED</a:t>
            </a:r>
          </a:p>
          <a:p>
            <a:r>
              <a:rPr sz="4200"/>
              <a:t>- Hypothetical model with simple but deep concepts</a:t>
            </a:r>
          </a:p>
          <a:p>
            <a:r>
              <a:rPr sz="4200"/>
              <a:t>- Requires skilled human coders</a:t>
            </a:r>
          </a:p>
          <a:p>
            <a:r>
              <a:rPr sz="4200"/>
              <a:t>- Coding doesn't scale</a:t>
            </a:r>
          </a:p>
          <a:p>
            <a:r>
              <a:rPr sz="4200"/>
              <a:t>- Can't get funding or momentum unless it's someone's day job</a:t>
            </a:r>
          </a:p>
          <a:p>
            <a:r>
              <a:rPr sz="4200"/>
              <a:t>The bottleneck was human coding capacity.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WHAT CHANGED</a:t>
            </a:r>
          </a:p>
          <a:p>
            <a:r>
              <a:rPr sz="4200"/>
              <a:t>Machine automation now makes intelligent inference possible at scale.</a:t>
            </a:r>
          </a:p>
          <a:p>
            <a:r>
              <a:rPr sz="4200"/>
              <a:t>- Generate synthetic clinical discussions for training</a:t>
            </a:r>
          </a:p>
          <a:p>
            <a:r>
              <a:rPr sz="4200"/>
              <a:t>- Test automated coding against human judgment</a:t>
            </a:r>
          </a:p>
          <a:p>
            <a:r>
              <a:rPr sz="4200"/>
              <a:t>- Iterate faster than ever before</a:t>
            </a:r>
          </a:p>
          <a:p>
            <a:r>
              <a:rPr sz="4200"/>
              <a:t>"We built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SECTION III: DOMAIN-EXPERT GROUND TRUTH (10 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GROUND TRUTH = WHAT THE DOMAIN EXPERTS AGREED ON</a:t>
            </a:r>
          </a:p>
          <a:p>
            <a:r>
              <a:rPr sz="4200"/>
              <a:t>1. Train human experts on SARF</a:t>
            </a:r>
          </a:p>
          <a:p>
            <a:r>
              <a:rPr sz="4200"/>
              <a:t>2. Have them code cases independently (blind)</a:t>
            </a:r>
          </a:p>
          <a:p>
            <a:r>
              <a:rPr sz="4200"/>
              <a:t>3. Measure agreement (Inter-Rater Reliability)</a:t>
            </a:r>
          </a:p>
          <a:p>
            <a:r>
              <a:rPr sz="4200"/>
              <a:t>4. Cases where they agree = ground truth</a:t>
            </a:r>
          </a:p>
          <a:p>
            <a:r>
              <a:rPr sz="4200"/>
              <a:t>"The humans set the standard."</a:t>
            </a:r>
          </a:p>
          <a:p/>
          <a:p>
            <a:r>
              <a:rPr sz="4200"/>
              <a:t>WHY GROUND TRUTH MATTERS: The machines don't decide what's correct. Humans do. Software learns to replicate human expert judgment. Every output can be reviewed and corrected. Domain experts remain the authority.</a:t>
            </a:r>
          </a:p>
          <a:p>
            <a:r>
              <a:rPr sz="4200"/>
              <a:t>"Ground truth is human truth."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THE KILLER COMBO: IRR + AI</a:t>
            </a:r>
          </a:p>
          <a:p>
            <a:r>
              <a:rPr sz="4200"/>
              <a:t>"All AI needs is IRR."</a:t>
            </a:r>
          </a:p>
          <a:p>
            <a:r>
              <a:rPr sz="4200"/>
              <a:t>What AI Requires → What IRR Provides:</a:t>
            </a:r>
          </a:p>
          <a:p>
            <a:r>
              <a:rPr sz="4200"/>
              <a:t>Labeled examples → Human-coded cases</a:t>
            </a:r>
          </a:p>
          <a:p>
            <a:r>
              <a:rPr sz="4200"/>
              <a:t>Consistent labels → Agreement-verified coding</a:t>
            </a:r>
          </a:p>
          <a:p>
            <a:r>
              <a:rPr sz="4200"/>
              <a:t>Scale → Growing database</a:t>
            </a:r>
          </a:p>
          <a:p/>
          <a:p>
            <a:r>
              <a:rPr sz="4200"/>
              <a:t>A dataset with sufficient agreement IS ground truth.</a:t>
            </a:r>
          </a:p>
          <a:p>
            <a:r>
              <a:rPr sz="4200"/>
              <a:t>"IRR + AI = the breakthrough."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SECTION IV: DISCOVERIES (10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KEY DISCOVERIES</a:t>
            </a:r>
          </a:p>
          <a:p>
            <a:r>
              <a:rPr sz="4200"/>
              <a:t>MUTUAL DISCOVERY: You can't survey for this data like a knee problem. The therapist must be in mutual discovery with the client. Not extracting answers—exploring together. The relationship affects what emerges. "If you just interrogate, you don't get the data you need."</a:t>
            </a:r>
          </a:p>
          <a:p/>
          <a:p>
            <a:r>
              <a:rPr sz="4200"/>
              <a:t>SYNTHETIC DATA TRAINS FASTER: Working group learned SARF coding faster on synthetic data than real cases. Cleaner examples, known ground truth, faster iteration. "Real recordings are the goal. Synthetic data accelerates getting there."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DISCOVERY: TIMELINES CLUSTER BY EMOTIONAL SALIENCE</a:t>
            </a:r>
          </a:p>
          <a:p>
            <a:r>
              <a:rPr sz="4200"/>
              <a:t>Timeline data naturally clusters into ~3-5 notable periods.</a:t>
            </a:r>
          </a:p>
          <a:p>
            <a:r>
              <a:rPr sz="4200"/>
              <a:t>- The client has a "sampling bias"—they report what's emotionally salient to them</a:t>
            </a:r>
          </a:p>
          <a:p>
            <a:r>
              <a:rPr sz="4200"/>
              <a:t>- They don't give you an even history; they give you the periods that matter</a:t>
            </a:r>
          </a:p>
          <a:p>
            <a:r>
              <a:rPr sz="4200"/>
              <a:t>- These clusters typically follow a nodal/triggering event</a:t>
            </a:r>
          </a:p>
          <a:p>
            <a:r>
              <a:rPr sz="4200"/>
              <a:t>- The clustering itself IS the emotional process—you don't have to know what to look for</a:t>
            </a:r>
          </a:p>
          <a:p>
            <a:r>
              <a:rPr sz="4200"/>
              <a:t>"The client's own selection bias is the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THE RESPONSIBILITY PATTERN</a:t>
            </a:r>
          </a:p>
          <a:p>
            <a:r>
              <a:rPr sz="4200"/>
              <a:t>Two 45-minute interviews. Person sees for the first time:</a:t>
            </a:r>
          </a:p>
          <a:p>
            <a:r>
              <a:rPr sz="4200"/>
              <a:t>- Pattern of constantly picking up responsibility</a:t>
            </a:r>
          </a:p>
          <a:p>
            <a:r>
              <a:rPr sz="4200"/>
              <a:t>- Saying yes to everything, no filter</a:t>
            </a:r>
          </a:p>
          <a:p>
            <a:r>
              <a:rPr sz="4200"/>
              <a:t>- Anxiety going up and up</a:t>
            </a:r>
          </a:p>
          <a:p>
            <a:r>
              <a:rPr sz="4200"/>
              <a:t>- No downs.</a:t>
            </a:r>
          </a:p>
          <a:p>
            <a:r>
              <a:rPr sz="4200"/>
              <a:t>"Just seeing the data organized was the breakthrough."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SECTION V: WHAT BECOMES POSSIBLE (5 min)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TWO ERAS</a:t>
            </a:r>
          </a:p>
          <a:p>
            <a:r>
              <a:rPr sz="4200"/>
              <a:t>Era 1: AI Learns from Humans — IRR establishes ground truth, AI replicates what humans agreed on, scales human judgment.</a:t>
            </a:r>
          </a:p>
          <a:p>
            <a:r>
              <a:rPr sz="4200"/>
              <a:t>Era 2: AI Discovers New Patterns — Ground truth database accumulates, AI finds correlations humans couldn't see, new hypotheses for humans to test.</a:t>
            </a:r>
          </a:p>
          <a:p>
            <a:r>
              <a:rPr sz="4200"/>
              <a:t>"We're building Era 1. Era 2 follows."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IF THIS WORKS</a:t>
            </a:r>
          </a:p>
          <a:p>
            <a:r>
              <a:rPr sz="4200"/>
              <a:t>- Certification: Objective competency testing—compare trainee coding to ground truth</a:t>
            </a:r>
          </a:p>
          <a:p>
            <a:r>
              <a:rPr sz="4200"/>
              <a:t>- Standardized training: Measurable outcomes, curriculum based on validated method</a:t>
            </a:r>
          </a:p>
          <a:p>
            <a:r>
              <a:rPr sz="4200"/>
              <a:t>- Aggregate research: Data across practitioners, statistical patterns emerge</a:t>
            </a:r>
          </a:p>
          <a:p>
            <a:r>
              <a:rPr sz="4200"/>
              <a:t>- Tooling: Vertically integrated pro/personal app ecosystem, novel clinical model</a:t>
            </a:r>
          </a:p>
          <a:p/>
          <a:p>
            <a:r>
              <a:rPr sz="4200"/>
              <a:t>WHY IT SCALES (VERTICAL ALIGNMENT): One simple coding form gives you everything. Design the data model right, and everything else falls into place.</a:t>
            </a:r>
          </a:p>
          <a:p/>
          <a:p>
            <a:r>
              <a:rPr sz="4200"/>
              <a:t>GETTING INVOLVED: "More on this at day's end." This needs people: clinicians testing the model, researchers contributing cases, developers building tools.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SECTION VI: HONEST STATE + CLOSE (5 min)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WHERE WE ARE</a:t>
            </a:r>
          </a:p>
          <a:p>
            <a:r>
              <a:rPr sz="4200"/>
              <a:t>Early stage. Showing the process.</a:t>
            </a:r>
          </a:p>
          <a:p>
            <a:r>
              <a:rPr sz="4200"/>
              <a:t>- Pro App: Released — timeline + diagram</a:t>
            </a:r>
          </a:p>
          <a:p>
            <a:r>
              <a:rPr sz="4200"/>
              <a:t>- Personal App: In development — structured intake</a:t>
            </a:r>
          </a:p>
          <a:p>
            <a:r>
              <a:rPr sz="4200"/>
              <a:t>- IRR System: In use — research infrastructure</a:t>
            </a:r>
          </a:p>
          <a:p>
            <a:r>
              <a:rPr sz="4200"/>
              <a:t>- First IRR meeting: next week</a:t>
            </a:r>
          </a:p>
          <a:p>
            <a:r>
              <a:rPr sz="4200"/>
              <a:t>- Synthetic data: working</a:t>
            </a:r>
          </a:p>
          <a:p>
            <a:r>
              <a:rPr sz="4200"/>
              <a:t>- Real recordings: exploring</a:t>
            </a:r>
          </a:p>
          <a:p>
            <a:r>
              <a:rPr sz="4200"/>
              <a:t>"This is what real R&amp;D looks like."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THE HUMAN REMAINS CENTRAL</a:t>
            </a:r>
          </a:p>
          <a:p>
            <a:r>
              <a:rPr sz="4200"/>
              <a:t>- Ground truth is set by domain experts</a:t>
            </a:r>
          </a:p>
          <a:p>
            <a:r>
              <a:rPr sz="4200"/>
              <a:t>- Software replicates human judgment</a:t>
            </a:r>
          </a:p>
          <a:p>
            <a:r>
              <a:rPr sz="4200"/>
              <a:t>- Every output reviewable and correctable</a:t>
            </a:r>
          </a:p>
          <a:p>
            <a:r>
              <a:rPr sz="4200"/>
              <a:t>"Technology scales. Humans validate."</a:t>
            </a:r>
          </a:p>
          <a:p/>
          <a:p>
            <a:r>
              <a:rPr sz="4200"/>
              <a:t>KEY LINES FOR THE DAY:</a:t>
            </a:r>
          </a:p>
          <a:p>
            <a:r>
              <a:rPr sz="4200"/>
              <a:t>"Without measurement, we can't tell when we're making it worse."</a:t>
            </a:r>
          </a:p>
          <a:p>
            <a:r>
              <a:rPr sz="4200"/>
              <a:t>"All AI needs is IRR."</a:t>
            </a:r>
          </a:p>
          <a:p>
            <a:r>
              <a:rPr sz="4200"/>
              <a:t>"The machines don't decide what's correct. Humans do."</a:t>
            </a:r>
          </a:p>
          <a:p>
            <a:r>
              <a:rPr sz="4200"/>
              <a:t>"Design the data model right, and everything else falls into place."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4200"/>
              <a:t>CLOSING</a:t>
            </a:r>
          </a:p>
          <a:p>
            <a:r>
              <a:rPr sz="4200"/>
              <a:t>alaskafamilysystems.com</a:t>
            </a:r>
          </a:p>
          <a:p>
            <a:r>
              <a:rPr sz="4200"/>
              <a:t>This needs people: clinicians testing the model, researchers contributing cases, developers building tools.</a:t>
            </a:r>
          </a:p>
          <a:p/>
          <a:p>
            <a:r>
              <a:rPr sz="4200"/>
              <a:t>RISKS TO WATCH:</a:t>
            </a:r>
          </a:p>
          <a:p>
            <a:r>
              <a:rPr sz="4200"/>
              <a:t>- Redundancy with Pres 5: this version is institutional outcomes; Pres 5 centers on the experience of thinking differently</a:t>
            </a:r>
          </a:p>
          <a:p>
            <a:r>
              <a:rPr sz="4200"/>
              <a:t>- Too technical: keep low resolution, use analogies, leave room for questions</a:t>
            </a:r>
          </a:p>
          <a:p>
            <a:r>
              <a:rPr sz="4200"/>
              <a:t>- Pitch-y on tools: keep tools secondary to the research story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731520" y="914400"/>
            <a:ext cx="7680960" cy="2011680"/>
          </a:xfrm>
          <a:prstGeom prst="rect">
            <a:avLst/>
          </a:prstGeom>
          <a:noFill/>
          <a:ln/>
        </p:spPr>
        <p:txBody>
          <a:bodyPr wrap="square" lIns="0" tIns="0" rIns="0" bIns="0" rtlCol="0" anchor="ctr"/>
          <a:lstStyle/>
          <a:p>
            <a:pPr indent="0" marL="0">
              <a:lnSpc>
                <a:spcPct val="115000"/>
              </a:lnSpc>
              <a:buNone/>
            </a:pPr>
            <a:r>
              <a:rPr lang="en-US" sz="4200" b="1" dirty="0">
                <a:solidFill>
                  <a:srgbClr val="FFFFFF"/>
                </a:solidFill>
                <a:latin typeface="Georgia" pitchFamily="34" charset="0"/>
                <a:ea typeface="Georgia" pitchFamily="34" charset="-122"/>
                <a:cs typeface="Georgia" pitchFamily="34" charset="-120"/>
              </a:rPr>
              <a:t>Clinical Research</a:t>
            </a:r>
            <a:endParaRPr lang="en-US" sz="4200" dirty="0"/>
          </a:p>
          <a:p>
            <a:pPr indent="0" marL="0">
              <a:lnSpc>
                <a:spcPct val="115000"/>
              </a:lnSpc>
              <a:buNone/>
            </a:pPr>
            <a:r>
              <a:rPr lang="en-US" sz="4200" b="1" dirty="0">
                <a:solidFill>
                  <a:srgbClr val="FFFFFF"/>
                </a:solidFill>
                <a:latin typeface="Georgia" pitchFamily="34" charset="0"/>
                <a:ea typeface="Georgia" pitchFamily="34" charset="-122"/>
                <a:cs typeface="Georgia" pitchFamily="34" charset="-120"/>
              </a:rPr>
              <a:t>at the Cutting Edge</a:t>
            </a:r>
            <a:endParaRPr lang="en-US" sz="4200" dirty="0"/>
          </a:p>
        </p:txBody>
      </p:sp>
      <p:sp>
        <p:nvSpPr>
          <p:cNvPr id="4" name="Shape 2"/>
          <p:cNvSpPr/>
          <p:nvPr/>
        </p:nvSpPr>
        <p:spPr>
          <a:xfrm>
            <a:off x="731520" y="3063240"/>
            <a:ext cx="1097280" cy="36576"/>
          </a:xfrm>
          <a:prstGeom prst="rect">
            <a:avLst/>
          </a:prstGeom>
          <a:solidFill>
            <a:srgbClr val="0891B2"/>
          </a:solidFill>
          <a:ln/>
        </p:spPr>
      </p:sp>
      <p:sp>
        <p:nvSpPr>
          <p:cNvPr id="5" name="Text 3"/>
          <p:cNvSpPr/>
          <p:nvPr/>
        </p:nvSpPr>
        <p:spPr>
          <a:xfrm>
            <a:off x="731520" y="3291840"/>
            <a:ext cx="7680960" cy="457200"/>
          </a:xfrm>
          <a:prstGeom prst="rect">
            <a:avLst/>
          </a:prstGeom>
          <a:noFill/>
          <a:ln/>
        </p:spPr>
        <p:txBody>
          <a:bodyPr wrap="square" lIns="0" tIns="0" rIns="0" bIns="0" rtlCol="0" anchor="ctr"/>
          <a:lstStyle/>
          <a:p>
            <a:pPr indent="0" marL="0">
              <a:buNone/>
            </a:pPr>
            <a:r>
              <a:rPr lang="en-US" sz="1800" dirty="0">
                <a:solidFill>
                  <a:srgbClr val="22D3EE"/>
                </a:solidFill>
                <a:latin typeface="Calibri" pitchFamily="34" charset="0"/>
                <a:ea typeface="Calibri" pitchFamily="34" charset="-122"/>
                <a:cs typeface="Calibri" pitchFamily="34" charset="-120"/>
              </a:rPr>
              <a:t>Scaling Family Systems Research with Machine Intelligence</a:t>
            </a:r>
            <a:endParaRPr lang="en-US" sz="1800" dirty="0"/>
          </a:p>
        </p:txBody>
      </p:sp>
      <p:sp>
        <p:nvSpPr>
          <p:cNvPr id="6" name="Text 4"/>
          <p:cNvSpPr/>
          <p:nvPr/>
        </p:nvSpPr>
        <p:spPr>
          <a:xfrm>
            <a:off x="731520" y="4114800"/>
            <a:ext cx="3657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Presentation 3 of 5</a:t>
            </a:r>
            <a:endParaRPr lang="en-US" sz="1300" dirty="0"/>
          </a:p>
        </p:txBody>
      </p:sp>
      <p:pic>
        <p:nvPicPr>
          <p:cNvPr id="7" name="Image 0" descr="preencoded.png">    </p:cNvPr>
          <p:cNvPicPr>
            <a:picLocks noChangeAspect="1"/>
          </p:cNvPicPr>
          <p:nvPr/>
        </p:nvPicPr>
        <p:blipFill>
          <a:blip r:embed="rId1">
            <a:alphaModFix amt="30000"/>
          </a:blip>
          <a:stretch>
            <a:fillRect/>
          </a:stretch>
        </p:blipFill>
        <p:spPr>
          <a:xfrm>
            <a:off x="7772400" y="3657600"/>
            <a:ext cx="822960" cy="822960"/>
          </a:xfrm>
          <a:prstGeom prst="rect">
            <a:avLst/>
          </a:prstGeom>
        </p:spPr>
      </p:pic>
      <p:pic>
        <p:nvPicPr>
          <p:cNvPr id="8" name="Image 1" descr="preencoded.png">    </p:cNvPr>
          <p:cNvPicPr>
            <a:picLocks noChangeAspect="1"/>
          </p:cNvPicPr>
          <p:nvPr/>
        </p:nvPicPr>
        <p:blipFill>
          <a:blip r:embed="rId2">
            <a:alphaModFix amt="20000"/>
          </a:blip>
          <a:stretch>
            <a:fillRect/>
          </a:stretch>
        </p:blipFill>
        <p:spPr>
          <a:xfrm>
            <a:off x="6766560" y="402336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7490"/>
        </a:solidFill>
      </p:bgPr>
    </p:bg>
    <p:spTree>
      <p:nvGrpSpPr>
        <p:cNvPr id="1" name=""/>
        <p:cNvGrpSpPr/>
        <p:nvPr/>
      </p:nvGrpSpPr>
      <p:grpSpPr>
        <a:xfrm>
          <a:off x="0" y="0"/>
          <a:ext cx="0" cy="0"/>
          <a:chOff x="0" y="0"/>
          <a:chExt cx="0" cy="0"/>
        </a:xfrm>
      </p:grpSpPr>
      <p:sp>
        <p:nvSpPr>
          <p:cNvPr id="2" name="Text 0"/>
          <p:cNvSpPr/>
          <p:nvPr/>
        </p:nvSpPr>
        <p:spPr>
          <a:xfrm>
            <a:off x="731520" y="1097280"/>
            <a:ext cx="109728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I</a:t>
            </a:r>
            <a:endParaRPr lang="en-US" sz="4800" dirty="0"/>
          </a:p>
        </p:txBody>
      </p:sp>
      <p:sp>
        <p:nvSpPr>
          <p:cNvPr id="3" name="Shape 1"/>
          <p:cNvSpPr/>
          <p:nvPr/>
        </p:nvSpPr>
        <p:spPr>
          <a:xfrm>
            <a:off x="2011680" y="1371600"/>
            <a:ext cx="36576" cy="640080"/>
          </a:xfrm>
          <a:prstGeom prst="rect">
            <a:avLst/>
          </a:prstGeom>
          <a:solidFill>
            <a:srgbClr val="22D3EE"/>
          </a:solidFill>
          <a:ln/>
        </p:spPr>
      </p:sp>
      <p:sp>
        <p:nvSpPr>
          <p:cNvPr id="4" name="Text 2"/>
          <p:cNvSpPr/>
          <p:nvPr/>
        </p:nvSpPr>
        <p:spPr>
          <a:xfrm>
            <a:off x="2286000" y="1005840"/>
            <a:ext cx="5486400" cy="118872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Connecting to</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This Morning</a:t>
            </a:r>
            <a:endParaRPr lang="en-US" sz="3600" dirty="0"/>
          </a:p>
        </p:txBody>
      </p:sp>
      <p:sp>
        <p:nvSpPr>
          <p:cNvPr id="5" name="Text 3"/>
          <p:cNvSpPr/>
          <p:nvPr/>
        </p:nvSpPr>
        <p:spPr>
          <a:xfrm>
            <a:off x="731520" y="4389120"/>
            <a:ext cx="2743200" cy="36576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5 minutes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731520" y="365760"/>
            <a:ext cx="7680960" cy="1097280"/>
          </a:xfrm>
          <a:prstGeom prst="rect">
            <a:avLst/>
          </a:prstGeom>
          <a:noFill/>
          <a:ln/>
        </p:spPr>
        <p:txBody>
          <a:bodyPr wrap="square" lIns="0" tIns="0" rIns="0" bIns="0" rtlCol="0" anchor="ctr"/>
          <a:lstStyle/>
          <a:p>
            <a:pPr indent="0" marL="0">
              <a:lnSpc>
                <a:spcPct val="120000"/>
              </a:lnSpc>
              <a:buNone/>
            </a:pPr>
            <a:r>
              <a:rPr lang="en-US" sz="2800" b="1" dirty="0">
                <a:solidFill>
                  <a:srgbClr val="1E293B"/>
                </a:solidFill>
                <a:latin typeface="Georgia" pitchFamily="34" charset="0"/>
                <a:ea typeface="Georgia" pitchFamily="34" charset="-122"/>
                <a:cs typeface="Georgia" pitchFamily="34" charset="-120"/>
              </a:rPr>
              <a:t>Without measurement, we can't tell</a:t>
            </a:r>
            <a:endParaRPr lang="en-US" sz="2800" dirty="0"/>
          </a:p>
          <a:p>
            <a:pPr indent="0" marL="0">
              <a:lnSpc>
                <a:spcPct val="120000"/>
              </a:lnSpc>
              <a:buNone/>
            </a:pPr>
            <a:r>
              <a:rPr lang="en-US" sz="2800" b="1" dirty="0">
                <a:solidFill>
                  <a:srgbClr val="1E293B"/>
                </a:solidFill>
                <a:latin typeface="Georgia" pitchFamily="34" charset="0"/>
                <a:ea typeface="Georgia" pitchFamily="34" charset="-122"/>
                <a:cs typeface="Georgia" pitchFamily="34" charset="-120"/>
              </a:rPr>
              <a:t>when we're making it worse.</a:t>
            </a:r>
            <a:endParaRPr lang="en-US" sz="2800" dirty="0"/>
          </a:p>
        </p:txBody>
      </p:sp>
      <p:sp>
        <p:nvSpPr>
          <p:cNvPr id="3" name="Shape 1"/>
          <p:cNvSpPr/>
          <p:nvPr/>
        </p:nvSpPr>
        <p:spPr>
          <a:xfrm>
            <a:off x="731520" y="1691640"/>
            <a:ext cx="242316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731520" y="1691640"/>
            <a:ext cx="54864" cy="1828800"/>
          </a:xfrm>
          <a:prstGeom prst="rect">
            <a:avLst/>
          </a:prstGeom>
          <a:solidFill>
            <a:srgbClr val="D97706"/>
          </a:solidFill>
          <a:ln/>
        </p:spPr>
      </p:sp>
      <p:pic>
        <p:nvPicPr>
          <p:cNvPr id="5" name="Image 0" descr="preencoded.png">    </p:cNvPr>
          <p:cNvPicPr>
            <a:picLocks noChangeAspect="1"/>
          </p:cNvPicPr>
          <p:nvPr/>
        </p:nvPicPr>
        <p:blipFill>
          <a:blip r:embed="rId1"/>
          <a:stretch>
            <a:fillRect/>
          </a:stretch>
        </p:blipFill>
        <p:spPr>
          <a:xfrm>
            <a:off x="960120" y="1874520"/>
            <a:ext cx="320040" cy="320040"/>
          </a:xfrm>
          <a:prstGeom prst="rect">
            <a:avLst/>
          </a:prstGeom>
        </p:spPr>
      </p:pic>
      <p:sp>
        <p:nvSpPr>
          <p:cNvPr id="6" name="Text 3"/>
          <p:cNvSpPr/>
          <p:nvPr/>
        </p:nvSpPr>
        <p:spPr>
          <a:xfrm>
            <a:off x="960120" y="2286000"/>
            <a:ext cx="196596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Harmful Practices</a:t>
            </a:r>
            <a:endParaRPr lang="en-US" sz="1400" dirty="0"/>
          </a:p>
        </p:txBody>
      </p:sp>
      <p:sp>
        <p:nvSpPr>
          <p:cNvPr id="7" name="Text 4"/>
          <p:cNvSpPr/>
          <p:nvPr/>
        </p:nvSpPr>
        <p:spPr>
          <a:xfrm>
            <a:off x="960120" y="2651760"/>
            <a:ext cx="196596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Practices that harmed the people they intended to help</a:t>
            </a:r>
            <a:endParaRPr lang="en-US" sz="1200" dirty="0"/>
          </a:p>
        </p:txBody>
      </p:sp>
      <p:sp>
        <p:nvSpPr>
          <p:cNvPr id="8" name="Shape 5"/>
          <p:cNvSpPr/>
          <p:nvPr/>
        </p:nvSpPr>
        <p:spPr>
          <a:xfrm>
            <a:off x="3474720" y="1691640"/>
            <a:ext cx="242316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3474720" y="1691640"/>
            <a:ext cx="54864" cy="1828800"/>
          </a:xfrm>
          <a:prstGeom prst="rect">
            <a:avLst/>
          </a:prstGeom>
          <a:solidFill>
            <a:srgbClr val="D97706"/>
          </a:solidFill>
          <a:ln/>
        </p:spPr>
      </p:sp>
      <p:pic>
        <p:nvPicPr>
          <p:cNvPr id="10" name="Image 1" descr="preencoded.png">    </p:cNvPr>
          <p:cNvPicPr>
            <a:picLocks noChangeAspect="1"/>
          </p:cNvPicPr>
          <p:nvPr/>
        </p:nvPicPr>
        <p:blipFill>
          <a:blip r:embed="rId2"/>
          <a:stretch>
            <a:fillRect/>
          </a:stretch>
        </p:blipFill>
        <p:spPr>
          <a:xfrm>
            <a:off x="3703320" y="1874520"/>
            <a:ext cx="320040" cy="320040"/>
          </a:xfrm>
          <a:prstGeom prst="rect">
            <a:avLst/>
          </a:prstGeom>
        </p:spPr>
      </p:pic>
      <p:sp>
        <p:nvSpPr>
          <p:cNvPr id="11" name="Text 7"/>
          <p:cNvSpPr/>
          <p:nvPr/>
        </p:nvSpPr>
        <p:spPr>
          <a:xfrm>
            <a:off x="3703320" y="2286000"/>
            <a:ext cx="196596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Unchecked Beliefs</a:t>
            </a:r>
            <a:endParaRPr lang="en-US" sz="1400" dirty="0"/>
          </a:p>
        </p:txBody>
      </p:sp>
      <p:sp>
        <p:nvSpPr>
          <p:cNvPr id="12" name="Text 8"/>
          <p:cNvSpPr/>
          <p:nvPr/>
        </p:nvSpPr>
        <p:spPr>
          <a:xfrm>
            <a:off x="3703320" y="2651760"/>
            <a:ext cx="196596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Professions swept up in beliefs that destroyed lives</a:t>
            </a:r>
            <a:endParaRPr lang="en-US" sz="1200" dirty="0"/>
          </a:p>
        </p:txBody>
      </p:sp>
      <p:sp>
        <p:nvSpPr>
          <p:cNvPr id="13" name="Shape 9"/>
          <p:cNvSpPr/>
          <p:nvPr/>
        </p:nvSpPr>
        <p:spPr>
          <a:xfrm>
            <a:off x="6217920" y="1691640"/>
            <a:ext cx="242316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0"/>
          <p:cNvSpPr/>
          <p:nvPr/>
        </p:nvSpPr>
        <p:spPr>
          <a:xfrm>
            <a:off x="6217920" y="1691640"/>
            <a:ext cx="54864" cy="1828800"/>
          </a:xfrm>
          <a:prstGeom prst="rect">
            <a:avLst/>
          </a:prstGeom>
          <a:solidFill>
            <a:srgbClr val="D97706"/>
          </a:solidFill>
          <a:ln/>
        </p:spPr>
      </p:sp>
      <p:pic>
        <p:nvPicPr>
          <p:cNvPr id="15" name="Image 2" descr="preencoded.png">    </p:cNvPr>
          <p:cNvPicPr>
            <a:picLocks noChangeAspect="1"/>
          </p:cNvPicPr>
          <p:nvPr/>
        </p:nvPicPr>
        <p:blipFill>
          <a:blip r:embed="rId3"/>
          <a:stretch>
            <a:fillRect/>
          </a:stretch>
        </p:blipFill>
        <p:spPr>
          <a:xfrm>
            <a:off x="6446520" y="1874520"/>
            <a:ext cx="320040" cy="320040"/>
          </a:xfrm>
          <a:prstGeom prst="rect">
            <a:avLst/>
          </a:prstGeom>
        </p:spPr>
      </p:pic>
      <p:sp>
        <p:nvSpPr>
          <p:cNvPr id="16" name="Text 11"/>
          <p:cNvSpPr/>
          <p:nvPr/>
        </p:nvSpPr>
        <p:spPr>
          <a:xfrm>
            <a:off x="6446520" y="2286000"/>
            <a:ext cx="196596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No Accountability</a:t>
            </a:r>
            <a:endParaRPr lang="en-US" sz="1400" dirty="0"/>
          </a:p>
        </p:txBody>
      </p:sp>
      <p:sp>
        <p:nvSpPr>
          <p:cNvPr id="17" name="Text 12"/>
          <p:cNvSpPr/>
          <p:nvPr/>
        </p:nvSpPr>
        <p:spPr>
          <a:xfrm>
            <a:off x="6446520" y="2651760"/>
            <a:ext cx="196596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No one asked: "What if this is making things worse?"</a:t>
            </a:r>
            <a:endParaRPr lang="en-US" sz="1200" dirty="0"/>
          </a:p>
        </p:txBody>
      </p:sp>
      <p:sp>
        <p:nvSpPr>
          <p:cNvPr id="18" name="Shape 13"/>
          <p:cNvSpPr/>
          <p:nvPr/>
        </p:nvSpPr>
        <p:spPr>
          <a:xfrm>
            <a:off x="731520" y="3794760"/>
            <a:ext cx="7680960" cy="822960"/>
          </a:xfrm>
          <a:prstGeom prst="rect">
            <a:avLst/>
          </a:prstGeom>
          <a:solidFill>
            <a:srgbClr val="1B2A4A"/>
          </a:solidFill>
          <a:ln/>
        </p:spPr>
      </p:sp>
      <p:sp>
        <p:nvSpPr>
          <p:cNvPr id="19" name="Text 14"/>
          <p:cNvSpPr/>
          <p:nvPr/>
        </p:nvSpPr>
        <p:spPr>
          <a:xfrm>
            <a:off x="1005840" y="3794760"/>
            <a:ext cx="7223760" cy="822960"/>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Cambridge-Somerville Study: </a:t>
            </a:r>
            <a:pPr indent="0" marL="0">
              <a:buNone/>
            </a:pPr>
            <a:r>
              <a:rPr lang="en-US" sz="1400" dirty="0">
                <a:solidFill>
                  <a:srgbClr val="FFFFFF"/>
                </a:solidFill>
                <a:latin typeface="Calibri" pitchFamily="34" charset="0"/>
                <a:ea typeface="Calibri" pitchFamily="34" charset="-122"/>
                <a:cs typeface="Calibri" pitchFamily="34" charset="-120"/>
              </a:rPr>
              <a:t>Caring intervention. Treatment group had more crime, more addiction, earlier death.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7490"/>
        </a:solidFill>
      </p:bgPr>
    </p:bg>
    <p:spTree>
      <p:nvGrpSpPr>
        <p:cNvPr id="1" name=""/>
        <p:cNvGrpSpPr/>
        <p:nvPr/>
      </p:nvGrpSpPr>
      <p:grpSpPr>
        <a:xfrm>
          <a:off x="0" y="0"/>
          <a:ext cx="0" cy="0"/>
          <a:chOff x="0" y="0"/>
          <a:chExt cx="0" cy="0"/>
        </a:xfrm>
      </p:grpSpPr>
      <p:sp>
        <p:nvSpPr>
          <p:cNvPr id="2" name="Text 0"/>
          <p:cNvSpPr/>
          <p:nvPr/>
        </p:nvSpPr>
        <p:spPr>
          <a:xfrm>
            <a:off x="731520" y="1097280"/>
            <a:ext cx="109728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II</a:t>
            </a:r>
            <a:endParaRPr lang="en-US" sz="4800" dirty="0"/>
          </a:p>
        </p:txBody>
      </p:sp>
      <p:sp>
        <p:nvSpPr>
          <p:cNvPr id="3" name="Shape 1"/>
          <p:cNvSpPr/>
          <p:nvPr/>
        </p:nvSpPr>
        <p:spPr>
          <a:xfrm>
            <a:off x="2011680" y="1371600"/>
            <a:ext cx="36576" cy="640080"/>
          </a:xfrm>
          <a:prstGeom prst="rect">
            <a:avLst/>
          </a:prstGeom>
          <a:solidFill>
            <a:srgbClr val="22D3EE"/>
          </a:solidFill>
          <a:ln/>
        </p:spPr>
      </p:sp>
      <p:sp>
        <p:nvSpPr>
          <p:cNvPr id="4" name="Text 2"/>
          <p:cNvSpPr/>
          <p:nvPr/>
        </p:nvSpPr>
        <p:spPr>
          <a:xfrm>
            <a:off x="2286000" y="1005840"/>
            <a:ext cx="5486400" cy="118872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The Scaling</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Problem</a:t>
            </a:r>
            <a:endParaRPr lang="en-US" sz="3600" dirty="0"/>
          </a:p>
        </p:txBody>
      </p:sp>
      <p:sp>
        <p:nvSpPr>
          <p:cNvPr id="5" name="Text 3"/>
          <p:cNvSpPr/>
          <p:nvPr/>
        </p:nvSpPr>
        <p:spPr>
          <a:xfrm>
            <a:off x="731520" y="4389120"/>
            <a:ext cx="2743200" cy="36576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10 minutes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Big Data vs. Small Data</a:t>
            </a:r>
            <a:endParaRPr lang="en-US" sz="3000" dirty="0"/>
          </a:p>
        </p:txBody>
      </p:sp>
      <p:sp>
        <p:nvSpPr>
          <p:cNvPr id="3" name="Shape 1"/>
          <p:cNvSpPr/>
          <p:nvPr/>
        </p:nvSpPr>
        <p:spPr>
          <a:xfrm>
            <a:off x="731520" y="1234440"/>
            <a:ext cx="3657600" cy="2926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731520" y="1234440"/>
            <a:ext cx="3657600" cy="502920"/>
          </a:xfrm>
          <a:prstGeom prst="rect">
            <a:avLst/>
          </a:prstGeom>
          <a:solidFill>
            <a:srgbClr val="94A3B8"/>
          </a:solidFill>
          <a:ln/>
        </p:spPr>
      </p:sp>
      <p:pic>
        <p:nvPicPr>
          <p:cNvPr id="5" name="Image 0" descr="preencoded.png">    </p:cNvPr>
          <p:cNvPicPr>
            <a:picLocks noChangeAspect="1"/>
          </p:cNvPicPr>
          <p:nvPr/>
        </p:nvPicPr>
        <p:blipFill>
          <a:blip r:embed="rId1"/>
          <a:stretch>
            <a:fillRect/>
          </a:stretch>
        </p:blipFill>
        <p:spPr>
          <a:xfrm>
            <a:off x="1005840" y="1298448"/>
            <a:ext cx="320040" cy="320040"/>
          </a:xfrm>
          <a:prstGeom prst="rect">
            <a:avLst/>
          </a:prstGeom>
        </p:spPr>
      </p:pic>
      <p:sp>
        <p:nvSpPr>
          <p:cNvPr id="6" name="Text 3"/>
          <p:cNvSpPr/>
          <p:nvPr/>
        </p:nvSpPr>
        <p:spPr>
          <a:xfrm>
            <a:off x="1417320" y="1234440"/>
            <a:ext cx="274320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Big Data</a:t>
            </a:r>
            <a:endParaRPr lang="en-US" sz="1600" dirty="0"/>
          </a:p>
        </p:txBody>
      </p:sp>
      <p:sp>
        <p:nvSpPr>
          <p:cNvPr id="7" name="Text 4"/>
          <p:cNvSpPr/>
          <p:nvPr/>
        </p:nvSpPr>
        <p:spPr>
          <a:xfrm>
            <a:off x="1005840" y="1920240"/>
            <a:ext cx="3108960" cy="2011680"/>
          </a:xfrm>
          <a:prstGeom prst="rect">
            <a:avLst/>
          </a:prstGeom>
          <a:noFill/>
          <a:ln/>
        </p:spPr>
        <p:txBody>
          <a:bodyPr wrap="square" rtlCol="0" anchor="ctr"/>
          <a:lstStyle/>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Millions of records</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Simple variables</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Machine-readable</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Insurance claims, lab results</a:t>
            </a:r>
            <a:endParaRPr lang="en-US" sz="1400" dirty="0"/>
          </a:p>
        </p:txBody>
      </p:sp>
      <p:sp>
        <p:nvSpPr>
          <p:cNvPr id="8" name="Shape 5"/>
          <p:cNvSpPr/>
          <p:nvPr/>
        </p:nvSpPr>
        <p:spPr>
          <a:xfrm>
            <a:off x="4754880" y="1234440"/>
            <a:ext cx="3657600" cy="2926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4754880" y="1234440"/>
            <a:ext cx="3657600" cy="502920"/>
          </a:xfrm>
          <a:prstGeom prst="rect">
            <a:avLst/>
          </a:prstGeom>
          <a:solidFill>
            <a:srgbClr val="0891B2"/>
          </a:solidFill>
          <a:ln/>
        </p:spPr>
      </p:sp>
      <p:pic>
        <p:nvPicPr>
          <p:cNvPr id="10" name="Image 1" descr="preencoded.png">    </p:cNvPr>
          <p:cNvPicPr>
            <a:picLocks noChangeAspect="1"/>
          </p:cNvPicPr>
          <p:nvPr/>
        </p:nvPicPr>
        <p:blipFill>
          <a:blip r:embed="rId2"/>
          <a:stretch>
            <a:fillRect/>
          </a:stretch>
        </p:blipFill>
        <p:spPr>
          <a:xfrm>
            <a:off x="5029200" y="1298448"/>
            <a:ext cx="320040" cy="320040"/>
          </a:xfrm>
          <a:prstGeom prst="rect">
            <a:avLst/>
          </a:prstGeom>
        </p:spPr>
      </p:pic>
      <p:sp>
        <p:nvSpPr>
          <p:cNvPr id="11" name="Text 7"/>
          <p:cNvSpPr/>
          <p:nvPr/>
        </p:nvSpPr>
        <p:spPr>
          <a:xfrm>
            <a:off x="5440680" y="1234440"/>
            <a:ext cx="274320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Small Data</a:t>
            </a:r>
            <a:endParaRPr lang="en-US" sz="1600" dirty="0"/>
          </a:p>
        </p:txBody>
      </p:sp>
      <p:sp>
        <p:nvSpPr>
          <p:cNvPr id="12" name="Text 8"/>
          <p:cNvSpPr/>
          <p:nvPr/>
        </p:nvSpPr>
        <p:spPr>
          <a:xfrm>
            <a:off x="5029200" y="1920240"/>
            <a:ext cx="3108960" cy="2011680"/>
          </a:xfrm>
          <a:prstGeom prst="rect">
            <a:avLst/>
          </a:prstGeom>
          <a:noFill/>
          <a:ln/>
        </p:spPr>
        <p:txBody>
          <a:bodyPr wrap="square" rtlCol="0" anchor="ctr"/>
          <a:lstStyle/>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Rich qualitative information</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Requires interpretation</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Requires intelligent inference</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Clinical interviews, family history</a:t>
            </a:r>
            <a:endParaRPr lang="en-US" sz="1400" dirty="0"/>
          </a:p>
        </p:txBody>
      </p:sp>
      <p:sp>
        <p:nvSpPr>
          <p:cNvPr id="13" name="Text 9"/>
          <p:cNvSpPr/>
          <p:nvPr/>
        </p:nvSpPr>
        <p:spPr>
          <a:xfrm>
            <a:off x="731520" y="4343400"/>
            <a:ext cx="7680960" cy="457200"/>
          </a:xfrm>
          <a:prstGeom prst="rect">
            <a:avLst/>
          </a:prstGeom>
          <a:noFill/>
          <a:ln/>
        </p:spPr>
        <p:txBody>
          <a:bodyPr wrap="square" lIns="0" tIns="0" rIns="0" bIns="0" rtlCol="0" anchor="ctr"/>
          <a:lstStyle/>
          <a:p>
            <a:pPr indent="0" marL="0">
              <a:buNone/>
            </a:pPr>
            <a:r>
              <a:rPr lang="en-US" sz="1800" b="1" i="1" dirty="0">
                <a:solidFill>
                  <a:srgbClr val="0891B2"/>
                </a:solidFill>
                <a:latin typeface="Georgia" pitchFamily="34" charset="0"/>
                <a:ea typeface="Georgia" pitchFamily="34" charset="-122"/>
                <a:cs typeface="Georgia" pitchFamily="34" charset="-120"/>
              </a:rPr>
              <a:t>Our problem is small data.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Why This Research Never Happened</a:t>
            </a:r>
            <a:endParaRPr lang="en-US" sz="3000" dirty="0"/>
          </a:p>
        </p:txBody>
      </p:sp>
      <p:sp>
        <p:nvSpPr>
          <p:cNvPr id="3" name="Shape 1"/>
          <p:cNvSpPr/>
          <p:nvPr/>
        </p:nvSpPr>
        <p:spPr>
          <a:xfrm>
            <a:off x="914400" y="1280160"/>
            <a:ext cx="502920" cy="502920"/>
          </a:xfrm>
          <a:prstGeom prst="ellipse">
            <a:avLst/>
          </a:prstGeom>
          <a:solidFill>
            <a:srgbClr val="F0F4F8"/>
          </a:solidFill>
          <a:ln/>
        </p:spPr>
      </p:sp>
      <p:pic>
        <p:nvPicPr>
          <p:cNvPr id="4" name="Image 0" descr="preencoded.png">    </p:cNvPr>
          <p:cNvPicPr>
            <a:picLocks noChangeAspect="1"/>
          </p:cNvPicPr>
          <p:nvPr/>
        </p:nvPicPr>
        <p:blipFill>
          <a:blip r:embed="rId1"/>
          <a:stretch>
            <a:fillRect/>
          </a:stretch>
        </p:blipFill>
        <p:spPr>
          <a:xfrm>
            <a:off x="987552" y="1353312"/>
            <a:ext cx="365760" cy="365760"/>
          </a:xfrm>
          <a:prstGeom prst="rect">
            <a:avLst/>
          </a:prstGeom>
        </p:spPr>
      </p:pic>
      <p:sp>
        <p:nvSpPr>
          <p:cNvPr id="5" name="Shape 2"/>
          <p:cNvSpPr/>
          <p:nvPr/>
        </p:nvSpPr>
        <p:spPr>
          <a:xfrm>
            <a:off x="1165860" y="1783080"/>
            <a:ext cx="0" cy="274320"/>
          </a:xfrm>
          <a:prstGeom prst="line">
            <a:avLst/>
          </a:prstGeom>
          <a:noFill/>
          <a:ln w="19050">
            <a:solidFill>
              <a:srgbClr val="E2E8F0"/>
            </a:solidFill>
            <a:prstDash val="solid"/>
          </a:ln>
        </p:spPr>
      </p:sp>
      <p:sp>
        <p:nvSpPr>
          <p:cNvPr id="6" name="Text 3"/>
          <p:cNvSpPr/>
          <p:nvPr/>
        </p:nvSpPr>
        <p:spPr>
          <a:xfrm>
            <a:off x="1691640" y="1280160"/>
            <a:ext cx="6400800" cy="50292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Hypothetical model with simple but deep concepts</a:t>
            </a:r>
            <a:endParaRPr lang="en-US" sz="1600" dirty="0"/>
          </a:p>
        </p:txBody>
      </p:sp>
      <p:sp>
        <p:nvSpPr>
          <p:cNvPr id="7" name="Shape 4"/>
          <p:cNvSpPr/>
          <p:nvPr/>
        </p:nvSpPr>
        <p:spPr>
          <a:xfrm>
            <a:off x="914400" y="2057400"/>
            <a:ext cx="502920" cy="502920"/>
          </a:xfrm>
          <a:prstGeom prst="ellipse">
            <a:avLst/>
          </a:prstGeom>
          <a:solidFill>
            <a:srgbClr val="F0F4F8"/>
          </a:solidFill>
          <a:ln/>
        </p:spPr>
      </p:sp>
      <p:pic>
        <p:nvPicPr>
          <p:cNvPr id="8" name="Image 1" descr="preencoded.png">    </p:cNvPr>
          <p:cNvPicPr>
            <a:picLocks noChangeAspect="1"/>
          </p:cNvPicPr>
          <p:nvPr/>
        </p:nvPicPr>
        <p:blipFill>
          <a:blip r:embed="rId2"/>
          <a:stretch>
            <a:fillRect/>
          </a:stretch>
        </p:blipFill>
        <p:spPr>
          <a:xfrm>
            <a:off x="987552" y="2130552"/>
            <a:ext cx="365760" cy="365760"/>
          </a:xfrm>
          <a:prstGeom prst="rect">
            <a:avLst/>
          </a:prstGeom>
        </p:spPr>
      </p:pic>
      <p:sp>
        <p:nvSpPr>
          <p:cNvPr id="9" name="Shape 5"/>
          <p:cNvSpPr/>
          <p:nvPr/>
        </p:nvSpPr>
        <p:spPr>
          <a:xfrm>
            <a:off x="1165860" y="2560320"/>
            <a:ext cx="0" cy="274320"/>
          </a:xfrm>
          <a:prstGeom prst="line">
            <a:avLst/>
          </a:prstGeom>
          <a:noFill/>
          <a:ln w="19050">
            <a:solidFill>
              <a:srgbClr val="E2E8F0"/>
            </a:solidFill>
            <a:prstDash val="solid"/>
          </a:ln>
        </p:spPr>
      </p:sp>
      <p:sp>
        <p:nvSpPr>
          <p:cNvPr id="10" name="Text 6"/>
          <p:cNvSpPr/>
          <p:nvPr/>
        </p:nvSpPr>
        <p:spPr>
          <a:xfrm>
            <a:off x="1691640" y="2057400"/>
            <a:ext cx="6400800" cy="50292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Requires skilled human coders</a:t>
            </a:r>
            <a:endParaRPr lang="en-US" sz="1600" dirty="0"/>
          </a:p>
        </p:txBody>
      </p:sp>
      <p:sp>
        <p:nvSpPr>
          <p:cNvPr id="11" name="Shape 7"/>
          <p:cNvSpPr/>
          <p:nvPr/>
        </p:nvSpPr>
        <p:spPr>
          <a:xfrm>
            <a:off x="914400" y="2834640"/>
            <a:ext cx="502920" cy="502920"/>
          </a:xfrm>
          <a:prstGeom prst="ellipse">
            <a:avLst/>
          </a:prstGeom>
          <a:solidFill>
            <a:srgbClr val="F0F4F8"/>
          </a:solidFill>
          <a:ln/>
        </p:spPr>
      </p:sp>
      <p:pic>
        <p:nvPicPr>
          <p:cNvPr id="12" name="Image 2" descr="preencoded.png">    </p:cNvPr>
          <p:cNvPicPr>
            <a:picLocks noChangeAspect="1"/>
          </p:cNvPicPr>
          <p:nvPr/>
        </p:nvPicPr>
        <p:blipFill>
          <a:blip r:embed="rId3"/>
          <a:stretch>
            <a:fillRect/>
          </a:stretch>
        </p:blipFill>
        <p:spPr>
          <a:xfrm>
            <a:off x="987552" y="2907792"/>
            <a:ext cx="365760" cy="365760"/>
          </a:xfrm>
          <a:prstGeom prst="rect">
            <a:avLst/>
          </a:prstGeom>
        </p:spPr>
      </p:pic>
      <p:sp>
        <p:nvSpPr>
          <p:cNvPr id="13" name="Shape 8"/>
          <p:cNvSpPr/>
          <p:nvPr/>
        </p:nvSpPr>
        <p:spPr>
          <a:xfrm>
            <a:off x="1165860" y="3337560"/>
            <a:ext cx="0" cy="274320"/>
          </a:xfrm>
          <a:prstGeom prst="line">
            <a:avLst/>
          </a:prstGeom>
          <a:noFill/>
          <a:ln w="19050">
            <a:solidFill>
              <a:srgbClr val="E2E8F0"/>
            </a:solidFill>
            <a:prstDash val="solid"/>
          </a:ln>
        </p:spPr>
      </p:sp>
      <p:sp>
        <p:nvSpPr>
          <p:cNvPr id="14" name="Text 9"/>
          <p:cNvSpPr/>
          <p:nvPr/>
        </p:nvSpPr>
        <p:spPr>
          <a:xfrm>
            <a:off x="1691640" y="2834640"/>
            <a:ext cx="6400800" cy="50292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Coding doesn't scale</a:t>
            </a:r>
            <a:endParaRPr lang="en-US" sz="1600" dirty="0"/>
          </a:p>
        </p:txBody>
      </p:sp>
      <p:sp>
        <p:nvSpPr>
          <p:cNvPr id="15" name="Shape 10"/>
          <p:cNvSpPr/>
          <p:nvPr/>
        </p:nvSpPr>
        <p:spPr>
          <a:xfrm>
            <a:off x="914400" y="3611880"/>
            <a:ext cx="502920" cy="502920"/>
          </a:xfrm>
          <a:prstGeom prst="ellipse">
            <a:avLst/>
          </a:prstGeom>
          <a:solidFill>
            <a:srgbClr val="F0F4F8"/>
          </a:solidFill>
          <a:ln/>
        </p:spPr>
      </p:sp>
      <p:pic>
        <p:nvPicPr>
          <p:cNvPr id="16" name="Image 3" descr="preencoded.png">    </p:cNvPr>
          <p:cNvPicPr>
            <a:picLocks noChangeAspect="1"/>
          </p:cNvPicPr>
          <p:nvPr/>
        </p:nvPicPr>
        <p:blipFill>
          <a:blip r:embed="rId4"/>
          <a:stretch>
            <a:fillRect/>
          </a:stretch>
        </p:blipFill>
        <p:spPr>
          <a:xfrm>
            <a:off x="987552" y="3685032"/>
            <a:ext cx="365760" cy="365760"/>
          </a:xfrm>
          <a:prstGeom prst="rect">
            <a:avLst/>
          </a:prstGeom>
        </p:spPr>
      </p:pic>
      <p:sp>
        <p:nvSpPr>
          <p:cNvPr id="17" name="Text 11"/>
          <p:cNvSpPr/>
          <p:nvPr/>
        </p:nvSpPr>
        <p:spPr>
          <a:xfrm>
            <a:off x="1691640" y="3611880"/>
            <a:ext cx="6400800" cy="50292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Can't get funding without someone's day job</a:t>
            </a:r>
            <a:endParaRPr lang="en-US" sz="1600" dirty="0"/>
          </a:p>
        </p:txBody>
      </p:sp>
      <p:sp>
        <p:nvSpPr>
          <p:cNvPr id="18" name="Shape 12"/>
          <p:cNvSpPr/>
          <p:nvPr/>
        </p:nvSpPr>
        <p:spPr>
          <a:xfrm>
            <a:off x="731520" y="4160520"/>
            <a:ext cx="7680960" cy="640080"/>
          </a:xfrm>
          <a:prstGeom prst="rect">
            <a:avLst/>
          </a:prstGeom>
          <a:solidFill>
            <a:srgbClr val="0891B2"/>
          </a:solidFill>
          <a:ln/>
        </p:spPr>
      </p:sp>
      <p:sp>
        <p:nvSpPr>
          <p:cNvPr id="19" name="Text 13"/>
          <p:cNvSpPr/>
          <p:nvPr/>
        </p:nvSpPr>
        <p:spPr>
          <a:xfrm>
            <a:off x="1005840" y="4160520"/>
            <a:ext cx="7132320" cy="6400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The bottleneck was human coding capacity.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What Changed</a:t>
            </a:r>
            <a:endParaRPr lang="en-US" sz="3000" dirty="0"/>
          </a:p>
        </p:txBody>
      </p:sp>
      <p:sp>
        <p:nvSpPr>
          <p:cNvPr id="3" name="Text 1"/>
          <p:cNvSpPr/>
          <p:nvPr/>
        </p:nvSpPr>
        <p:spPr>
          <a:xfrm>
            <a:off x="731520" y="1097280"/>
            <a:ext cx="7680960" cy="54864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Machine automation now makes intelligent inference possible at scale.</a:t>
            </a:r>
            <a:endParaRPr lang="en-US" sz="1600" dirty="0"/>
          </a:p>
        </p:txBody>
      </p:sp>
      <p:sp>
        <p:nvSpPr>
          <p:cNvPr id="4" name="Shape 2"/>
          <p:cNvSpPr/>
          <p:nvPr/>
        </p:nvSpPr>
        <p:spPr>
          <a:xfrm>
            <a:off x="731520" y="1920240"/>
            <a:ext cx="2514600" cy="1920240"/>
          </a:xfrm>
          <a:prstGeom prst="rect">
            <a:avLst/>
          </a:prstGeom>
          <a:solidFill>
            <a:srgbClr val="1B2A4A"/>
          </a:solidFill>
          <a:ln/>
        </p:spPr>
      </p:sp>
      <p:pic>
        <p:nvPicPr>
          <p:cNvPr id="5" name="Image 0" descr="preencoded.png">    </p:cNvPr>
          <p:cNvPicPr>
            <a:picLocks noChangeAspect="1"/>
          </p:cNvPicPr>
          <p:nvPr/>
        </p:nvPicPr>
        <p:blipFill>
          <a:blip r:embed="rId1"/>
          <a:stretch>
            <a:fillRect/>
          </a:stretch>
        </p:blipFill>
        <p:spPr>
          <a:xfrm>
            <a:off x="1005840" y="2148840"/>
            <a:ext cx="411480" cy="411480"/>
          </a:xfrm>
          <a:prstGeom prst="rect">
            <a:avLst/>
          </a:prstGeom>
        </p:spPr>
      </p:pic>
      <p:sp>
        <p:nvSpPr>
          <p:cNvPr id="6" name="Text 3"/>
          <p:cNvSpPr/>
          <p:nvPr/>
        </p:nvSpPr>
        <p:spPr>
          <a:xfrm>
            <a:off x="1005840" y="2651760"/>
            <a:ext cx="1965960" cy="365760"/>
          </a:xfrm>
          <a:prstGeom prst="rect">
            <a:avLst/>
          </a:prstGeom>
          <a:noFill/>
          <a:ln/>
        </p:spPr>
        <p:txBody>
          <a:bodyPr wrap="square" lIns="0" tIns="0" rIns="0" bIns="0"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Generate</a:t>
            </a:r>
            <a:endParaRPr lang="en-US" sz="1800" dirty="0"/>
          </a:p>
        </p:txBody>
      </p:sp>
      <p:sp>
        <p:nvSpPr>
          <p:cNvPr id="7" name="Text 4"/>
          <p:cNvSpPr/>
          <p:nvPr/>
        </p:nvSpPr>
        <p:spPr>
          <a:xfrm>
            <a:off x="1005840" y="3017520"/>
            <a:ext cx="1965960" cy="64008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Synthetic clinical discussions for training</a:t>
            </a:r>
            <a:endParaRPr lang="en-US" sz="1300" dirty="0"/>
          </a:p>
        </p:txBody>
      </p:sp>
      <p:sp>
        <p:nvSpPr>
          <p:cNvPr id="8" name="Shape 5"/>
          <p:cNvSpPr/>
          <p:nvPr/>
        </p:nvSpPr>
        <p:spPr>
          <a:xfrm>
            <a:off x="3566160" y="1920240"/>
            <a:ext cx="2514600" cy="1920240"/>
          </a:xfrm>
          <a:prstGeom prst="rect">
            <a:avLst/>
          </a:prstGeom>
          <a:solidFill>
            <a:srgbClr val="1B2A4A"/>
          </a:solidFill>
          <a:ln/>
        </p:spPr>
      </p:sp>
      <p:pic>
        <p:nvPicPr>
          <p:cNvPr id="9" name="Image 1" descr="preencoded.png">    </p:cNvPr>
          <p:cNvPicPr>
            <a:picLocks noChangeAspect="1"/>
          </p:cNvPicPr>
          <p:nvPr/>
        </p:nvPicPr>
        <p:blipFill>
          <a:blip r:embed="rId2"/>
          <a:stretch>
            <a:fillRect/>
          </a:stretch>
        </p:blipFill>
        <p:spPr>
          <a:xfrm>
            <a:off x="3840480" y="2148840"/>
            <a:ext cx="411480" cy="411480"/>
          </a:xfrm>
          <a:prstGeom prst="rect">
            <a:avLst/>
          </a:prstGeom>
        </p:spPr>
      </p:pic>
      <p:sp>
        <p:nvSpPr>
          <p:cNvPr id="10" name="Text 6"/>
          <p:cNvSpPr/>
          <p:nvPr/>
        </p:nvSpPr>
        <p:spPr>
          <a:xfrm>
            <a:off x="3840480" y="2651760"/>
            <a:ext cx="1965960" cy="365760"/>
          </a:xfrm>
          <a:prstGeom prst="rect">
            <a:avLst/>
          </a:prstGeom>
          <a:noFill/>
          <a:ln/>
        </p:spPr>
        <p:txBody>
          <a:bodyPr wrap="square" lIns="0" tIns="0" rIns="0" bIns="0"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Test</a:t>
            </a:r>
            <a:endParaRPr lang="en-US" sz="1800" dirty="0"/>
          </a:p>
        </p:txBody>
      </p:sp>
      <p:sp>
        <p:nvSpPr>
          <p:cNvPr id="11" name="Text 7"/>
          <p:cNvSpPr/>
          <p:nvPr/>
        </p:nvSpPr>
        <p:spPr>
          <a:xfrm>
            <a:off x="3840480" y="3017520"/>
            <a:ext cx="1965960" cy="64008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Automated coding against human judgment</a:t>
            </a:r>
            <a:endParaRPr lang="en-US" sz="1300" dirty="0"/>
          </a:p>
        </p:txBody>
      </p:sp>
      <p:sp>
        <p:nvSpPr>
          <p:cNvPr id="12" name="Shape 8"/>
          <p:cNvSpPr/>
          <p:nvPr/>
        </p:nvSpPr>
        <p:spPr>
          <a:xfrm>
            <a:off x="6400800" y="1920240"/>
            <a:ext cx="2514600" cy="1920240"/>
          </a:xfrm>
          <a:prstGeom prst="rect">
            <a:avLst/>
          </a:prstGeom>
          <a:solidFill>
            <a:srgbClr val="1B2A4A"/>
          </a:solidFill>
          <a:ln/>
        </p:spPr>
      </p:sp>
      <p:pic>
        <p:nvPicPr>
          <p:cNvPr id="13" name="Image 2" descr="preencoded.png">    </p:cNvPr>
          <p:cNvPicPr>
            <a:picLocks noChangeAspect="1"/>
          </p:cNvPicPr>
          <p:nvPr/>
        </p:nvPicPr>
        <p:blipFill>
          <a:blip r:embed="rId3"/>
          <a:stretch>
            <a:fillRect/>
          </a:stretch>
        </p:blipFill>
        <p:spPr>
          <a:xfrm>
            <a:off x="6675120" y="2148840"/>
            <a:ext cx="411480" cy="411480"/>
          </a:xfrm>
          <a:prstGeom prst="rect">
            <a:avLst/>
          </a:prstGeom>
        </p:spPr>
      </p:pic>
      <p:sp>
        <p:nvSpPr>
          <p:cNvPr id="14" name="Text 9"/>
          <p:cNvSpPr/>
          <p:nvPr/>
        </p:nvSpPr>
        <p:spPr>
          <a:xfrm>
            <a:off x="6675120" y="2651760"/>
            <a:ext cx="1965960" cy="365760"/>
          </a:xfrm>
          <a:prstGeom prst="rect">
            <a:avLst/>
          </a:prstGeom>
          <a:noFill/>
          <a:ln/>
        </p:spPr>
        <p:txBody>
          <a:bodyPr wrap="square" lIns="0" tIns="0" rIns="0" bIns="0"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Iterate</a:t>
            </a:r>
            <a:endParaRPr lang="en-US" sz="1800" dirty="0"/>
          </a:p>
        </p:txBody>
      </p:sp>
      <p:sp>
        <p:nvSpPr>
          <p:cNvPr id="15" name="Text 10"/>
          <p:cNvSpPr/>
          <p:nvPr/>
        </p:nvSpPr>
        <p:spPr>
          <a:xfrm>
            <a:off x="6675120" y="3017520"/>
            <a:ext cx="1965960" cy="64008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Faster than ever before</a:t>
            </a:r>
            <a:endParaRPr lang="en-US" sz="1300" dirty="0"/>
          </a:p>
        </p:txBody>
      </p:sp>
      <p:sp>
        <p:nvSpPr>
          <p:cNvPr id="16" name="Text 11"/>
          <p:cNvSpPr/>
          <p:nvPr/>
        </p:nvSpPr>
        <p:spPr>
          <a:xfrm>
            <a:off x="731520" y="4206240"/>
            <a:ext cx="7680960" cy="457200"/>
          </a:xfrm>
          <a:prstGeom prst="rect">
            <a:avLst/>
          </a:prstGeom>
          <a:noFill/>
          <a:ln/>
        </p:spPr>
        <p:txBody>
          <a:bodyPr wrap="square" lIns="0" tIns="0" rIns="0" bIns="0" rtlCol="0" anchor="ctr"/>
          <a:lstStyle/>
          <a:p>
            <a:pPr indent="0" marL="0">
              <a:buNone/>
            </a:pPr>
            <a:r>
              <a:rPr lang="en-US" sz="2200" b="1" i="1" dirty="0">
                <a:solidFill>
                  <a:srgbClr val="22D3EE"/>
                </a:solidFill>
                <a:latin typeface="Georgia" pitchFamily="34" charset="0"/>
                <a:ea typeface="Georgia" pitchFamily="34" charset="-122"/>
                <a:cs typeface="Georgia" pitchFamily="34" charset="-120"/>
              </a:rPr>
              <a:t>We built this.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7490"/>
        </a:solidFill>
      </p:bgPr>
    </p:bg>
    <p:spTree>
      <p:nvGrpSpPr>
        <p:cNvPr id="1" name=""/>
        <p:cNvGrpSpPr/>
        <p:nvPr/>
      </p:nvGrpSpPr>
      <p:grpSpPr>
        <a:xfrm>
          <a:off x="0" y="0"/>
          <a:ext cx="0" cy="0"/>
          <a:chOff x="0" y="0"/>
          <a:chExt cx="0" cy="0"/>
        </a:xfrm>
      </p:grpSpPr>
      <p:sp>
        <p:nvSpPr>
          <p:cNvPr id="2" name="Text 0"/>
          <p:cNvSpPr/>
          <p:nvPr/>
        </p:nvSpPr>
        <p:spPr>
          <a:xfrm>
            <a:off x="731520" y="1097280"/>
            <a:ext cx="109728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III</a:t>
            </a:r>
            <a:endParaRPr lang="en-US" sz="4800" dirty="0"/>
          </a:p>
        </p:txBody>
      </p:sp>
      <p:sp>
        <p:nvSpPr>
          <p:cNvPr id="3" name="Shape 1"/>
          <p:cNvSpPr/>
          <p:nvPr/>
        </p:nvSpPr>
        <p:spPr>
          <a:xfrm>
            <a:off x="2011680" y="1371600"/>
            <a:ext cx="36576" cy="640080"/>
          </a:xfrm>
          <a:prstGeom prst="rect">
            <a:avLst/>
          </a:prstGeom>
          <a:solidFill>
            <a:srgbClr val="22D3EE"/>
          </a:solidFill>
          <a:ln/>
        </p:spPr>
      </p:sp>
      <p:sp>
        <p:nvSpPr>
          <p:cNvPr id="4" name="Text 2"/>
          <p:cNvSpPr/>
          <p:nvPr/>
        </p:nvSpPr>
        <p:spPr>
          <a:xfrm>
            <a:off x="2286000" y="1005840"/>
            <a:ext cx="5486400" cy="118872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Domain-Expert</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Ground Truth</a:t>
            </a:r>
            <a:endParaRPr lang="en-US" sz="3600" dirty="0"/>
          </a:p>
        </p:txBody>
      </p:sp>
      <p:sp>
        <p:nvSpPr>
          <p:cNvPr id="5" name="Text 3"/>
          <p:cNvSpPr/>
          <p:nvPr/>
        </p:nvSpPr>
        <p:spPr>
          <a:xfrm>
            <a:off x="731520" y="4389120"/>
            <a:ext cx="2743200" cy="36576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10 minutes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Ground Truth = What the Experts Agreed On</a:t>
            </a:r>
            <a:endParaRPr lang="en-US" sz="2600" dirty="0"/>
          </a:p>
        </p:txBody>
      </p:sp>
      <p:sp>
        <p:nvSpPr>
          <p:cNvPr id="3" name="Shape 1"/>
          <p:cNvSpPr/>
          <p:nvPr/>
        </p:nvSpPr>
        <p:spPr>
          <a:xfrm>
            <a:off x="731520" y="1280160"/>
            <a:ext cx="365760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914400" y="1508760"/>
            <a:ext cx="502920" cy="502920"/>
          </a:xfrm>
          <a:prstGeom prst="ellipse">
            <a:avLst/>
          </a:prstGeom>
          <a:solidFill>
            <a:srgbClr val="0891B2"/>
          </a:solidFill>
          <a:ln/>
        </p:spPr>
      </p:sp>
      <p:sp>
        <p:nvSpPr>
          <p:cNvPr id="5" name="Text 3"/>
          <p:cNvSpPr/>
          <p:nvPr/>
        </p:nvSpPr>
        <p:spPr>
          <a:xfrm>
            <a:off x="914400" y="1508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600200" y="1463040"/>
            <a:ext cx="246888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Train</a:t>
            </a:r>
            <a:endParaRPr lang="en-US" sz="1600" dirty="0"/>
          </a:p>
        </p:txBody>
      </p:sp>
      <p:sp>
        <p:nvSpPr>
          <p:cNvPr id="7" name="Text 5"/>
          <p:cNvSpPr/>
          <p:nvPr/>
        </p:nvSpPr>
        <p:spPr>
          <a:xfrm>
            <a:off x="1600200" y="1828800"/>
            <a:ext cx="2468880" cy="45720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Human experts learn SARF coding</a:t>
            </a:r>
            <a:endParaRPr lang="en-US" sz="1300" dirty="0"/>
          </a:p>
        </p:txBody>
      </p:sp>
      <p:sp>
        <p:nvSpPr>
          <p:cNvPr id="8" name="Shape 6"/>
          <p:cNvSpPr/>
          <p:nvPr/>
        </p:nvSpPr>
        <p:spPr>
          <a:xfrm>
            <a:off x="4754880" y="1280160"/>
            <a:ext cx="365760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937760" y="1508760"/>
            <a:ext cx="502920" cy="502920"/>
          </a:xfrm>
          <a:prstGeom prst="ellipse">
            <a:avLst/>
          </a:prstGeom>
          <a:solidFill>
            <a:srgbClr val="0891B2"/>
          </a:solidFill>
          <a:ln/>
        </p:spPr>
      </p:sp>
      <p:sp>
        <p:nvSpPr>
          <p:cNvPr id="10" name="Text 8"/>
          <p:cNvSpPr/>
          <p:nvPr/>
        </p:nvSpPr>
        <p:spPr>
          <a:xfrm>
            <a:off x="4937760" y="1508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5623560" y="1463040"/>
            <a:ext cx="246888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Code Blindly</a:t>
            </a:r>
            <a:endParaRPr lang="en-US" sz="1600" dirty="0"/>
          </a:p>
        </p:txBody>
      </p:sp>
      <p:sp>
        <p:nvSpPr>
          <p:cNvPr id="12" name="Text 10"/>
          <p:cNvSpPr/>
          <p:nvPr/>
        </p:nvSpPr>
        <p:spPr>
          <a:xfrm>
            <a:off x="5623560" y="1828800"/>
            <a:ext cx="2468880" cy="45720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Independent coding of cases</a:t>
            </a:r>
            <a:endParaRPr lang="en-US" sz="1300" dirty="0"/>
          </a:p>
        </p:txBody>
      </p:sp>
      <p:sp>
        <p:nvSpPr>
          <p:cNvPr id="13" name="Shape 11"/>
          <p:cNvSpPr/>
          <p:nvPr/>
        </p:nvSpPr>
        <p:spPr>
          <a:xfrm>
            <a:off x="731520" y="2788920"/>
            <a:ext cx="365760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914400" y="3017520"/>
            <a:ext cx="502920" cy="502920"/>
          </a:xfrm>
          <a:prstGeom prst="ellipse">
            <a:avLst/>
          </a:prstGeom>
          <a:solidFill>
            <a:srgbClr val="0891B2"/>
          </a:solidFill>
          <a:ln/>
        </p:spPr>
      </p:sp>
      <p:sp>
        <p:nvSpPr>
          <p:cNvPr id="15" name="Text 13"/>
          <p:cNvSpPr/>
          <p:nvPr/>
        </p:nvSpPr>
        <p:spPr>
          <a:xfrm>
            <a:off x="914400" y="3017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600200" y="2971800"/>
            <a:ext cx="246888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Measure Agreement</a:t>
            </a:r>
            <a:endParaRPr lang="en-US" sz="1600" dirty="0"/>
          </a:p>
        </p:txBody>
      </p:sp>
      <p:sp>
        <p:nvSpPr>
          <p:cNvPr id="17" name="Text 15"/>
          <p:cNvSpPr/>
          <p:nvPr/>
        </p:nvSpPr>
        <p:spPr>
          <a:xfrm>
            <a:off x="1600200" y="3337560"/>
            <a:ext cx="2468880" cy="45720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Inter-Rater Reliability (IRR)</a:t>
            </a:r>
            <a:endParaRPr lang="en-US" sz="1300" dirty="0"/>
          </a:p>
        </p:txBody>
      </p:sp>
      <p:sp>
        <p:nvSpPr>
          <p:cNvPr id="18" name="Shape 16"/>
          <p:cNvSpPr/>
          <p:nvPr/>
        </p:nvSpPr>
        <p:spPr>
          <a:xfrm>
            <a:off x="4754880" y="2788920"/>
            <a:ext cx="365760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4937760" y="3017520"/>
            <a:ext cx="502920" cy="502920"/>
          </a:xfrm>
          <a:prstGeom prst="ellipse">
            <a:avLst/>
          </a:prstGeom>
          <a:solidFill>
            <a:srgbClr val="0891B2"/>
          </a:solidFill>
          <a:ln/>
        </p:spPr>
      </p:sp>
      <p:sp>
        <p:nvSpPr>
          <p:cNvPr id="20" name="Text 18"/>
          <p:cNvSpPr/>
          <p:nvPr/>
        </p:nvSpPr>
        <p:spPr>
          <a:xfrm>
            <a:off x="4937760" y="3017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5623560" y="2971800"/>
            <a:ext cx="246888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Ground Truth</a:t>
            </a:r>
            <a:endParaRPr lang="en-US" sz="1600" dirty="0"/>
          </a:p>
        </p:txBody>
      </p:sp>
      <p:sp>
        <p:nvSpPr>
          <p:cNvPr id="22" name="Text 20"/>
          <p:cNvSpPr/>
          <p:nvPr/>
        </p:nvSpPr>
        <p:spPr>
          <a:xfrm>
            <a:off x="5623560" y="3337560"/>
            <a:ext cx="2468880" cy="45720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Cases where experts agree</a:t>
            </a:r>
            <a:endParaRPr lang="en-US" sz="1300" dirty="0"/>
          </a:p>
        </p:txBody>
      </p:sp>
      <p:sp>
        <p:nvSpPr>
          <p:cNvPr id="23" name="Text 21"/>
          <p:cNvSpPr/>
          <p:nvPr/>
        </p:nvSpPr>
        <p:spPr>
          <a:xfrm>
            <a:off x="731520" y="4297680"/>
            <a:ext cx="7680960" cy="457200"/>
          </a:xfrm>
          <a:prstGeom prst="rect">
            <a:avLst/>
          </a:prstGeom>
          <a:noFill/>
          <a:ln/>
        </p:spPr>
        <p:txBody>
          <a:bodyPr wrap="square" lIns="0" tIns="0" rIns="0" bIns="0" rtlCol="0" anchor="ctr"/>
          <a:lstStyle/>
          <a:p>
            <a:pPr indent="0" marL="0">
              <a:buNone/>
            </a:pPr>
            <a:r>
              <a:rPr lang="en-US" sz="1800" b="1" i="1" dirty="0">
                <a:solidFill>
                  <a:srgbClr val="0891B2"/>
                </a:solidFill>
                <a:latin typeface="Georgia" pitchFamily="34" charset="0"/>
                <a:ea typeface="Georgia" pitchFamily="34" charset="-122"/>
                <a:cs typeface="Georgia" pitchFamily="34" charset="-120"/>
              </a:rPr>
              <a:t>The humans set the standard.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The Killer Combo: IRR + AI</a:t>
            </a:r>
            <a:endParaRPr lang="en-US" sz="2800" dirty="0"/>
          </a:p>
        </p:txBody>
      </p:sp>
      <p:sp>
        <p:nvSpPr>
          <p:cNvPr id="3" name="Text 1"/>
          <p:cNvSpPr/>
          <p:nvPr/>
        </p:nvSpPr>
        <p:spPr>
          <a:xfrm>
            <a:off x="731520" y="1005840"/>
            <a:ext cx="7680960" cy="45720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All AI needs is IRR.</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7680960" cy="914400"/>
        </p:xfrm>
        <a:graphic>
          <a:graphicData uri="http://schemas.openxmlformats.org/drawingml/2006/table">
            <a:tbl>
              <a:tblPr/>
              <a:tblGrid>
                <a:gridCol w="3840480"/>
                <a:gridCol w="384048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AI Requires</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IRR Provides</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891B2"/>
                    </a:solidFill>
                  </a:tcPr>
                </a:tc>
              </a:tr>
              <a:tr h="41148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Labeled examples</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Human-coded cases</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Consistent labels</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Agreement-verified coding</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r>
              <a:tr h="41148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Scale</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Growing database</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1828800" y="3840480"/>
            <a:ext cx="5486400" cy="731520"/>
          </a:xfrm>
          <a:prstGeom prst="rect">
            <a:avLst/>
          </a:prstGeom>
          <a:solidFill>
            <a:srgbClr val="0F1B2D"/>
          </a:solidFill>
          <a:ln/>
        </p:spPr>
      </p:sp>
      <p:sp>
        <p:nvSpPr>
          <p:cNvPr id="6" name="Text 3"/>
          <p:cNvSpPr/>
          <p:nvPr/>
        </p:nvSpPr>
        <p:spPr>
          <a:xfrm>
            <a:off x="1828800" y="3840480"/>
            <a:ext cx="5486400" cy="731520"/>
          </a:xfrm>
          <a:prstGeom prst="rect">
            <a:avLst/>
          </a:prstGeom>
          <a:noFill/>
          <a:ln/>
        </p:spPr>
        <p:txBody>
          <a:bodyPr wrap="square" lIns="0" tIns="0" rIns="0" bIns="0" rtlCol="0" anchor="ctr"/>
          <a:lstStyle/>
          <a:p>
            <a:pPr algn="ctr" indent="0" marL="0">
              <a:buNone/>
            </a:pPr>
            <a:r>
              <a:rPr lang="en-US" sz="2200" b="1" dirty="0">
                <a:solidFill>
                  <a:srgbClr val="22D3EE"/>
                </a:solidFill>
                <a:latin typeface="Georgia" pitchFamily="34" charset="0"/>
                <a:ea typeface="Georgia" pitchFamily="34" charset="-122"/>
                <a:cs typeface="Georgia" pitchFamily="34" charset="-120"/>
              </a:rPr>
              <a:t>IRR + AI = the breakthrough.</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7490"/>
        </a:solidFill>
      </p:bgPr>
    </p:bg>
    <p:spTree>
      <p:nvGrpSpPr>
        <p:cNvPr id="1" name=""/>
        <p:cNvGrpSpPr/>
        <p:nvPr/>
      </p:nvGrpSpPr>
      <p:grpSpPr>
        <a:xfrm>
          <a:off x="0" y="0"/>
          <a:ext cx="0" cy="0"/>
          <a:chOff x="0" y="0"/>
          <a:chExt cx="0" cy="0"/>
        </a:xfrm>
      </p:grpSpPr>
      <p:sp>
        <p:nvSpPr>
          <p:cNvPr id="2" name="Text 0"/>
          <p:cNvSpPr/>
          <p:nvPr/>
        </p:nvSpPr>
        <p:spPr>
          <a:xfrm>
            <a:off x="731520" y="1097280"/>
            <a:ext cx="109728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IV</a:t>
            </a:r>
            <a:endParaRPr lang="en-US" sz="4800" dirty="0"/>
          </a:p>
        </p:txBody>
      </p:sp>
      <p:sp>
        <p:nvSpPr>
          <p:cNvPr id="3" name="Shape 1"/>
          <p:cNvSpPr/>
          <p:nvPr/>
        </p:nvSpPr>
        <p:spPr>
          <a:xfrm>
            <a:off x="2011680" y="1371600"/>
            <a:ext cx="36576" cy="640080"/>
          </a:xfrm>
          <a:prstGeom prst="rect">
            <a:avLst/>
          </a:prstGeom>
          <a:solidFill>
            <a:srgbClr val="22D3EE"/>
          </a:solidFill>
          <a:ln/>
        </p:spPr>
      </p:sp>
      <p:sp>
        <p:nvSpPr>
          <p:cNvPr id="4" name="Text 2"/>
          <p:cNvSpPr/>
          <p:nvPr/>
        </p:nvSpPr>
        <p:spPr>
          <a:xfrm>
            <a:off x="2286000" y="1097280"/>
            <a:ext cx="548640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Discoveries</a:t>
            </a:r>
            <a:endParaRPr lang="en-US" sz="3600" dirty="0"/>
          </a:p>
        </p:txBody>
      </p:sp>
      <p:sp>
        <p:nvSpPr>
          <p:cNvPr id="5" name="Text 3"/>
          <p:cNvSpPr/>
          <p:nvPr/>
        </p:nvSpPr>
        <p:spPr>
          <a:xfrm>
            <a:off x="731520" y="4389120"/>
            <a:ext cx="2743200" cy="36576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10 minutes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Key Discoveries</a:t>
            </a:r>
            <a:endParaRPr lang="en-US" sz="3000" dirty="0"/>
          </a:p>
        </p:txBody>
      </p:sp>
      <p:sp>
        <p:nvSpPr>
          <p:cNvPr id="3" name="Shape 1"/>
          <p:cNvSpPr/>
          <p:nvPr/>
        </p:nvSpPr>
        <p:spPr>
          <a:xfrm>
            <a:off x="731520" y="1188720"/>
            <a:ext cx="365760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731520" y="1188720"/>
            <a:ext cx="3657600" cy="54864"/>
          </a:xfrm>
          <a:prstGeom prst="rect">
            <a:avLst/>
          </a:prstGeom>
          <a:solidFill>
            <a:srgbClr val="D97706"/>
          </a:solidFill>
          <a:ln/>
        </p:spPr>
      </p:sp>
      <p:pic>
        <p:nvPicPr>
          <p:cNvPr id="5" name="Image 0" descr="preencoded.png">    </p:cNvPr>
          <p:cNvPicPr>
            <a:picLocks noChangeAspect="1"/>
          </p:cNvPicPr>
          <p:nvPr/>
        </p:nvPicPr>
        <p:blipFill>
          <a:blip r:embed="rId1"/>
          <a:stretch>
            <a:fillRect/>
          </a:stretch>
        </p:blipFill>
        <p:spPr>
          <a:xfrm>
            <a:off x="1005840" y="1463040"/>
            <a:ext cx="365760" cy="365760"/>
          </a:xfrm>
          <a:prstGeom prst="rect">
            <a:avLst/>
          </a:prstGeom>
        </p:spPr>
      </p:pic>
      <p:sp>
        <p:nvSpPr>
          <p:cNvPr id="6" name="Text 3"/>
          <p:cNvSpPr/>
          <p:nvPr/>
        </p:nvSpPr>
        <p:spPr>
          <a:xfrm>
            <a:off x="1508760" y="1463040"/>
            <a:ext cx="2560320" cy="36576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Mutual Discovery</a:t>
            </a:r>
            <a:endParaRPr lang="en-US" sz="1800" dirty="0"/>
          </a:p>
        </p:txBody>
      </p:sp>
      <p:sp>
        <p:nvSpPr>
          <p:cNvPr id="7" name="Text 4"/>
          <p:cNvSpPr/>
          <p:nvPr/>
        </p:nvSpPr>
        <p:spPr>
          <a:xfrm>
            <a:off x="1005840" y="2011680"/>
            <a:ext cx="3108960" cy="457200"/>
          </a:xfrm>
          <a:prstGeom prst="rect">
            <a:avLst/>
          </a:prstGeom>
          <a:noFill/>
          <a:ln/>
        </p:spPr>
        <p:txBody>
          <a:bodyPr wrap="square" lIns="0" tIns="0" rIns="0" bIns="0" rtlCol="0" anchor="ctr"/>
          <a:lstStyle/>
          <a:p>
            <a:pPr indent="0" marL="0">
              <a:buNone/>
            </a:pPr>
            <a:r>
              <a:rPr lang="en-US" sz="1300" b="1" i="1" dirty="0">
                <a:solidFill>
                  <a:srgbClr val="0891B2"/>
                </a:solidFill>
                <a:latin typeface="Calibri" pitchFamily="34" charset="0"/>
                <a:ea typeface="Calibri" pitchFamily="34" charset="-122"/>
                <a:cs typeface="Calibri" pitchFamily="34" charset="-120"/>
              </a:rPr>
              <a:t>You can't survey for this data like a knee problem.</a:t>
            </a:r>
            <a:endParaRPr lang="en-US" sz="1300" dirty="0"/>
          </a:p>
        </p:txBody>
      </p:sp>
      <p:sp>
        <p:nvSpPr>
          <p:cNvPr id="8" name="Text 5"/>
          <p:cNvSpPr/>
          <p:nvPr/>
        </p:nvSpPr>
        <p:spPr>
          <a:xfrm>
            <a:off x="1005840" y="2560320"/>
            <a:ext cx="3108960" cy="1645920"/>
          </a:xfrm>
          <a:prstGeom prst="rect">
            <a:avLst/>
          </a:prstGeom>
          <a:noFill/>
          <a:ln/>
        </p:spPr>
        <p:txBody>
          <a:bodyPr wrap="square" rtlCol="0" anchor="ctr"/>
          <a:lstStyle/>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Therapist must be in mutual discovery with client</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Not extracting answers—exploring together</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The relationship affects what emerges</a:t>
            </a:r>
            <a:endParaRPr lang="en-US" sz="1200" dirty="0"/>
          </a:p>
        </p:txBody>
      </p:sp>
      <p:sp>
        <p:nvSpPr>
          <p:cNvPr id="9" name="Shape 6"/>
          <p:cNvSpPr/>
          <p:nvPr/>
        </p:nvSpPr>
        <p:spPr>
          <a:xfrm>
            <a:off x="4754880" y="1188720"/>
            <a:ext cx="365760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754880" y="1188720"/>
            <a:ext cx="3657600" cy="54864"/>
          </a:xfrm>
          <a:prstGeom prst="rect">
            <a:avLst/>
          </a:prstGeom>
          <a:solidFill>
            <a:srgbClr val="0891B2"/>
          </a:solidFill>
          <a:ln/>
        </p:spPr>
      </p:sp>
      <p:pic>
        <p:nvPicPr>
          <p:cNvPr id="11" name="Image 1" descr="preencoded.png">    </p:cNvPr>
          <p:cNvPicPr>
            <a:picLocks noChangeAspect="1"/>
          </p:cNvPicPr>
          <p:nvPr/>
        </p:nvPicPr>
        <p:blipFill>
          <a:blip r:embed="rId2"/>
          <a:stretch>
            <a:fillRect/>
          </a:stretch>
        </p:blipFill>
        <p:spPr>
          <a:xfrm>
            <a:off x="5029200" y="1463040"/>
            <a:ext cx="365760" cy="365760"/>
          </a:xfrm>
          <a:prstGeom prst="rect">
            <a:avLst/>
          </a:prstGeom>
        </p:spPr>
      </p:pic>
      <p:sp>
        <p:nvSpPr>
          <p:cNvPr id="12" name="Text 8"/>
          <p:cNvSpPr/>
          <p:nvPr/>
        </p:nvSpPr>
        <p:spPr>
          <a:xfrm>
            <a:off x="5532120" y="1463040"/>
            <a:ext cx="2560320" cy="36576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Synthetic Data Trains Faster</a:t>
            </a:r>
            <a:endParaRPr lang="en-US" sz="1800" dirty="0"/>
          </a:p>
        </p:txBody>
      </p:sp>
      <p:sp>
        <p:nvSpPr>
          <p:cNvPr id="13" name="Text 9"/>
          <p:cNvSpPr/>
          <p:nvPr/>
        </p:nvSpPr>
        <p:spPr>
          <a:xfrm>
            <a:off x="5029200" y="2011680"/>
            <a:ext cx="3108960" cy="457200"/>
          </a:xfrm>
          <a:prstGeom prst="rect">
            <a:avLst/>
          </a:prstGeom>
          <a:noFill/>
          <a:ln/>
        </p:spPr>
        <p:txBody>
          <a:bodyPr wrap="square" lIns="0" tIns="0" rIns="0" bIns="0" rtlCol="0" anchor="ctr"/>
          <a:lstStyle/>
          <a:p>
            <a:pPr indent="0" marL="0">
              <a:buNone/>
            </a:pPr>
            <a:r>
              <a:rPr lang="en-US" sz="1300" b="1" i="1" dirty="0">
                <a:solidFill>
                  <a:srgbClr val="0891B2"/>
                </a:solidFill>
                <a:latin typeface="Calibri" pitchFamily="34" charset="0"/>
                <a:ea typeface="Calibri" pitchFamily="34" charset="-122"/>
                <a:cs typeface="Calibri" pitchFamily="34" charset="-120"/>
              </a:rPr>
              <a:t>Real recordings are the goal. Synthetic data accelerates getting there.</a:t>
            </a:r>
            <a:endParaRPr lang="en-US" sz="1300" dirty="0"/>
          </a:p>
        </p:txBody>
      </p:sp>
      <p:sp>
        <p:nvSpPr>
          <p:cNvPr id="14" name="Text 10"/>
          <p:cNvSpPr/>
          <p:nvPr/>
        </p:nvSpPr>
        <p:spPr>
          <a:xfrm>
            <a:off x="5029200" y="2560320"/>
            <a:ext cx="3108960" cy="1645920"/>
          </a:xfrm>
          <a:prstGeom prst="rect">
            <a:avLst/>
          </a:prstGeom>
          <a:noFill/>
          <a:ln/>
        </p:spPr>
        <p:txBody>
          <a:bodyPr wrap="square" rtlCol="0" anchor="ctr"/>
          <a:lstStyle/>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Working group learned SARF coding faster on synthetic data</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Cleaner examples with known ground truth</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Faster iteration cycles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Timelines Cluster by Emotional Salience</a:t>
            </a:r>
            <a:endParaRPr lang="en-US" sz="2600" dirty="0"/>
          </a:p>
        </p:txBody>
      </p:sp>
      <p:sp>
        <p:nvSpPr>
          <p:cNvPr id="3" name="Text 1"/>
          <p:cNvSpPr/>
          <p:nvPr/>
        </p:nvSpPr>
        <p:spPr>
          <a:xfrm>
            <a:off x="731520" y="1005840"/>
            <a:ext cx="7680960" cy="457200"/>
          </a:xfrm>
          <a:prstGeom prst="rect">
            <a:avLst/>
          </a:prstGeom>
          <a:noFill/>
          <a:ln/>
        </p:spPr>
        <p:txBody>
          <a:bodyPr wrap="square" lIns="0" tIns="0" rIns="0" bIns="0" rtlCol="0" anchor="ctr"/>
          <a:lstStyle/>
          <a:p>
            <a:pPr indent="0" marL="0">
              <a:buNone/>
            </a:pPr>
            <a:r>
              <a:rPr lang="en-US" sz="1700" b="1" dirty="0">
                <a:solidFill>
                  <a:srgbClr val="0891B2"/>
                </a:solidFill>
                <a:latin typeface="Georgia" pitchFamily="34" charset="0"/>
                <a:ea typeface="Georgia" pitchFamily="34" charset="-122"/>
                <a:cs typeface="Georgia" pitchFamily="34" charset="-120"/>
              </a:rPr>
              <a:t>Timeline data naturally clusters into ~3–5 notable periods.</a:t>
            </a:r>
            <a:endParaRPr lang="en-US" sz="1700" dirty="0"/>
          </a:p>
        </p:txBody>
      </p:sp>
      <p:sp>
        <p:nvSpPr>
          <p:cNvPr id="4" name="Shape 2"/>
          <p:cNvSpPr/>
          <p:nvPr/>
        </p:nvSpPr>
        <p:spPr>
          <a:xfrm>
            <a:off x="731520" y="1645920"/>
            <a:ext cx="768096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645920"/>
            <a:ext cx="54864" cy="502920"/>
          </a:xfrm>
          <a:prstGeom prst="rect">
            <a:avLst/>
          </a:prstGeom>
          <a:solidFill>
            <a:srgbClr val="0891B2"/>
          </a:solidFill>
          <a:ln/>
        </p:spPr>
      </p:sp>
      <p:pic>
        <p:nvPicPr>
          <p:cNvPr id="6" name="Image 0" descr="preencoded.png">    </p:cNvPr>
          <p:cNvPicPr>
            <a:picLocks noChangeAspect="1"/>
          </p:cNvPicPr>
          <p:nvPr/>
        </p:nvPicPr>
        <p:blipFill>
          <a:blip r:embed="rId1"/>
          <a:stretch>
            <a:fillRect/>
          </a:stretch>
        </p:blipFill>
        <p:spPr>
          <a:xfrm>
            <a:off x="1005840" y="1719072"/>
            <a:ext cx="320040" cy="320040"/>
          </a:xfrm>
          <a:prstGeom prst="rect">
            <a:avLst/>
          </a:prstGeom>
        </p:spPr>
      </p:pic>
      <p:sp>
        <p:nvSpPr>
          <p:cNvPr id="7" name="Text 4"/>
          <p:cNvSpPr/>
          <p:nvPr/>
        </p:nvSpPr>
        <p:spPr>
          <a:xfrm>
            <a:off x="1508760" y="1645920"/>
            <a:ext cx="658368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 client has a "sampling bias" — they report what's emotionally salient to them</a:t>
            </a:r>
            <a:endParaRPr lang="en-US" sz="1400" dirty="0"/>
          </a:p>
        </p:txBody>
      </p:sp>
      <p:sp>
        <p:nvSpPr>
          <p:cNvPr id="8" name="Shape 5"/>
          <p:cNvSpPr/>
          <p:nvPr/>
        </p:nvSpPr>
        <p:spPr>
          <a:xfrm>
            <a:off x="731520" y="2286000"/>
            <a:ext cx="768096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731520" y="2286000"/>
            <a:ext cx="54864" cy="502920"/>
          </a:xfrm>
          <a:prstGeom prst="rect">
            <a:avLst/>
          </a:prstGeom>
          <a:solidFill>
            <a:srgbClr val="0891B2"/>
          </a:solidFill>
          <a:ln/>
        </p:spPr>
      </p:sp>
      <p:pic>
        <p:nvPicPr>
          <p:cNvPr id="10" name="Image 1" descr="preencoded.png">    </p:cNvPr>
          <p:cNvPicPr>
            <a:picLocks noChangeAspect="1"/>
          </p:cNvPicPr>
          <p:nvPr/>
        </p:nvPicPr>
        <p:blipFill>
          <a:blip r:embed="rId2"/>
          <a:stretch>
            <a:fillRect/>
          </a:stretch>
        </p:blipFill>
        <p:spPr>
          <a:xfrm>
            <a:off x="1005840" y="2359152"/>
            <a:ext cx="320040" cy="320040"/>
          </a:xfrm>
          <a:prstGeom prst="rect">
            <a:avLst/>
          </a:prstGeom>
        </p:spPr>
      </p:pic>
      <p:sp>
        <p:nvSpPr>
          <p:cNvPr id="11" name="Text 7"/>
          <p:cNvSpPr/>
          <p:nvPr/>
        </p:nvSpPr>
        <p:spPr>
          <a:xfrm>
            <a:off x="1508760" y="2286000"/>
            <a:ext cx="658368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They don't give you an even history; they give you the periods that matter</a:t>
            </a:r>
            <a:endParaRPr lang="en-US" sz="1400" dirty="0"/>
          </a:p>
        </p:txBody>
      </p:sp>
      <p:sp>
        <p:nvSpPr>
          <p:cNvPr id="12" name="Shape 8"/>
          <p:cNvSpPr/>
          <p:nvPr/>
        </p:nvSpPr>
        <p:spPr>
          <a:xfrm>
            <a:off x="731520" y="2926080"/>
            <a:ext cx="768096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9"/>
          <p:cNvSpPr/>
          <p:nvPr/>
        </p:nvSpPr>
        <p:spPr>
          <a:xfrm>
            <a:off x="731520" y="2926080"/>
            <a:ext cx="54864" cy="502920"/>
          </a:xfrm>
          <a:prstGeom prst="rect">
            <a:avLst/>
          </a:prstGeom>
          <a:solidFill>
            <a:srgbClr val="0891B2"/>
          </a:solidFill>
          <a:ln/>
        </p:spPr>
      </p:sp>
      <p:pic>
        <p:nvPicPr>
          <p:cNvPr id="14" name="Image 2" descr="preencoded.png">    </p:cNvPr>
          <p:cNvPicPr>
            <a:picLocks noChangeAspect="1"/>
          </p:cNvPicPr>
          <p:nvPr/>
        </p:nvPicPr>
        <p:blipFill>
          <a:blip r:embed="rId3"/>
          <a:stretch>
            <a:fillRect/>
          </a:stretch>
        </p:blipFill>
        <p:spPr>
          <a:xfrm>
            <a:off x="1005840" y="2999232"/>
            <a:ext cx="320040" cy="320040"/>
          </a:xfrm>
          <a:prstGeom prst="rect">
            <a:avLst/>
          </a:prstGeom>
        </p:spPr>
      </p:pic>
      <p:sp>
        <p:nvSpPr>
          <p:cNvPr id="15" name="Text 10"/>
          <p:cNvSpPr/>
          <p:nvPr/>
        </p:nvSpPr>
        <p:spPr>
          <a:xfrm>
            <a:off x="1508760" y="2926080"/>
            <a:ext cx="658368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These clusters typically follow a nodal/triggering event</a:t>
            </a:r>
            <a:endParaRPr lang="en-US" sz="1400" dirty="0"/>
          </a:p>
        </p:txBody>
      </p:sp>
      <p:sp>
        <p:nvSpPr>
          <p:cNvPr id="16" name="Shape 11"/>
          <p:cNvSpPr/>
          <p:nvPr/>
        </p:nvSpPr>
        <p:spPr>
          <a:xfrm>
            <a:off x="731520" y="3566160"/>
            <a:ext cx="768096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2"/>
          <p:cNvSpPr/>
          <p:nvPr/>
        </p:nvSpPr>
        <p:spPr>
          <a:xfrm>
            <a:off x="731520" y="3566160"/>
            <a:ext cx="54864" cy="502920"/>
          </a:xfrm>
          <a:prstGeom prst="rect">
            <a:avLst/>
          </a:prstGeom>
          <a:solidFill>
            <a:srgbClr val="0891B2"/>
          </a:solidFill>
          <a:ln/>
        </p:spPr>
      </p:sp>
      <p:pic>
        <p:nvPicPr>
          <p:cNvPr id="18" name="Image 3" descr="preencoded.png">    </p:cNvPr>
          <p:cNvPicPr>
            <a:picLocks noChangeAspect="1"/>
          </p:cNvPicPr>
          <p:nvPr/>
        </p:nvPicPr>
        <p:blipFill>
          <a:blip r:embed="rId4"/>
          <a:stretch>
            <a:fillRect/>
          </a:stretch>
        </p:blipFill>
        <p:spPr>
          <a:xfrm>
            <a:off x="1005840" y="3639312"/>
            <a:ext cx="320040" cy="320040"/>
          </a:xfrm>
          <a:prstGeom prst="rect">
            <a:avLst/>
          </a:prstGeom>
        </p:spPr>
      </p:pic>
      <p:sp>
        <p:nvSpPr>
          <p:cNvPr id="19" name="Text 13"/>
          <p:cNvSpPr/>
          <p:nvPr/>
        </p:nvSpPr>
        <p:spPr>
          <a:xfrm>
            <a:off x="1508760" y="3566160"/>
            <a:ext cx="658368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 clustering itself is the emotional process — you don't have to know what to look for</a:t>
            </a:r>
            <a:endParaRPr lang="en-US" sz="1400" dirty="0"/>
          </a:p>
        </p:txBody>
      </p:sp>
      <p:sp>
        <p:nvSpPr>
          <p:cNvPr id="20" name="Shape 14"/>
          <p:cNvSpPr/>
          <p:nvPr/>
        </p:nvSpPr>
        <p:spPr>
          <a:xfrm>
            <a:off x="731520" y="4251960"/>
            <a:ext cx="7680960" cy="548640"/>
          </a:xfrm>
          <a:prstGeom prst="rect">
            <a:avLst/>
          </a:prstGeom>
          <a:solidFill>
            <a:srgbClr val="1B2A4A"/>
          </a:solidFill>
          <a:ln/>
        </p:spPr>
      </p:sp>
      <p:sp>
        <p:nvSpPr>
          <p:cNvPr id="21" name="Text 15"/>
          <p:cNvSpPr/>
          <p:nvPr/>
        </p:nvSpPr>
        <p:spPr>
          <a:xfrm>
            <a:off x="1005840" y="4251960"/>
            <a:ext cx="7132320" cy="548640"/>
          </a:xfrm>
          <a:prstGeom prst="rect">
            <a:avLst/>
          </a:prstGeom>
          <a:noFill/>
          <a:ln/>
        </p:spPr>
        <p:txBody>
          <a:bodyPr wrap="square" lIns="0" tIns="0" rIns="0" bIns="0" rtlCol="0" anchor="ctr"/>
          <a:lstStyle/>
          <a:p>
            <a:pPr indent="0" marL="0">
              <a:buNone/>
            </a:pPr>
            <a:r>
              <a:rPr lang="en-US" sz="1800" b="1" dirty="0">
                <a:solidFill>
                  <a:srgbClr val="22D3EE"/>
                </a:solidFill>
                <a:latin typeface="Georgia" pitchFamily="34" charset="0"/>
                <a:ea typeface="Georgia" pitchFamily="34" charset="-122"/>
                <a:cs typeface="Georgia" pitchFamily="34" charset="-120"/>
              </a:rPr>
              <a:t>The client's own selection bias is the data.</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Responsibility Pattern</a:t>
            </a:r>
            <a:endParaRPr lang="en-US" sz="3000" dirty="0"/>
          </a:p>
        </p:txBody>
      </p:sp>
      <p:sp>
        <p:nvSpPr>
          <p:cNvPr id="3" name="Text 1"/>
          <p:cNvSpPr/>
          <p:nvPr/>
        </p:nvSpPr>
        <p:spPr>
          <a:xfrm>
            <a:off x="731520" y="1097280"/>
            <a:ext cx="768096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Two 45-minute interviews. Person sees for the first time:</a:t>
            </a:r>
            <a:endParaRPr lang="en-US" sz="1600" dirty="0"/>
          </a:p>
        </p:txBody>
      </p:sp>
      <p:sp>
        <p:nvSpPr>
          <p:cNvPr id="4" name="Shape 2"/>
          <p:cNvSpPr/>
          <p:nvPr/>
        </p:nvSpPr>
        <p:spPr>
          <a:xfrm>
            <a:off x="1097280" y="1828800"/>
            <a:ext cx="6949440" cy="457200"/>
          </a:xfrm>
          <a:prstGeom prst="rect">
            <a:avLst/>
          </a:prstGeom>
          <a:solidFill>
            <a:srgbClr val="1B2A4A"/>
          </a:solidFill>
          <a:ln/>
        </p:spPr>
      </p:sp>
      <p:sp>
        <p:nvSpPr>
          <p:cNvPr id="5" name="Shape 3"/>
          <p:cNvSpPr/>
          <p:nvPr/>
        </p:nvSpPr>
        <p:spPr>
          <a:xfrm>
            <a:off x="1097280" y="1828800"/>
            <a:ext cx="54864" cy="457200"/>
          </a:xfrm>
          <a:prstGeom prst="rect">
            <a:avLst/>
          </a:prstGeom>
          <a:solidFill>
            <a:srgbClr val="22D3EE"/>
          </a:solidFill>
          <a:ln/>
        </p:spPr>
      </p:sp>
      <p:sp>
        <p:nvSpPr>
          <p:cNvPr id="6" name="Text 4"/>
          <p:cNvSpPr/>
          <p:nvPr/>
        </p:nvSpPr>
        <p:spPr>
          <a:xfrm>
            <a:off x="1417320" y="1828800"/>
            <a:ext cx="64008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Pattern of constantly picking up responsibility</a:t>
            </a:r>
            <a:endParaRPr lang="en-US" sz="1500" dirty="0"/>
          </a:p>
        </p:txBody>
      </p:sp>
      <p:sp>
        <p:nvSpPr>
          <p:cNvPr id="7" name="Shape 5"/>
          <p:cNvSpPr/>
          <p:nvPr/>
        </p:nvSpPr>
        <p:spPr>
          <a:xfrm>
            <a:off x="1097280" y="2423160"/>
            <a:ext cx="6949440" cy="457200"/>
          </a:xfrm>
          <a:prstGeom prst="rect">
            <a:avLst/>
          </a:prstGeom>
          <a:solidFill>
            <a:srgbClr val="1B2A4A"/>
          </a:solidFill>
          <a:ln/>
        </p:spPr>
      </p:sp>
      <p:sp>
        <p:nvSpPr>
          <p:cNvPr id="8" name="Shape 6"/>
          <p:cNvSpPr/>
          <p:nvPr/>
        </p:nvSpPr>
        <p:spPr>
          <a:xfrm>
            <a:off x="1097280" y="2423160"/>
            <a:ext cx="54864" cy="457200"/>
          </a:xfrm>
          <a:prstGeom prst="rect">
            <a:avLst/>
          </a:prstGeom>
          <a:solidFill>
            <a:srgbClr val="22D3EE"/>
          </a:solidFill>
          <a:ln/>
        </p:spPr>
      </p:sp>
      <p:sp>
        <p:nvSpPr>
          <p:cNvPr id="9" name="Text 7"/>
          <p:cNvSpPr/>
          <p:nvPr/>
        </p:nvSpPr>
        <p:spPr>
          <a:xfrm>
            <a:off x="1417320" y="2423160"/>
            <a:ext cx="64008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Saying yes to everything, no filter</a:t>
            </a:r>
            <a:endParaRPr lang="en-US" sz="1500" dirty="0"/>
          </a:p>
        </p:txBody>
      </p:sp>
      <p:sp>
        <p:nvSpPr>
          <p:cNvPr id="10" name="Shape 8"/>
          <p:cNvSpPr/>
          <p:nvPr/>
        </p:nvSpPr>
        <p:spPr>
          <a:xfrm>
            <a:off x="1097280" y="3017520"/>
            <a:ext cx="6949440" cy="457200"/>
          </a:xfrm>
          <a:prstGeom prst="rect">
            <a:avLst/>
          </a:prstGeom>
          <a:solidFill>
            <a:srgbClr val="1B2A4A"/>
          </a:solidFill>
          <a:ln/>
        </p:spPr>
      </p:sp>
      <p:sp>
        <p:nvSpPr>
          <p:cNvPr id="11" name="Shape 9"/>
          <p:cNvSpPr/>
          <p:nvPr/>
        </p:nvSpPr>
        <p:spPr>
          <a:xfrm>
            <a:off x="1097280" y="3017520"/>
            <a:ext cx="54864" cy="457200"/>
          </a:xfrm>
          <a:prstGeom prst="rect">
            <a:avLst/>
          </a:prstGeom>
          <a:solidFill>
            <a:srgbClr val="22D3EE"/>
          </a:solidFill>
          <a:ln/>
        </p:spPr>
      </p:sp>
      <p:sp>
        <p:nvSpPr>
          <p:cNvPr id="12" name="Text 10"/>
          <p:cNvSpPr/>
          <p:nvPr/>
        </p:nvSpPr>
        <p:spPr>
          <a:xfrm>
            <a:off x="1417320" y="3017520"/>
            <a:ext cx="64008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Anxiety going up and up</a:t>
            </a:r>
            <a:endParaRPr lang="en-US" sz="1500" dirty="0"/>
          </a:p>
        </p:txBody>
      </p:sp>
      <p:sp>
        <p:nvSpPr>
          <p:cNvPr id="13" name="Shape 11"/>
          <p:cNvSpPr/>
          <p:nvPr/>
        </p:nvSpPr>
        <p:spPr>
          <a:xfrm>
            <a:off x="1097280" y="3611880"/>
            <a:ext cx="6949440" cy="502920"/>
          </a:xfrm>
          <a:prstGeom prst="rect">
            <a:avLst/>
          </a:prstGeom>
          <a:solidFill>
            <a:srgbClr val="D97706"/>
          </a:solidFill>
          <a:ln/>
        </p:spPr>
      </p:sp>
      <p:sp>
        <p:nvSpPr>
          <p:cNvPr id="14" name="Text 12"/>
          <p:cNvSpPr/>
          <p:nvPr/>
        </p:nvSpPr>
        <p:spPr>
          <a:xfrm>
            <a:off x="1417320" y="3611880"/>
            <a:ext cx="6400800" cy="50292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No downs.</a:t>
            </a:r>
            <a:endParaRPr lang="en-US" sz="1800" dirty="0"/>
          </a:p>
        </p:txBody>
      </p:sp>
      <p:sp>
        <p:nvSpPr>
          <p:cNvPr id="15" name="Text 13"/>
          <p:cNvSpPr/>
          <p:nvPr/>
        </p:nvSpPr>
        <p:spPr>
          <a:xfrm>
            <a:off x="731520" y="4343400"/>
            <a:ext cx="7680960" cy="457200"/>
          </a:xfrm>
          <a:prstGeom prst="rect">
            <a:avLst/>
          </a:prstGeom>
          <a:noFill/>
          <a:ln/>
        </p:spPr>
        <p:txBody>
          <a:bodyPr wrap="square" lIns="0" tIns="0" rIns="0" bIns="0" rtlCol="0" anchor="ctr"/>
          <a:lstStyle/>
          <a:p>
            <a:pPr indent="0" marL="0">
              <a:buNone/>
            </a:pPr>
            <a:r>
              <a:rPr lang="en-US" sz="1600" i="1" dirty="0">
                <a:solidFill>
                  <a:srgbClr val="22D3EE"/>
                </a:solidFill>
                <a:latin typeface="Georgia" pitchFamily="34" charset="0"/>
                <a:ea typeface="Georgia" pitchFamily="34" charset="-122"/>
                <a:cs typeface="Georgia" pitchFamily="34" charset="-120"/>
              </a:rPr>
              <a:t>Just seeing the data organized was the breakthrough.</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7490"/>
        </a:solidFill>
      </p:bgPr>
    </p:bg>
    <p:spTree>
      <p:nvGrpSpPr>
        <p:cNvPr id="1" name=""/>
        <p:cNvGrpSpPr/>
        <p:nvPr/>
      </p:nvGrpSpPr>
      <p:grpSpPr>
        <a:xfrm>
          <a:off x="0" y="0"/>
          <a:ext cx="0" cy="0"/>
          <a:chOff x="0" y="0"/>
          <a:chExt cx="0" cy="0"/>
        </a:xfrm>
      </p:grpSpPr>
      <p:sp>
        <p:nvSpPr>
          <p:cNvPr id="2" name="Text 0"/>
          <p:cNvSpPr/>
          <p:nvPr/>
        </p:nvSpPr>
        <p:spPr>
          <a:xfrm>
            <a:off x="731520" y="1097280"/>
            <a:ext cx="109728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V</a:t>
            </a:r>
            <a:endParaRPr lang="en-US" sz="4800" dirty="0"/>
          </a:p>
        </p:txBody>
      </p:sp>
      <p:sp>
        <p:nvSpPr>
          <p:cNvPr id="3" name="Shape 1"/>
          <p:cNvSpPr/>
          <p:nvPr/>
        </p:nvSpPr>
        <p:spPr>
          <a:xfrm>
            <a:off x="2011680" y="1371600"/>
            <a:ext cx="36576" cy="640080"/>
          </a:xfrm>
          <a:prstGeom prst="rect">
            <a:avLst/>
          </a:prstGeom>
          <a:solidFill>
            <a:srgbClr val="22D3EE"/>
          </a:solidFill>
          <a:ln/>
        </p:spPr>
      </p:sp>
      <p:sp>
        <p:nvSpPr>
          <p:cNvPr id="4" name="Text 2"/>
          <p:cNvSpPr/>
          <p:nvPr/>
        </p:nvSpPr>
        <p:spPr>
          <a:xfrm>
            <a:off x="2286000" y="1005840"/>
            <a:ext cx="5486400" cy="118872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What Becomes</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Possible</a:t>
            </a:r>
            <a:endParaRPr lang="en-US" sz="3600" dirty="0"/>
          </a:p>
        </p:txBody>
      </p:sp>
      <p:sp>
        <p:nvSpPr>
          <p:cNvPr id="5" name="Text 3"/>
          <p:cNvSpPr/>
          <p:nvPr/>
        </p:nvSpPr>
        <p:spPr>
          <a:xfrm>
            <a:off x="731520" y="4389120"/>
            <a:ext cx="2743200" cy="36576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5 minutes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Two Eras</a:t>
            </a:r>
            <a:endParaRPr lang="en-US" sz="3000" dirty="0"/>
          </a:p>
        </p:txBody>
      </p:sp>
      <p:sp>
        <p:nvSpPr>
          <p:cNvPr id="3" name="Shape 1"/>
          <p:cNvSpPr/>
          <p:nvPr/>
        </p:nvSpPr>
        <p:spPr>
          <a:xfrm>
            <a:off x="731520" y="1188720"/>
            <a:ext cx="365760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731520" y="1188720"/>
            <a:ext cx="3657600" cy="548640"/>
          </a:xfrm>
          <a:prstGeom prst="rect">
            <a:avLst/>
          </a:prstGeom>
          <a:solidFill>
            <a:srgbClr val="1B2A4A"/>
          </a:solidFill>
          <a:ln/>
        </p:spPr>
      </p:sp>
      <p:sp>
        <p:nvSpPr>
          <p:cNvPr id="5" name="Text 3"/>
          <p:cNvSpPr/>
          <p:nvPr/>
        </p:nvSpPr>
        <p:spPr>
          <a:xfrm>
            <a:off x="1005840" y="1188720"/>
            <a:ext cx="310896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Era 1: AI Learns from Humans</a:t>
            </a:r>
            <a:endParaRPr lang="en-US" sz="1500" dirty="0"/>
          </a:p>
        </p:txBody>
      </p:sp>
      <p:sp>
        <p:nvSpPr>
          <p:cNvPr id="6" name="Text 4"/>
          <p:cNvSpPr/>
          <p:nvPr/>
        </p:nvSpPr>
        <p:spPr>
          <a:xfrm>
            <a:off x="1005840" y="1965960"/>
            <a:ext cx="3108960" cy="1645920"/>
          </a:xfrm>
          <a:prstGeom prst="rect">
            <a:avLst/>
          </a:prstGeom>
          <a:noFill/>
          <a:ln/>
        </p:spPr>
        <p:txBody>
          <a:bodyPr wrap="square" rtlCol="0" anchor="ctr"/>
          <a:lstStyle/>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IRR establishes ground truth</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AI replicates what humans agreed on</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Scales human judgment</a:t>
            </a:r>
            <a:endParaRPr lang="en-US" sz="1400" dirty="0"/>
          </a:p>
        </p:txBody>
      </p:sp>
      <p:sp>
        <p:nvSpPr>
          <p:cNvPr id="7" name="Shape 5"/>
          <p:cNvSpPr/>
          <p:nvPr/>
        </p:nvSpPr>
        <p:spPr>
          <a:xfrm>
            <a:off x="4754880" y="1188720"/>
            <a:ext cx="365760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754880" y="1188720"/>
            <a:ext cx="3657600" cy="548640"/>
          </a:xfrm>
          <a:prstGeom prst="rect">
            <a:avLst/>
          </a:prstGeom>
          <a:solidFill>
            <a:srgbClr val="0891B2"/>
          </a:solidFill>
          <a:ln/>
        </p:spPr>
      </p:sp>
      <p:sp>
        <p:nvSpPr>
          <p:cNvPr id="9" name="Text 7"/>
          <p:cNvSpPr/>
          <p:nvPr/>
        </p:nvSpPr>
        <p:spPr>
          <a:xfrm>
            <a:off x="5029200" y="1188720"/>
            <a:ext cx="310896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Era 2: AI Discovers Patterns</a:t>
            </a:r>
            <a:endParaRPr lang="en-US" sz="1500" dirty="0"/>
          </a:p>
        </p:txBody>
      </p:sp>
      <p:sp>
        <p:nvSpPr>
          <p:cNvPr id="10" name="Text 8"/>
          <p:cNvSpPr/>
          <p:nvPr/>
        </p:nvSpPr>
        <p:spPr>
          <a:xfrm>
            <a:off x="5029200" y="1965960"/>
            <a:ext cx="3108960" cy="1645920"/>
          </a:xfrm>
          <a:prstGeom prst="rect">
            <a:avLst/>
          </a:prstGeom>
          <a:noFill/>
          <a:ln/>
        </p:spPr>
        <p:txBody>
          <a:bodyPr wrap="square" rtlCol="0" anchor="ctr"/>
          <a:lstStyle/>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Ground truth database accumulates</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AI finds correlations humans couldn't see</a:t>
            </a:r>
            <a:endParaRPr lang="en-US" sz="1400" dirty="0"/>
          </a:p>
          <a:p>
            <a:pPr marL="342900" indent="-342900">
              <a:spcAft>
                <a:spcPts val="800"/>
              </a:spcAft>
              <a:buSzPct val="100000"/>
              <a:buChar char="•"/>
            </a:pPr>
            <a:r>
              <a:rPr lang="en-US" sz="1400" dirty="0">
                <a:solidFill>
                  <a:srgbClr val="475569"/>
                </a:solidFill>
                <a:latin typeface="Calibri" pitchFamily="34" charset="0"/>
                <a:ea typeface="Calibri" pitchFamily="34" charset="-122"/>
                <a:cs typeface="Calibri" pitchFamily="34" charset="-120"/>
              </a:rPr>
              <a:t>New hypotheses for humans to test</a:t>
            </a:r>
            <a:endParaRPr lang="en-US" sz="1400" dirty="0"/>
          </a:p>
        </p:txBody>
      </p:sp>
      <p:sp>
        <p:nvSpPr>
          <p:cNvPr id="11" name="Text 9"/>
          <p:cNvSpPr/>
          <p:nvPr/>
        </p:nvSpPr>
        <p:spPr>
          <a:xfrm>
            <a:off x="4160520" y="2194560"/>
            <a:ext cx="822960" cy="457200"/>
          </a:xfrm>
          <a:prstGeom prst="rect">
            <a:avLst/>
          </a:prstGeom>
          <a:noFill/>
          <a:ln/>
        </p:spPr>
        <p:txBody>
          <a:bodyPr wrap="square" lIns="0" tIns="0" rIns="0" bIns="0" rtlCol="0" anchor="ctr"/>
          <a:lstStyle/>
          <a:p>
            <a:pPr algn="ctr" indent="0" marL="0">
              <a:buNone/>
            </a:pPr>
            <a:r>
              <a:rPr lang="en-US" sz="2400" dirty="0">
                <a:solidFill>
                  <a:srgbClr val="0891B2"/>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731520" y="4160520"/>
            <a:ext cx="7680960" cy="457200"/>
          </a:xfrm>
          <a:prstGeom prst="rect">
            <a:avLst/>
          </a:prstGeom>
          <a:noFill/>
          <a:ln/>
        </p:spPr>
        <p:txBody>
          <a:bodyPr wrap="square" lIns="0" tIns="0" rIns="0" bIns="0" rtlCol="0" anchor="ctr"/>
          <a:lstStyle/>
          <a:p>
            <a:pPr indent="0" marL="0">
              <a:buNone/>
            </a:pPr>
            <a:r>
              <a:rPr lang="en-US" sz="1800" b="1" i="1" dirty="0">
                <a:solidFill>
                  <a:srgbClr val="0891B2"/>
                </a:solidFill>
                <a:latin typeface="Georgia" pitchFamily="34" charset="0"/>
                <a:ea typeface="Georgia" pitchFamily="34" charset="-122"/>
                <a:cs typeface="Georgia" pitchFamily="34" charset="-120"/>
              </a:rPr>
              <a:t>We're building Era 1. Era 2 follows.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If This Works</a:t>
            </a:r>
            <a:endParaRPr lang="en-US" sz="3000" dirty="0"/>
          </a:p>
        </p:txBody>
      </p:sp>
      <p:sp>
        <p:nvSpPr>
          <p:cNvPr id="3" name="Shape 1"/>
          <p:cNvSpPr/>
          <p:nvPr/>
        </p:nvSpPr>
        <p:spPr>
          <a:xfrm>
            <a:off x="731520" y="1188720"/>
            <a:ext cx="3657600" cy="1417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731520" y="1188720"/>
            <a:ext cx="54864" cy="1417320"/>
          </a:xfrm>
          <a:prstGeom prst="rect">
            <a:avLst/>
          </a:prstGeom>
          <a:solidFill>
            <a:srgbClr val="0891B2"/>
          </a:solidFill>
          <a:ln/>
        </p:spPr>
      </p:sp>
      <p:pic>
        <p:nvPicPr>
          <p:cNvPr id="5" name="Image 0" descr="preencoded.png">    </p:cNvPr>
          <p:cNvPicPr>
            <a:picLocks noChangeAspect="1"/>
          </p:cNvPicPr>
          <p:nvPr/>
        </p:nvPicPr>
        <p:blipFill>
          <a:blip r:embed="rId1"/>
          <a:stretch>
            <a:fillRect/>
          </a:stretch>
        </p:blipFill>
        <p:spPr>
          <a:xfrm>
            <a:off x="1005840" y="1371600"/>
            <a:ext cx="365760" cy="365760"/>
          </a:xfrm>
          <a:prstGeom prst="rect">
            <a:avLst/>
          </a:prstGeom>
        </p:spPr>
      </p:pic>
      <p:sp>
        <p:nvSpPr>
          <p:cNvPr id="6" name="Text 3"/>
          <p:cNvSpPr/>
          <p:nvPr/>
        </p:nvSpPr>
        <p:spPr>
          <a:xfrm>
            <a:off x="1508760" y="1325880"/>
            <a:ext cx="256032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Certification</a:t>
            </a:r>
            <a:endParaRPr lang="en-US" sz="1600" dirty="0"/>
          </a:p>
        </p:txBody>
      </p:sp>
      <p:sp>
        <p:nvSpPr>
          <p:cNvPr id="7" name="Text 4"/>
          <p:cNvSpPr/>
          <p:nvPr/>
        </p:nvSpPr>
        <p:spPr>
          <a:xfrm>
            <a:off x="1508760" y="1737360"/>
            <a:ext cx="2560320" cy="6400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Objective competency testing — compare trainee coding to ground truth</a:t>
            </a:r>
            <a:endParaRPr lang="en-US" sz="1300" dirty="0"/>
          </a:p>
        </p:txBody>
      </p:sp>
      <p:sp>
        <p:nvSpPr>
          <p:cNvPr id="8" name="Shape 5"/>
          <p:cNvSpPr/>
          <p:nvPr/>
        </p:nvSpPr>
        <p:spPr>
          <a:xfrm>
            <a:off x="4754880" y="1188720"/>
            <a:ext cx="3657600" cy="1417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4754880" y="1188720"/>
            <a:ext cx="54864" cy="1417320"/>
          </a:xfrm>
          <a:prstGeom prst="rect">
            <a:avLst/>
          </a:prstGeom>
          <a:solidFill>
            <a:srgbClr val="0891B2"/>
          </a:solidFill>
          <a:ln/>
        </p:spPr>
      </p:sp>
      <p:pic>
        <p:nvPicPr>
          <p:cNvPr id="10" name="Image 1" descr="preencoded.png">    </p:cNvPr>
          <p:cNvPicPr>
            <a:picLocks noChangeAspect="1"/>
          </p:cNvPicPr>
          <p:nvPr/>
        </p:nvPicPr>
        <p:blipFill>
          <a:blip r:embed="rId2"/>
          <a:stretch>
            <a:fillRect/>
          </a:stretch>
        </p:blipFill>
        <p:spPr>
          <a:xfrm>
            <a:off x="5029200" y="1371600"/>
            <a:ext cx="365760" cy="365760"/>
          </a:xfrm>
          <a:prstGeom prst="rect">
            <a:avLst/>
          </a:prstGeom>
        </p:spPr>
      </p:pic>
      <p:sp>
        <p:nvSpPr>
          <p:cNvPr id="11" name="Text 7"/>
          <p:cNvSpPr/>
          <p:nvPr/>
        </p:nvSpPr>
        <p:spPr>
          <a:xfrm>
            <a:off x="5532120" y="1325880"/>
            <a:ext cx="256032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Standardized Training</a:t>
            </a:r>
            <a:endParaRPr lang="en-US" sz="1600" dirty="0"/>
          </a:p>
        </p:txBody>
      </p:sp>
      <p:sp>
        <p:nvSpPr>
          <p:cNvPr id="12" name="Text 8"/>
          <p:cNvSpPr/>
          <p:nvPr/>
        </p:nvSpPr>
        <p:spPr>
          <a:xfrm>
            <a:off x="5532120" y="1737360"/>
            <a:ext cx="2560320" cy="6400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Measurable outcomes, curriculum based on validated method</a:t>
            </a:r>
            <a:endParaRPr lang="en-US" sz="1300" dirty="0"/>
          </a:p>
        </p:txBody>
      </p:sp>
      <p:sp>
        <p:nvSpPr>
          <p:cNvPr id="13" name="Shape 9"/>
          <p:cNvSpPr/>
          <p:nvPr/>
        </p:nvSpPr>
        <p:spPr>
          <a:xfrm>
            <a:off x="731520" y="2880360"/>
            <a:ext cx="3657600" cy="1417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0"/>
          <p:cNvSpPr/>
          <p:nvPr/>
        </p:nvSpPr>
        <p:spPr>
          <a:xfrm>
            <a:off x="731520" y="2880360"/>
            <a:ext cx="54864" cy="1417320"/>
          </a:xfrm>
          <a:prstGeom prst="rect">
            <a:avLst/>
          </a:prstGeom>
          <a:solidFill>
            <a:srgbClr val="0891B2"/>
          </a:solidFill>
          <a:ln/>
        </p:spPr>
      </p:sp>
      <p:pic>
        <p:nvPicPr>
          <p:cNvPr id="15" name="Image 2" descr="preencoded.png">    </p:cNvPr>
          <p:cNvPicPr>
            <a:picLocks noChangeAspect="1"/>
          </p:cNvPicPr>
          <p:nvPr/>
        </p:nvPicPr>
        <p:blipFill>
          <a:blip r:embed="rId3"/>
          <a:stretch>
            <a:fillRect/>
          </a:stretch>
        </p:blipFill>
        <p:spPr>
          <a:xfrm>
            <a:off x="1005840" y="3063240"/>
            <a:ext cx="365760" cy="365760"/>
          </a:xfrm>
          <a:prstGeom prst="rect">
            <a:avLst/>
          </a:prstGeom>
        </p:spPr>
      </p:pic>
      <p:sp>
        <p:nvSpPr>
          <p:cNvPr id="16" name="Text 11"/>
          <p:cNvSpPr/>
          <p:nvPr/>
        </p:nvSpPr>
        <p:spPr>
          <a:xfrm>
            <a:off x="1508760" y="3017520"/>
            <a:ext cx="256032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Aggregate Research</a:t>
            </a:r>
            <a:endParaRPr lang="en-US" sz="1600" dirty="0"/>
          </a:p>
        </p:txBody>
      </p:sp>
      <p:sp>
        <p:nvSpPr>
          <p:cNvPr id="17" name="Text 12"/>
          <p:cNvSpPr/>
          <p:nvPr/>
        </p:nvSpPr>
        <p:spPr>
          <a:xfrm>
            <a:off x="1508760" y="3429000"/>
            <a:ext cx="2560320" cy="6400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Data across practitioners, statistical patterns emerge</a:t>
            </a:r>
            <a:endParaRPr lang="en-US" sz="1300" dirty="0"/>
          </a:p>
        </p:txBody>
      </p:sp>
      <p:sp>
        <p:nvSpPr>
          <p:cNvPr id="18" name="Shape 13"/>
          <p:cNvSpPr/>
          <p:nvPr/>
        </p:nvSpPr>
        <p:spPr>
          <a:xfrm>
            <a:off x="4754880" y="2880360"/>
            <a:ext cx="3657600" cy="1417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4"/>
          <p:cNvSpPr/>
          <p:nvPr/>
        </p:nvSpPr>
        <p:spPr>
          <a:xfrm>
            <a:off x="4754880" y="2880360"/>
            <a:ext cx="54864" cy="1417320"/>
          </a:xfrm>
          <a:prstGeom prst="rect">
            <a:avLst/>
          </a:prstGeom>
          <a:solidFill>
            <a:srgbClr val="0891B2"/>
          </a:solidFill>
          <a:ln/>
        </p:spPr>
      </p:sp>
      <p:pic>
        <p:nvPicPr>
          <p:cNvPr id="20" name="Image 3" descr="preencoded.png">    </p:cNvPr>
          <p:cNvPicPr>
            <a:picLocks noChangeAspect="1"/>
          </p:cNvPicPr>
          <p:nvPr/>
        </p:nvPicPr>
        <p:blipFill>
          <a:blip r:embed="rId4"/>
          <a:stretch>
            <a:fillRect/>
          </a:stretch>
        </p:blipFill>
        <p:spPr>
          <a:xfrm>
            <a:off x="5029200" y="3063240"/>
            <a:ext cx="365760" cy="365760"/>
          </a:xfrm>
          <a:prstGeom prst="rect">
            <a:avLst/>
          </a:prstGeom>
        </p:spPr>
      </p:pic>
      <p:sp>
        <p:nvSpPr>
          <p:cNvPr id="21" name="Text 15"/>
          <p:cNvSpPr/>
          <p:nvPr/>
        </p:nvSpPr>
        <p:spPr>
          <a:xfrm>
            <a:off x="5532120" y="3017520"/>
            <a:ext cx="256032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Tooling</a:t>
            </a:r>
            <a:endParaRPr lang="en-US" sz="1600" dirty="0"/>
          </a:p>
        </p:txBody>
      </p:sp>
      <p:sp>
        <p:nvSpPr>
          <p:cNvPr id="22" name="Text 16"/>
          <p:cNvSpPr/>
          <p:nvPr/>
        </p:nvSpPr>
        <p:spPr>
          <a:xfrm>
            <a:off x="5532120" y="3429000"/>
            <a:ext cx="2560320" cy="6400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Vertically integrated pro/personal app ecosystem, novel clinical model</a:t>
            </a:r>
            <a:endParaRPr lang="en-US" sz="1300" dirty="0"/>
          </a:p>
        </p:txBody>
      </p:sp>
      <p:sp>
        <p:nvSpPr>
          <p:cNvPr id="23" name="Text 17"/>
          <p:cNvSpPr/>
          <p:nvPr/>
        </p:nvSpPr>
        <p:spPr>
          <a:xfrm>
            <a:off x="731520" y="4343400"/>
            <a:ext cx="7680960" cy="457200"/>
          </a:xfrm>
          <a:prstGeom prst="rect">
            <a:avLst/>
          </a:prstGeom>
          <a:noFill/>
          <a:ln/>
        </p:spPr>
        <p:txBody>
          <a:bodyPr wrap="square" lIns="0" tIns="0" rIns="0" bIns="0" rtlCol="0" anchor="ctr"/>
          <a:lstStyle/>
          <a:p>
            <a:pPr indent="0" marL="0">
              <a:buNone/>
            </a:pPr>
            <a:r>
              <a:rPr lang="en-US" sz="1600" b="1" i="1" dirty="0">
                <a:solidFill>
                  <a:srgbClr val="0891B2"/>
                </a:solidFill>
                <a:latin typeface="Georgia" pitchFamily="34" charset="0"/>
                <a:ea typeface="Georgia" pitchFamily="34" charset="-122"/>
                <a:cs typeface="Georgia" pitchFamily="34" charset="-120"/>
              </a:rPr>
              <a:t>Design the data model right, and everything else falls into place.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7490"/>
        </a:solidFill>
      </p:bgPr>
    </p:bg>
    <p:spTree>
      <p:nvGrpSpPr>
        <p:cNvPr id="1" name=""/>
        <p:cNvGrpSpPr/>
        <p:nvPr/>
      </p:nvGrpSpPr>
      <p:grpSpPr>
        <a:xfrm>
          <a:off x="0" y="0"/>
          <a:ext cx="0" cy="0"/>
          <a:chOff x="0" y="0"/>
          <a:chExt cx="0" cy="0"/>
        </a:xfrm>
      </p:grpSpPr>
      <p:sp>
        <p:nvSpPr>
          <p:cNvPr id="2" name="Text 0"/>
          <p:cNvSpPr/>
          <p:nvPr/>
        </p:nvSpPr>
        <p:spPr>
          <a:xfrm>
            <a:off x="731520" y="1097280"/>
            <a:ext cx="109728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VI</a:t>
            </a:r>
            <a:endParaRPr lang="en-US" sz="4800" dirty="0"/>
          </a:p>
        </p:txBody>
      </p:sp>
      <p:sp>
        <p:nvSpPr>
          <p:cNvPr id="3" name="Shape 1"/>
          <p:cNvSpPr/>
          <p:nvPr/>
        </p:nvSpPr>
        <p:spPr>
          <a:xfrm>
            <a:off x="2011680" y="1371600"/>
            <a:ext cx="36576" cy="640080"/>
          </a:xfrm>
          <a:prstGeom prst="rect">
            <a:avLst/>
          </a:prstGeom>
          <a:solidFill>
            <a:srgbClr val="22D3EE"/>
          </a:solidFill>
          <a:ln/>
        </p:spPr>
      </p:sp>
      <p:sp>
        <p:nvSpPr>
          <p:cNvPr id="4" name="Text 2"/>
          <p:cNvSpPr/>
          <p:nvPr/>
        </p:nvSpPr>
        <p:spPr>
          <a:xfrm>
            <a:off x="2286000" y="1005840"/>
            <a:ext cx="5486400" cy="118872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Honest State</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 Close</a:t>
            </a:r>
            <a:endParaRPr lang="en-US" sz="3600" dirty="0"/>
          </a:p>
        </p:txBody>
      </p:sp>
      <p:sp>
        <p:nvSpPr>
          <p:cNvPr id="5" name="Text 3"/>
          <p:cNvSpPr/>
          <p:nvPr/>
        </p:nvSpPr>
        <p:spPr>
          <a:xfrm>
            <a:off x="731520" y="4389120"/>
            <a:ext cx="2743200" cy="36576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5 minutes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Where We Are</a:t>
            </a:r>
            <a:endParaRPr lang="en-US" sz="3000" dirty="0"/>
          </a:p>
        </p:txBody>
      </p:sp>
      <p:sp>
        <p:nvSpPr>
          <p:cNvPr id="3" name="Text 1"/>
          <p:cNvSpPr/>
          <p:nvPr/>
        </p:nvSpPr>
        <p:spPr>
          <a:xfrm>
            <a:off x="731520" y="1005840"/>
            <a:ext cx="7680960" cy="457200"/>
          </a:xfrm>
          <a:prstGeom prst="rect">
            <a:avLst/>
          </a:prstGeom>
          <a:noFill/>
          <a:ln/>
        </p:spPr>
        <p:txBody>
          <a:bodyPr wrap="square" lIns="0" tIns="0" rIns="0" bIns="0" rtlCol="0" anchor="ctr"/>
          <a:lstStyle/>
          <a:p>
            <a:pPr indent="0" marL="0">
              <a:buNone/>
            </a:pPr>
            <a:r>
              <a:rPr lang="en-US" sz="1600" i="1" dirty="0">
                <a:solidFill>
                  <a:srgbClr val="475569"/>
                </a:solidFill>
                <a:latin typeface="Calibri" pitchFamily="34" charset="0"/>
                <a:ea typeface="Calibri" pitchFamily="34" charset="-122"/>
                <a:cs typeface="Calibri" pitchFamily="34" charset="-120"/>
              </a:rPr>
              <a:t>Early stage. Showing the process.</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7680960" cy="914400"/>
        </p:xfrm>
        <a:graphic>
          <a:graphicData uri="http://schemas.openxmlformats.org/drawingml/2006/table">
            <a:tbl>
              <a:tblPr/>
              <a:tblGrid>
                <a:gridCol w="3200400"/>
                <a:gridCol w="448056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Tool</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Pro App</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Released — timeline + diagram</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Personal App</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In development — structured intake</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IRR System</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In use — research infrastructure</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First IRR Meeting</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1400" b="1" dirty="0">
                          <a:solidFill>
                            <a:srgbClr val="0891B2"/>
                          </a:solidFill>
                          <a:latin typeface="Calibri" pitchFamily="34" charset="0"/>
                          <a:ea typeface="Calibri" pitchFamily="34" charset="-122"/>
                          <a:cs typeface="Calibri" pitchFamily="34" charset="-120"/>
                        </a:rPr>
                        <a:t>Next week</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Synthetic Data</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400" b="1" dirty="0">
                          <a:solidFill>
                            <a:srgbClr val="0891B2"/>
                          </a:solidFill>
                          <a:latin typeface="Calibri" pitchFamily="34" charset="0"/>
                          <a:ea typeface="Calibri" pitchFamily="34" charset="-122"/>
                          <a:cs typeface="Calibri" pitchFamily="34" charset="-120"/>
                        </a:rPr>
                        <a:t>Working</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Real Recordings</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indent="0" marL="0">
                        <a:buNone/>
                      </a:pPr>
                      <a:r>
                        <a:rPr lang="en-US" sz="1400" b="1" dirty="0">
                          <a:solidFill>
                            <a:srgbClr val="D97706"/>
                          </a:solidFill>
                          <a:latin typeface="Calibri" pitchFamily="34" charset="0"/>
                          <a:ea typeface="Calibri" pitchFamily="34" charset="-122"/>
                          <a:cs typeface="Calibri" pitchFamily="34" charset="-120"/>
                        </a:rPr>
                        <a:t>Exploring</a:t>
                      </a:r>
                      <a:endParaRPr lang="en-US" sz="14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r>
            </a:tbl>
          </a:graphicData>
        </a:graphic>
      </p:graphicFrame>
      <p:sp>
        <p:nvSpPr>
          <p:cNvPr id="5" name="Text 2"/>
          <p:cNvSpPr/>
          <p:nvPr/>
        </p:nvSpPr>
        <p:spPr>
          <a:xfrm>
            <a:off x="731520" y="4389120"/>
            <a:ext cx="7680960" cy="457200"/>
          </a:xfrm>
          <a:prstGeom prst="rect">
            <a:avLst/>
          </a:prstGeom>
          <a:noFill/>
          <a:ln/>
        </p:spPr>
        <p:txBody>
          <a:bodyPr wrap="square" lIns="0" tIns="0" rIns="0" bIns="0" rtlCol="0" anchor="ctr"/>
          <a:lstStyle/>
          <a:p>
            <a:pPr indent="0" marL="0">
              <a:buNone/>
            </a:pPr>
            <a:r>
              <a:rPr lang="en-US" sz="1600" i="1" dirty="0">
                <a:solidFill>
                  <a:srgbClr val="475569"/>
                </a:solidFill>
                <a:latin typeface="Georgia" pitchFamily="34" charset="0"/>
                <a:ea typeface="Georgia" pitchFamily="34" charset="-122"/>
                <a:cs typeface="Georgia" pitchFamily="34" charset="-120"/>
              </a:rPr>
              <a:t>This is what real R&amp;D looks like.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Human Remains Central</a:t>
            </a:r>
            <a:endParaRPr lang="en-US" sz="3000" dirty="0"/>
          </a:p>
        </p:txBody>
      </p:sp>
      <p:sp>
        <p:nvSpPr>
          <p:cNvPr id="3" name="Shape 1"/>
          <p:cNvSpPr/>
          <p:nvPr/>
        </p:nvSpPr>
        <p:spPr>
          <a:xfrm>
            <a:off x="731520" y="1371600"/>
            <a:ext cx="7680960" cy="685800"/>
          </a:xfrm>
          <a:prstGeom prst="rect">
            <a:avLst/>
          </a:prstGeom>
          <a:solidFill>
            <a:srgbClr val="1B2A4A"/>
          </a:solidFill>
          <a:ln/>
        </p:spPr>
      </p:sp>
      <p:pic>
        <p:nvPicPr>
          <p:cNvPr id="4" name="Image 0" descr="preencoded.png">    </p:cNvPr>
          <p:cNvPicPr>
            <a:picLocks noChangeAspect="1"/>
          </p:cNvPicPr>
          <p:nvPr/>
        </p:nvPicPr>
        <p:blipFill>
          <a:blip r:embed="rId1"/>
          <a:stretch>
            <a:fillRect/>
          </a:stretch>
        </p:blipFill>
        <p:spPr>
          <a:xfrm>
            <a:off x="1097280" y="1508760"/>
            <a:ext cx="411480" cy="411480"/>
          </a:xfrm>
          <a:prstGeom prst="rect">
            <a:avLst/>
          </a:prstGeom>
        </p:spPr>
      </p:pic>
      <p:sp>
        <p:nvSpPr>
          <p:cNvPr id="5" name="Text 2"/>
          <p:cNvSpPr/>
          <p:nvPr/>
        </p:nvSpPr>
        <p:spPr>
          <a:xfrm>
            <a:off x="1737360" y="1371600"/>
            <a:ext cx="6400800" cy="6858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Ground truth is set by domain experts</a:t>
            </a:r>
            <a:endParaRPr lang="en-US" sz="1800" dirty="0"/>
          </a:p>
        </p:txBody>
      </p:sp>
      <p:sp>
        <p:nvSpPr>
          <p:cNvPr id="6" name="Shape 3"/>
          <p:cNvSpPr/>
          <p:nvPr/>
        </p:nvSpPr>
        <p:spPr>
          <a:xfrm>
            <a:off x="731520" y="2286000"/>
            <a:ext cx="7680960" cy="685800"/>
          </a:xfrm>
          <a:prstGeom prst="rect">
            <a:avLst/>
          </a:prstGeom>
          <a:solidFill>
            <a:srgbClr val="1B2A4A"/>
          </a:solidFill>
          <a:ln/>
        </p:spPr>
      </p:sp>
      <p:pic>
        <p:nvPicPr>
          <p:cNvPr id="7" name="Image 1" descr="preencoded.png">    </p:cNvPr>
          <p:cNvPicPr>
            <a:picLocks noChangeAspect="1"/>
          </p:cNvPicPr>
          <p:nvPr/>
        </p:nvPicPr>
        <p:blipFill>
          <a:blip r:embed="rId2"/>
          <a:stretch>
            <a:fillRect/>
          </a:stretch>
        </p:blipFill>
        <p:spPr>
          <a:xfrm>
            <a:off x="1097280" y="2423160"/>
            <a:ext cx="411480" cy="411480"/>
          </a:xfrm>
          <a:prstGeom prst="rect">
            <a:avLst/>
          </a:prstGeom>
        </p:spPr>
      </p:pic>
      <p:sp>
        <p:nvSpPr>
          <p:cNvPr id="8" name="Text 4"/>
          <p:cNvSpPr/>
          <p:nvPr/>
        </p:nvSpPr>
        <p:spPr>
          <a:xfrm>
            <a:off x="1737360" y="2286000"/>
            <a:ext cx="6400800" cy="6858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Software replicates human judgment</a:t>
            </a:r>
            <a:endParaRPr lang="en-US" sz="1800" dirty="0"/>
          </a:p>
        </p:txBody>
      </p:sp>
      <p:sp>
        <p:nvSpPr>
          <p:cNvPr id="9" name="Shape 5"/>
          <p:cNvSpPr/>
          <p:nvPr/>
        </p:nvSpPr>
        <p:spPr>
          <a:xfrm>
            <a:off x="731520" y="3200400"/>
            <a:ext cx="7680960" cy="685800"/>
          </a:xfrm>
          <a:prstGeom prst="rect">
            <a:avLst/>
          </a:prstGeom>
          <a:solidFill>
            <a:srgbClr val="1B2A4A"/>
          </a:solidFill>
          <a:ln/>
        </p:spPr>
      </p:sp>
      <p:pic>
        <p:nvPicPr>
          <p:cNvPr id="10" name="Image 2" descr="preencoded.png">    </p:cNvPr>
          <p:cNvPicPr>
            <a:picLocks noChangeAspect="1"/>
          </p:cNvPicPr>
          <p:nvPr/>
        </p:nvPicPr>
        <p:blipFill>
          <a:blip r:embed="rId3"/>
          <a:stretch>
            <a:fillRect/>
          </a:stretch>
        </p:blipFill>
        <p:spPr>
          <a:xfrm>
            <a:off x="1097280" y="3337560"/>
            <a:ext cx="411480" cy="411480"/>
          </a:xfrm>
          <a:prstGeom prst="rect">
            <a:avLst/>
          </a:prstGeom>
        </p:spPr>
      </p:pic>
      <p:sp>
        <p:nvSpPr>
          <p:cNvPr id="11" name="Text 6"/>
          <p:cNvSpPr/>
          <p:nvPr/>
        </p:nvSpPr>
        <p:spPr>
          <a:xfrm>
            <a:off x="1737360" y="3200400"/>
            <a:ext cx="6400800" cy="6858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Every output reviewable and correctable</a:t>
            </a:r>
            <a:endParaRPr lang="en-US" sz="1800" dirty="0"/>
          </a:p>
        </p:txBody>
      </p:sp>
      <p:sp>
        <p:nvSpPr>
          <p:cNvPr id="12" name="Text 7"/>
          <p:cNvSpPr/>
          <p:nvPr/>
        </p:nvSpPr>
        <p:spPr>
          <a:xfrm>
            <a:off x="731520" y="4114800"/>
            <a:ext cx="7680960" cy="548640"/>
          </a:xfrm>
          <a:prstGeom prst="rect">
            <a:avLst/>
          </a:prstGeom>
          <a:noFill/>
          <a:ln/>
        </p:spPr>
        <p:txBody>
          <a:bodyPr wrap="square" lIns="0" tIns="0" rIns="0" bIns="0" rtlCol="0" anchor="ctr"/>
          <a:lstStyle/>
          <a:p>
            <a:pPr indent="0" marL="0">
              <a:buNone/>
            </a:pPr>
            <a:r>
              <a:rPr lang="en-US" sz="2400" b="1" dirty="0">
                <a:solidFill>
                  <a:srgbClr val="22D3EE"/>
                </a:solidFill>
                <a:latin typeface="Georgia" pitchFamily="34" charset="0"/>
                <a:ea typeface="Georgia" pitchFamily="34" charset="-122"/>
                <a:cs typeface="Georgia" pitchFamily="34" charset="-120"/>
              </a:rPr>
              <a:t>Technology scales. Humans validate.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731520" y="914400"/>
            <a:ext cx="7680960" cy="182880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latin typeface="Georgia" pitchFamily="34" charset="0"/>
                <a:ea typeface="Georgia" pitchFamily="34" charset="-122"/>
                <a:cs typeface="Georgia" pitchFamily="34" charset="-120"/>
              </a:rPr>
              <a:t>Clinical Research</a:t>
            </a:r>
            <a:endParaRPr lang="en-US" sz="3800" dirty="0"/>
          </a:p>
          <a:p>
            <a:pPr indent="0" marL="0">
              <a:lnSpc>
                <a:spcPct val="115000"/>
              </a:lnSpc>
              <a:buNone/>
            </a:pPr>
            <a:r>
              <a:rPr lang="en-US" sz="3800" b="1" dirty="0">
                <a:solidFill>
                  <a:srgbClr val="FFFFFF"/>
                </a:solidFill>
                <a:latin typeface="Georgia" pitchFamily="34" charset="0"/>
                <a:ea typeface="Georgia" pitchFamily="34" charset="-122"/>
                <a:cs typeface="Georgia" pitchFamily="34" charset="-120"/>
              </a:rPr>
              <a:t>at the Cutting Edge</a:t>
            </a:r>
            <a:endParaRPr lang="en-US" sz="3800" dirty="0"/>
          </a:p>
        </p:txBody>
      </p:sp>
      <p:sp>
        <p:nvSpPr>
          <p:cNvPr id="4" name="Shape 2"/>
          <p:cNvSpPr/>
          <p:nvPr/>
        </p:nvSpPr>
        <p:spPr>
          <a:xfrm>
            <a:off x="731520" y="2880360"/>
            <a:ext cx="1097280" cy="36576"/>
          </a:xfrm>
          <a:prstGeom prst="rect">
            <a:avLst/>
          </a:prstGeom>
          <a:solidFill>
            <a:srgbClr val="0891B2"/>
          </a:solidFill>
          <a:ln/>
        </p:spPr>
      </p:sp>
      <p:sp>
        <p:nvSpPr>
          <p:cNvPr id="5" name="Text 3"/>
          <p:cNvSpPr/>
          <p:nvPr/>
        </p:nvSpPr>
        <p:spPr>
          <a:xfrm>
            <a:off x="731520" y="3108960"/>
            <a:ext cx="7680960" cy="457200"/>
          </a:xfrm>
          <a:prstGeom prst="rect">
            <a:avLst/>
          </a:prstGeom>
          <a:noFill/>
          <a:ln/>
        </p:spPr>
        <p:txBody>
          <a:bodyPr wrap="square" lIns="0" tIns="0" rIns="0" bIns="0" rtlCol="0" anchor="ctr"/>
          <a:lstStyle/>
          <a:p>
            <a:pPr indent="0" marL="0">
              <a:buNone/>
            </a:pPr>
            <a:r>
              <a:rPr lang="en-US" sz="1800" dirty="0">
                <a:solidFill>
                  <a:srgbClr val="22D3EE"/>
                </a:solidFill>
                <a:latin typeface="Calibri" pitchFamily="34" charset="0"/>
                <a:ea typeface="Calibri" pitchFamily="34" charset="-122"/>
                <a:cs typeface="Calibri" pitchFamily="34" charset="-120"/>
              </a:rPr>
              <a:t>alaskafamilysystems.com</a:t>
            </a:r>
            <a:endParaRPr lang="en-US" sz="1800" dirty="0"/>
          </a:p>
        </p:txBody>
      </p:sp>
      <p:sp>
        <p:nvSpPr>
          <p:cNvPr id="6" name="Text 4"/>
          <p:cNvSpPr/>
          <p:nvPr/>
        </p:nvSpPr>
        <p:spPr>
          <a:xfrm>
            <a:off x="731520" y="3840480"/>
            <a:ext cx="7680960" cy="731520"/>
          </a:xfrm>
          <a:prstGeom prst="rect">
            <a:avLst/>
          </a:prstGeom>
          <a:noFill/>
          <a:ln/>
        </p:spPr>
        <p:txBody>
          <a:bodyPr wrap="square" lIns="0" tIns="0" rIns="0" bIns="0" rtlCol="0" anchor="ctr"/>
          <a:lstStyle/>
          <a:p>
            <a:pPr indent="0" marL="0">
              <a:lnSpc>
                <a:spcPct val="140000"/>
              </a:lnSpc>
              <a:buNone/>
            </a:pPr>
            <a:r>
              <a:rPr lang="en-US" sz="1400" dirty="0">
                <a:solidFill>
                  <a:srgbClr val="94A3B8"/>
                </a:solidFill>
                <a:latin typeface="Calibri" pitchFamily="34" charset="0"/>
                <a:ea typeface="Calibri" pitchFamily="34" charset="-122"/>
                <a:cs typeface="Calibri" pitchFamily="34" charset="-120"/>
              </a:rPr>
              <a:t>This needs people: clinicians testing the model,</a:t>
            </a:r>
            <a:endParaRPr lang="en-US" sz="1400" dirty="0"/>
          </a:p>
          <a:p>
            <a:pPr indent="0" marL="0">
              <a:lnSpc>
                <a:spcPct val="140000"/>
              </a:lnSpc>
              <a:buNone/>
            </a:pPr>
            <a:r>
              <a:rPr lang="en-US" sz="1400" dirty="0">
                <a:solidFill>
                  <a:srgbClr val="94A3B8"/>
                </a:solidFill>
                <a:latin typeface="Calibri" pitchFamily="34" charset="0"/>
                <a:ea typeface="Calibri" pitchFamily="34" charset="-122"/>
                <a:cs typeface="Calibri" pitchFamily="34" charset="-120"/>
              </a:rPr>
              <a:t>researchers contributing cases, developers building tools.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Research at the Cutting Edge</dc:title>
  <dc:subject>PptxGenJS Presentation</dc:subject>
  <dc:creator>Patrick Kidd</dc:creator>
  <cp:lastModifiedBy>Patrick Kidd</cp:lastModifiedBy>
  <cp:revision>1</cp:revision>
  <dcterms:created xsi:type="dcterms:W3CDTF">2026-02-25T02:12:43Z</dcterms:created>
  <dcterms:modified xsi:type="dcterms:W3CDTF">2026-02-25T02:12:43Z</dcterms:modified>
</cp:coreProperties>
</file>