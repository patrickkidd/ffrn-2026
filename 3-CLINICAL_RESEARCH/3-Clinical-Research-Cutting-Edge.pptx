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Research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Cutting Edge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31520" y="3063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Family Systems Research with Machine Intelligence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3 of 5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7772400" y="3657600"/>
            <a:ext cx="822960" cy="82296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6766560" y="402336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05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to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Morning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measurement, we can't tell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we're making it worse.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24231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91640"/>
            <a:ext cx="54864" cy="182880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Practices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60120" y="265176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 that harmed the people they intended to help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74720" y="1691640"/>
            <a:ext cx="24231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474720" y="1691640"/>
            <a:ext cx="54864" cy="182880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8745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0332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Unchecked Beliefs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703320" y="265176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Professions swept up in beliefs that destroyed lives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17920" y="1691640"/>
            <a:ext cx="24231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17920" y="1691640"/>
            <a:ext cx="54864" cy="182880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8745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46520" y="2286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Accountability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446520" y="265176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asked: "What if this is making things worse?"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31520" y="3794760"/>
            <a:ext cx="7680960" cy="822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4"/>
          <p:cNvSpPr/>
          <p:nvPr/>
        </p:nvSpPr>
        <p:spPr>
          <a:xfrm>
            <a:off x="1005840" y="37947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Cambridge-Somerville Study: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 intervention. Treatment group had more crime, more addiction, earlier death.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05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Scaling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Data vs. Small Data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36576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34440"/>
            <a:ext cx="3657600" cy="502920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5840" y="192024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records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variables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claims, lab results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54880" y="1234440"/>
            <a:ext cx="36576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54880" y="1234440"/>
            <a:ext cx="365760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98448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068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Data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9200" y="192024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qualitative information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interpretation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intelligent inference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interviews, family history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4343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problem is small data.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Research Never Happened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280160"/>
            <a:ext cx="502920" cy="502920"/>
          </a:xfrm>
          <a:prstGeom prst="ellipse">
            <a:avLst/>
          </a:prstGeom>
          <a:solidFill>
            <a:srgbClr val="F0F4F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353312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65860" y="1783080"/>
            <a:ext cx="0" cy="27432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91640" y="12801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Hypothetical model with simple but deep concepts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F0F4F8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130552"/>
            <a:ext cx="365760" cy="3657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65860" y="2560320"/>
            <a:ext cx="0" cy="27432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691640" y="20574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skilled human coders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914400" y="2834640"/>
            <a:ext cx="502920" cy="502920"/>
          </a:xfrm>
          <a:prstGeom prst="ellipse">
            <a:avLst/>
          </a:prstGeom>
          <a:solidFill>
            <a:srgbClr val="F0F4F8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907792"/>
            <a:ext cx="365760" cy="36576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165860" y="3337560"/>
            <a:ext cx="0" cy="27432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1691640" y="28346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doesn't scale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14400" y="3611880"/>
            <a:ext cx="502920" cy="502920"/>
          </a:xfrm>
          <a:prstGeom prst="ellipse">
            <a:avLst/>
          </a:prstGeom>
          <a:solidFill>
            <a:srgbClr val="F0F4F8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685032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9164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get funding without someone's day job</a:t>
            </a:r>
            <a:endParaRPr lang="en-US" sz="1600" dirty="0"/>
          </a:p>
        </p:txBody>
      </p:sp>
      <p:sp>
        <p:nvSpPr>
          <p:cNvPr id="18" name="Shape 12"/>
          <p:cNvSpPr/>
          <p:nvPr/>
        </p:nvSpPr>
        <p:spPr>
          <a:xfrm>
            <a:off x="731520" y="4160520"/>
            <a:ext cx="768096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Text 13"/>
          <p:cNvSpPr/>
          <p:nvPr/>
        </p:nvSpPr>
        <p:spPr>
          <a:xfrm>
            <a:off x="1005840" y="41605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bottleneck was human coding capacity.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Changed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automation now makes intelligent inference possible at scale.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2514600" cy="192024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488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2651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05840" y="3017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clinical discussions for training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566160" y="1920240"/>
            <a:ext cx="2514600" cy="192024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214884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2651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3840480" y="3017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coding against human judgment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0" y="1920240"/>
            <a:ext cx="2514600" cy="192024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14884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75120" y="2651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6675120" y="30175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ever before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31520" y="42062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built this.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05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Domain-Expert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 Truth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Ground Truth = What the Experts Agreed 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50876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00200" y="1463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experts learn SARF coding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150876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623560" y="1463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Blindly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23560" y="1828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coding of cases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78892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301752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0020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Agreement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337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Inter-Rater Reliability (IRR)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2788920"/>
            <a:ext cx="36576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937760" y="301752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623560" y="2971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23560" y="3337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where experts agree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humans set the standard.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Killer Combo: IRR +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AI needs is IRR.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Requires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IRR Provides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Labeled examples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Human-coded cases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Consistent labels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Agreement-verified coding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Growing database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828800" y="3840480"/>
            <a:ext cx="5486400" cy="731520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6" name="Text 3"/>
          <p:cNvSpPr/>
          <p:nvPr/>
        </p:nvSpPr>
        <p:spPr>
          <a:xfrm>
            <a:off x="1828800" y="38404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IRR + AI = the breakthrough.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972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Discoveries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Discoveries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5486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630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Discovery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05840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survey for this data like a knee problem.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05840" y="256032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must be in mutual discovery with client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extracting answers—exploring together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affects what emerges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54880" y="118872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188720"/>
            <a:ext cx="36576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304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Trains Faster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5029200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recordings are the goal. Synthetic data accelerates getting there.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029200" y="256032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group learned SARF coding faster on synthetic data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examples with known ground truth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iteration cycles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Timelines Cluster by Emotional Salience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 data naturally clusters into ~3–5 notable periods.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76809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45920"/>
            <a:ext cx="54864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19072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4592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has a "sampling bias" — they report what's emotionally salient to them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286000"/>
            <a:ext cx="76809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286000"/>
            <a:ext cx="54864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59152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2860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give you an even history; they give you the periods that matter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2926080"/>
            <a:ext cx="54864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999232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292608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clusters typically follow a nodal/triggering event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31520" y="3566160"/>
            <a:ext cx="76809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31520" y="3566160"/>
            <a:ext cx="54864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639312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5661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clustering itself is the emotional process — you don't have to know what to look for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731520" y="4251960"/>
            <a:ext cx="7680960" cy="548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5"/>
          <p:cNvSpPr/>
          <p:nvPr/>
        </p:nvSpPr>
        <p:spPr>
          <a:xfrm>
            <a:off x="1005840" y="42519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client's own selection bias is the data.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Responsibility Pattern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45-minute interviews. Person sees for the first time: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97280" y="1828800"/>
            <a:ext cx="694944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828800"/>
            <a:ext cx="54864" cy="457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of constantly picking up responsibility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2423160"/>
            <a:ext cx="694944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2423160"/>
            <a:ext cx="54864" cy="457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423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Saying yes to everything, no filter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97280" y="3017520"/>
            <a:ext cx="694944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Shape 9"/>
          <p:cNvSpPr/>
          <p:nvPr/>
        </p:nvSpPr>
        <p:spPr>
          <a:xfrm>
            <a:off x="1097280" y="3017520"/>
            <a:ext cx="54864" cy="457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3017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 going up and up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97280" y="3611880"/>
            <a:ext cx="69494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141732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downs.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4343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Just seeing the data organized was the breakthrough.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05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Becomes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Possible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Eras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5486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88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1: AI Learns from Humans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establishes ground truth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replicates what humans agreed 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human judgment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3657600" cy="5486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2: AI Discovers Patterns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9659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database accumulates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finds correlations humans couldn't see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hypotheses for humans to test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60520" y="2194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4160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building Era 1. Era 2 follows.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This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14173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3716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0876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competency testing — compare trainee coding to ground truth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65760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54880" y="1188720"/>
            <a:ext cx="54864" cy="14173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Training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53212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outcomes, curriculum based on validated method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880360"/>
            <a:ext cx="365760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2880360"/>
            <a:ext cx="54864" cy="14173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0632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Research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508760" y="3429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across practitioners, statistical patterns emerge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754880" y="2880360"/>
            <a:ext cx="365760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754880" y="2880360"/>
            <a:ext cx="54864" cy="14173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0632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3212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532120" y="3429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pro/personal app ecosystem, novel clinical model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731520" y="4343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the data model right, and everything else falls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74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2011680" y="1371600"/>
            <a:ext cx="36576" cy="64008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0" y="10058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State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Close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stage. Showing the process.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480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Released — timeline + diagram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App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development — structured intake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System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use — research infrastructure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IRR Meeting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week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Data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891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Recordings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755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what real R&amp;D looks like.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Human Remains Central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7680960" cy="68580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5087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3716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set by domain experts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2286000"/>
            <a:ext cx="7680960" cy="68580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42316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37360" y="22860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replicates human judgment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31520" y="3200400"/>
            <a:ext cx="7680960" cy="685800"/>
          </a:xfrm>
          <a:prstGeom prst="rect">
            <a:avLst/>
          </a:prstGeom>
          <a:solidFill>
            <a:srgbClr val="1B2A4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33756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2004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output reviewable and correctable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731520" y="4114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 scales. Humans validate.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Research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Cutting Edge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alaskafamilysystems.com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needs people: clinicians testing the model,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 contributing cases, developers building tools.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Research at the Cutting Edge</dc:title>
  <dc:subject>PptxGenJS Presentation</dc:subject>
  <dc:creator>Patrick Kidd</dc:creator>
  <cp:lastModifiedBy>Patrick Kidd</cp:lastModifiedBy>
  <cp:revision>1</cp:revision>
  <dcterms:created xsi:type="dcterms:W3CDTF">2026-02-25T02:12:43Z</dcterms:created>
  <dcterms:modified xsi:type="dcterms:W3CDTF">2026-02-25T02:12:43Z</dcterms:modified>
</cp:coreProperties>
</file>