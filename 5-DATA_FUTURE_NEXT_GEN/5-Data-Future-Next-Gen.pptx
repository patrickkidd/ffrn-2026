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795"/>
    <p:restoredTop sz="69409"/>
  </p:normalViewPr>
  <p:slideViewPr>
    <p:cSldViewPr snapToGrid="0" snapToObjects="1">
      <p:cViewPr varScale="1">
        <p:scale>
          <a:sx n="134" d="100"/>
          <a:sy n="134" d="100"/>
        </p:scale>
        <p:origin x="1912"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61041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TITLE SLIDE</a:t>
            </a:r>
          </a:p>
          <a:p>
            <a:r>
              <a:rPr sz="4200"/>
              <a:t>"Data, the Future, and the Next Generation"</a:t>
            </a:r>
          </a:p>
          <a:p>
            <a:r>
              <a:rPr sz="4200"/>
              <a:t>Presentation 5 of 5 — 15 min Patrick solo, then 15 min Guillermo interviews Patrick, leading into Q&amp;A.</a:t>
            </a:r>
          </a:p>
          <a:p>
            <a:r>
              <a:rPr sz="4200"/>
              <a:t>Format: Conversational closer. These slides are visual anchors, not a deck to read from.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 THE SPIRIT OF DISCOVERY (5 min)</a:t>
            </a:r>
          </a:p>
          <a:p>
            <a:endParaRPr sz="4200"/>
          </a:p>
          <a:p>
            <a:r>
              <a:rPr sz="4200"/>
              <a:t>What inspired this work. Not a recap of the day — the personal root. There are people across very different fields who share a certain posture toward their work.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Carl Sagan — American astronomer, astrophysicist, and science communicator (1934–1996)</a:t>
            </a:r>
          </a:p>
          <a:p>
            <a:r>
              <a:rPr sz="4200"/>
              <a:t>Richard Feynman — American theoretical physicist, Nobel laureate (1918–1988)</a:t>
            </a:r>
          </a:p>
          <a:p>
            <a:r>
              <a:rPr sz="4200"/>
              <a:t>Murray Bowen — American psychiatrist, founder of family systems theory (1913–1990)</a:t>
            </a:r>
          </a:p>
          <a:p/>
          <a:p>
            <a:r>
              <a:rPr sz="4200"/>
              <a:t>THE POSTURE</a:t>
            </a:r>
          </a:p>
          <a:p/>
          <a:p>
            <a:r>
              <a:rPr sz="4200"/>
              <a:t>Sagan: "Somewhere, something incredible is waiting to be known."</a:t>
            </a:r>
          </a:p>
          <a:p>
            <a:r>
              <a:rPr sz="4200"/>
              <a:t>Feynman: "I would rather have questions that can't be answered than answers that can't be questioned."</a:t>
            </a:r>
          </a:p>
          <a:p>
            <a:r>
              <a:rPr sz="4200"/>
              <a:t>Bowen spent 40 years pursuing a science of human behavior — a goal "generally considered to be unattainable." At the end of his career he wrote about the human probing the secrets of the universe, sending himself to the moon on theory alone. Then turning inward: we have "hardly scratched the surface" of the space inside our own skulls. "The development of the human brain will not permit him to stop."</a:t>
            </a:r>
          </a:p>
          <a:p/>
          <a:p>
            <a:r>
              <a:rPr sz="4200"/>
              <a:t>These are people who found the act of discovery itself to be the reward. Not the specific concepts they landed on — the posture. The future is limitless. There is still so much to discover.</a:t>
            </a:r>
          </a:p>
          <a:p/>
          <a:p>
            <a:r>
              <a:rPr sz="4200"/>
              <a:t>That's the spirit behind everything today. Not "I have the answers." Rather: I built some tools for asking better questions, and the process of asking them has been one of the most rewarding things I've done.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II: WHAT BECOMES POSSIBLE (5 min)</a:t>
            </a:r>
          </a:p>
          <a:p>
            <a:endParaRPr sz="4200"/>
          </a:p>
          <a:p>
            <a:r>
              <a:rPr sz="4200"/>
              <a:t>Not a pitch. A picture of what opens up when more people get curious enough to try.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CODING CASES — THE PERSONAL PAYOFF</a:t>
            </a:r>
          </a:p>
          <a:p>
            <a:endParaRPr sz="4200"/>
          </a:p>
          <a:p>
            <a:r>
              <a:rPr sz="4200"/>
              <a:t>The act of coding a case — "what shifted, when, in relation to what?" — changes how you think. Everyone in the working group has reported this.</a:t>
            </a:r>
          </a:p>
          <a:p>
            <a:endParaRPr sz="4200"/>
          </a:p>
          <a:p>
            <a:r>
              <a:rPr sz="4200"/>
              <a:t>It's a practice, not a one-time insight. The more you do it, the clearer your mental model of the family becomes — not a vague impression, a structured picture.</a:t>
            </a:r>
          </a:p>
          <a:p>
            <a:endParaRPr sz="4200"/>
          </a:p>
          <a:p>
            <a:r>
              <a:rPr sz="4200"/>
              <a:t>A clinician with a clear mental model makes better decisions — what to ask, what to leave alone, when something has shifted. Without one, you're navigating by feel, and feel is unreliable when anxiety is high.</a:t>
            </a:r>
          </a:p>
          <a:p>
            <a:endParaRPr sz="4200"/>
          </a:p>
          <a:p>
            <a:r>
              <a:rPr sz="4200"/>
              <a:t>You don't need software. Pencil and a timeline. The software just makes it faster.</a:t>
            </a:r>
          </a:p>
          <a:p>
            <a:endParaRPr sz="4200"/>
          </a:p>
          <a:p>
            <a:r>
              <a:rPr sz="4200"/>
              <a:t>Once you start tracking shifts instead of labeling states, you see process everywhere — your cases, your own family, the news.</a:t>
            </a:r>
          </a:p>
          <a:p>
            <a:endParaRPr sz="4200"/>
          </a:p>
          <a:p>
            <a:r>
              <a:rPr sz="4200"/>
              <a:t>"That's not a technology. That's a way of using your mind."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DATA STARTS TO COMPOUND</a:t>
            </a:r>
          </a:p>
          <a:p>
            <a:endParaRPr sz="4200"/>
          </a:p>
          <a:p>
            <a:r>
              <a:rPr sz="4200"/>
              <a:t>Right now every clinician is an island. Their observations die with their caseload.</a:t>
            </a:r>
          </a:p>
          <a:p>
            <a:endParaRPr sz="4200"/>
          </a:p>
          <a:p>
            <a:r>
              <a:rPr sz="4200"/>
              <a:t>Shared variables mean observations accumulate across practitioners. Knowledge compounds.</a:t>
            </a:r>
          </a:p>
          <a:p>
            <a:endParaRPr sz="4200"/>
          </a:p>
          <a:p>
            <a:r>
              <a:rPr sz="4200"/>
              <a:t>A trainee in Brazil and a trainee in Alaska code the same case and get comparable results — not same opinions, same variables.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THE SCALE PROBLEM — TENS OF THOUSANDS OF CASES</a:t>
            </a:r>
          </a:p>
          <a:p>
            <a:endParaRPr sz="4200"/>
          </a:p>
          <a:p>
            <a:r>
              <a:rPr sz="4200"/>
              <a:t>Era 2 — where AI starts finding patterns humans can't see, generating new hypotheses for humans to test — requires a critical mass of coded cases. Not dozens. Not hundreds. Tens of thousands.</a:t>
            </a:r>
          </a:p>
          <a:p>
            <a:endParaRPr sz="4200"/>
          </a:p>
          <a:p>
            <a:r>
              <a:rPr sz="4200"/>
              <a:t>That's not one lab. That's a distributed network of clinicians coding real cases using the same variables.</a:t>
            </a:r>
          </a:p>
          <a:p>
            <a:endParaRPr sz="4200"/>
          </a:p>
          <a:p>
            <a:r>
              <a:rPr sz="4200"/>
              <a:t>Every case you code is a data point the field has never had before. The more people coding, the faster we get to the point where the data starts teaching us.</a:t>
            </a:r>
          </a:p>
          <a:p>
            <a:endParaRPr sz="4200"/>
          </a:p>
          <a:p>
            <a:r>
              <a:rPr sz="4200"/>
              <a:t>The human stays central — sets the standard, corrects the machine, decides what matters.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SECTION III: THE INVITATION (5 min)</a:t>
            </a:r>
          </a:p>
          <a:p>
            <a:endParaRPr sz="4200"/>
          </a:p>
          <a:p>
            <a:r>
              <a:rPr sz="4200"/>
              <a:t>Concrete, brief, warm. Not a sales pitch. Resources for the curious.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RESOURCES FOR THE CURIOUS</a:t>
            </a:r>
          </a:p>
          <a:p>
            <a:endParaRPr sz="4200"/>
          </a:p>
          <a:p>
            <a:r>
              <a:rPr sz="4200"/>
              <a:t>Start with your own thinking:</a:t>
            </a:r>
          </a:p>
          <a:p>
            <a:r>
              <a:rPr sz="4200"/>
              <a:t>Before your next intake, draw the family. Put dates on the shifts. See what sequence emerges.</a:t>
            </a:r>
          </a:p>
          <a:p>
            <a:r>
              <a:rPr sz="4200"/>
              <a:t>The question isn't "what's wrong with this person" — it's "what shifted, when, in relation to what?"</a:t>
            </a:r>
          </a:p>
          <a:p>
            <a:endParaRPr sz="4200"/>
          </a:p>
          <a:p>
            <a:r>
              <a:rPr sz="4200"/>
              <a:t>The tools exist:</a:t>
            </a:r>
          </a:p>
          <a:p>
            <a:r>
              <a:rPr sz="4200"/>
              <a:t>The Pro app is available now — timeline + diagram, linked. familydiagram.com</a:t>
            </a:r>
          </a:p>
          <a:p>
            <a:r>
              <a:rPr sz="4200"/>
              <a:t>The Personal app is coming — your clients generate their own family assessment through conversation before they walk in.</a:t>
            </a:r>
          </a:p>
          <a:p>
            <a:endParaRPr sz="4200"/>
          </a:p>
          <a:p>
            <a:r>
              <a:rPr sz="4200"/>
              <a:t>The seminar:</a:t>
            </a:r>
          </a:p>
          <a:p>
            <a:r>
              <a:rPr sz="4200"/>
              <a:t>Monthly Zoom working group. Clinicians coding cases, sharpening each other's thinking on real data. Not lectures. Practice.</a:t>
            </a:r>
          </a:p>
          <a:p>
            <a:endParaRPr sz="4200"/>
          </a:p>
          <a:p>
            <a:r>
              <a:rPr sz="4200"/>
              <a:t>Code cases for the study:</a:t>
            </a:r>
          </a:p>
          <a:p>
            <a:r>
              <a:rPr sz="4200"/>
              <a:t>The IRR study needs trained coders. That's clinicians. You are the ground truth. You are the humans.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CLOSE</a:t>
            </a:r>
          </a:p>
          <a:p>
            <a:endParaRPr sz="4200"/>
          </a:p>
          <a:p>
            <a:r>
              <a:rPr sz="4200"/>
              <a:t>"Bowen wrote at the end of his career that the journey was far more successful than he ever dreamed possible. I feel the same way about the last five years. None of what I showed you today existed five years ago. All of it works. And we've barely started."</a:t>
            </a:r>
          </a:p>
          <a:p>
            <a:endParaRPr sz="4200"/>
          </a:p>
          <a:p>
            <a:r>
              <a:rPr sz="4200"/>
              <a:t>"The field isn't hopeless — it's unmeasured. And unmeasured is fixable."</a:t>
            </a:r>
          </a:p>
          <a:p>
            <a:endParaRPr sz="4200"/>
          </a:p>
          <a:p>
            <a:r>
              <a:rPr sz="4200"/>
              <a:t>"Not a technology. A way of using your mind."</a:t>
            </a:r>
          </a:p>
          <a:p>
            <a:endParaRPr sz="4200"/>
          </a:p>
          <a:p>
            <a:r>
              <a:rPr sz="4200"/>
              <a:t>"Thank you for spending the day."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GUILLERMO INTERVIEW (15 min)</a:t>
            </a:r>
          </a:p>
          <a:p>
            <a:endParaRPr sz="4200"/>
          </a:p>
          <a:p>
            <a:r>
              <a:rPr sz="4200"/>
              <a:t>Guillermo drives the content. Patrick responds conversationally. This leads naturally into audience Q&amp;A.</a:t>
            </a:r>
          </a:p>
          <a:p>
            <a:endParaRPr sz="4200"/>
          </a:p>
          <a:p>
            <a:r>
              <a:rPr sz="4200"/>
              <a:t>Possible threads Guillermo might pull:</a:t>
            </a:r>
          </a:p>
          <a:p>
            <a:r>
              <a:rPr sz="4200"/>
              <a:t>• What was the hardest part of building this?</a:t>
            </a:r>
          </a:p>
          <a:p>
            <a:r>
              <a:rPr sz="4200"/>
              <a:t>• How does the family diagram app work in practice?</a:t>
            </a:r>
          </a:p>
          <a:p>
            <a:r>
              <a:rPr sz="4200"/>
              <a:t>• What does it look like when someone starts coding their own family?</a:t>
            </a:r>
          </a:p>
          <a:p>
            <a:r>
              <a:rPr sz="4200"/>
              <a:t>• Where do you see this in 5 years?</a:t>
            </a:r>
          </a:p>
          <a:p>
            <a:r>
              <a:rPr sz="4200"/>
              <a:t>• What does the field need from this audience?</a:t>
            </a:r>
          </a:p>
          <a:p>
            <a:r>
              <a:rPr sz="4200"/>
              <a:t>• How does this connect to training?</a:t>
            </a:r>
          </a:p>
          <a:p>
            <a:endParaRPr sz="4200"/>
          </a:p>
          <a:p>
            <a:r>
              <a:rPr sz="4200"/>
              <a:t>No scripted answers. The interview format lets Patrick go deeper on whatever the audience is tracking.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4200"/>
              <a:t>THANK YOU / CONTACT</a:t>
            </a:r>
          </a:p>
          <a:p>
            <a:endParaRPr sz="4200"/>
          </a:p>
          <a:p>
            <a:r>
              <a:rPr sz="4200"/>
              <a:t>alaskafamilysystems.com</a:t>
            </a:r>
          </a:p>
          <a:p>
            <a:r>
              <a:rPr sz="4200"/>
              <a:t>familydiagram.com</a:t>
            </a:r>
          </a:p>
          <a:p>
            <a:r>
              <a:rPr sz="4200"/>
              <a:t>Dr. Patrick Stinson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a:p>
        </p:txBody>
      </p:sp>
      <p:sp>
        <p:nvSpPr>
          <p:cNvPr id="3" name="Text 1"/>
          <p:cNvSpPr/>
          <p:nvPr/>
        </p:nvSpPr>
        <p:spPr>
          <a:xfrm>
            <a:off x="731520" y="822960"/>
            <a:ext cx="7680960" cy="1645920"/>
          </a:xfrm>
          <a:prstGeom prst="rect">
            <a:avLst/>
          </a:prstGeom>
          <a:noFill/>
          <a:ln/>
        </p:spPr>
        <p:txBody>
          <a:bodyPr wrap="square" lIns="0" tIns="0" rIns="0" bIns="0" rtlCol="0" anchor="ctr"/>
          <a:lstStyle/>
          <a:p>
            <a:pPr marL="0" indent="0">
              <a:lnSpc>
                <a:spcPct val="110000"/>
              </a:lnSpc>
              <a:buNone/>
            </a:pPr>
            <a:r>
              <a:rPr lang="en-US" sz="4200" b="1" dirty="0">
                <a:solidFill>
                  <a:srgbClr val="FFFFFF"/>
                </a:solidFill>
                <a:latin typeface="Georgia" pitchFamily="34" charset="0"/>
                <a:ea typeface="Georgia" pitchFamily="34" charset="-122"/>
                <a:cs typeface="Georgia" pitchFamily="34" charset="-120"/>
              </a:rPr>
              <a:t>Data, the Future,</a:t>
            </a:r>
            <a:endParaRPr lang="en-US" sz="4200" dirty="0"/>
          </a:p>
          <a:p>
            <a:pPr marL="0" indent="0">
              <a:lnSpc>
                <a:spcPct val="110000"/>
              </a:lnSpc>
              <a:buNone/>
            </a:pPr>
            <a:r>
              <a:rPr lang="en-US" sz="4200" b="1" dirty="0">
                <a:solidFill>
                  <a:srgbClr val="FFFFFF"/>
                </a:solidFill>
                <a:latin typeface="Georgia" pitchFamily="34" charset="0"/>
                <a:ea typeface="Georgia" pitchFamily="34" charset="-122"/>
                <a:cs typeface="Georgia" pitchFamily="34" charset="-120"/>
              </a:rPr>
              <a:t>the Next Generation</a:t>
            </a:r>
            <a:endParaRPr lang="en-US" sz="4200" dirty="0"/>
          </a:p>
        </p:txBody>
      </p:sp>
      <p:sp>
        <p:nvSpPr>
          <p:cNvPr id="4" name="Shape 2"/>
          <p:cNvSpPr/>
          <p:nvPr/>
        </p:nvSpPr>
        <p:spPr>
          <a:xfrm>
            <a:off x="731520" y="2651760"/>
            <a:ext cx="1097280" cy="36576"/>
          </a:xfrm>
          <a:prstGeom prst="rect">
            <a:avLst/>
          </a:prstGeom>
          <a:solidFill>
            <a:srgbClr val="0891B2"/>
          </a:solidFill>
          <a:ln/>
        </p:spPr>
        <p:txBody>
          <a:bodyPr/>
          <a:lstStyle/>
          <a:p>
            <a:endParaRPr lang="en-US"/>
          </a:p>
        </p:txBody>
      </p:sp>
      <p:sp>
        <p:nvSpPr>
          <p:cNvPr id="5" name="Text 3"/>
          <p:cNvSpPr/>
          <p:nvPr/>
        </p:nvSpPr>
        <p:spPr>
          <a:xfrm>
            <a:off x="731520" y="2926080"/>
            <a:ext cx="3657600" cy="36576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Presentation 5 of 5</a:t>
            </a:r>
            <a:endParaRPr lang="en-US" sz="1300" dirty="0"/>
          </a:p>
        </p:txBody>
      </p:sp>
      <p:sp>
        <p:nvSpPr>
          <p:cNvPr id="6" name="Text 4"/>
          <p:cNvSpPr/>
          <p:nvPr/>
        </p:nvSpPr>
        <p:spPr>
          <a:xfrm>
            <a:off x="731520" y="3383280"/>
            <a:ext cx="7680960" cy="36576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15 min solo + 15 min interview with Guillermo → Q&amp;A</a:t>
            </a:r>
            <a:endParaRPr lang="en-US" sz="1400" dirty="0"/>
          </a:p>
        </p:txBody>
      </p:sp>
      <p:sp>
        <p:nvSpPr>
          <p:cNvPr id="7" name="Text 5"/>
          <p:cNvSpPr/>
          <p:nvPr/>
        </p:nvSpPr>
        <p:spPr>
          <a:xfrm>
            <a:off x="731520" y="4114800"/>
            <a:ext cx="7680960" cy="365760"/>
          </a:xfrm>
          <a:prstGeom prst="rect">
            <a:avLst/>
          </a:prstGeom>
          <a:noFill/>
          <a:ln/>
        </p:spPr>
        <p:txBody>
          <a:bodyPr wrap="square" lIns="0" tIns="0" rIns="0" bIns="0" rtlCol="0" anchor="ctr"/>
          <a:lstStyle/>
          <a:p>
            <a:pPr marL="0" indent="0">
              <a:buNone/>
            </a:pPr>
            <a:r>
              <a:rPr lang="en-US" sz="1400" dirty="0">
                <a:solidFill>
                  <a:srgbClr val="94A3B8"/>
                </a:solidFill>
                <a:latin typeface="Calibri" pitchFamily="34" charset="0"/>
                <a:ea typeface="Calibri" pitchFamily="34" charset="-122"/>
                <a:cs typeface="Calibri" pitchFamily="34" charset="-120"/>
              </a:rPr>
              <a:t>Dr. Patrick Stinson  ·  Alaska Family Systems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I</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lang="en-US"/>
          </a:p>
        </p:txBody>
      </p:sp>
      <p:sp>
        <p:nvSpPr>
          <p:cNvPr id="4" name="Text 2"/>
          <p:cNvSpPr/>
          <p:nvPr/>
        </p:nvSpPr>
        <p:spPr>
          <a:xfrm>
            <a:off x="2286000" y="1005840"/>
            <a:ext cx="5486400" cy="118872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The Spirit of</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Discovery</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5 minutes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31520" y="365760"/>
            <a:ext cx="457200" cy="457200"/>
          </a:xfrm>
          <a:prstGeom prst="rect">
            <a:avLst/>
          </a:prstGeom>
        </p:spPr>
      </p:pic>
      <p:sp>
        <p:nvSpPr>
          <p:cNvPr id="3" name="Text 0"/>
          <p:cNvSpPr/>
          <p:nvPr/>
        </p:nvSpPr>
        <p:spPr>
          <a:xfrm>
            <a:off x="1371600" y="365760"/>
            <a:ext cx="5486400" cy="548640"/>
          </a:xfrm>
          <a:prstGeom prst="rect">
            <a:avLst/>
          </a:prstGeom>
          <a:noFill/>
          <a:ln/>
        </p:spPr>
        <p:txBody>
          <a:bodyPr wrap="square" lIns="0" tIns="0" rIns="0" bIns="0"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The Posture</a:t>
            </a:r>
            <a:endParaRPr lang="en-US" sz="2800" dirty="0"/>
          </a:p>
        </p:txBody>
      </p:sp>
      <p:sp>
        <p:nvSpPr>
          <p:cNvPr id="4" name="Shape 1"/>
          <p:cNvSpPr/>
          <p:nvPr/>
        </p:nvSpPr>
        <p:spPr>
          <a:xfrm>
            <a:off x="731520" y="1097280"/>
            <a:ext cx="7680960" cy="868680"/>
          </a:xfrm>
          <a:prstGeom prst="rect">
            <a:avLst/>
          </a:prstGeom>
          <a:solidFill>
            <a:srgbClr val="1B2A4A"/>
          </a:solidFill>
          <a:ln/>
        </p:spPr>
        <p:txBody>
          <a:bodyPr/>
          <a:lstStyle/>
          <a:p>
            <a:endParaRPr lang="en-US"/>
          </a:p>
        </p:txBody>
      </p:sp>
      <p:sp>
        <p:nvSpPr>
          <p:cNvPr id="5" name="Shape 2"/>
          <p:cNvSpPr/>
          <p:nvPr/>
        </p:nvSpPr>
        <p:spPr>
          <a:xfrm>
            <a:off x="731520" y="1097280"/>
            <a:ext cx="54864" cy="868680"/>
          </a:xfrm>
          <a:prstGeom prst="rect">
            <a:avLst/>
          </a:prstGeom>
          <a:solidFill>
            <a:srgbClr val="0891B2"/>
          </a:solidFill>
          <a:ln/>
        </p:spPr>
        <p:txBody>
          <a:bodyPr/>
          <a:lstStyle/>
          <a:p>
            <a:endParaRPr lang="en-US"/>
          </a:p>
        </p:txBody>
      </p:sp>
      <p:sp>
        <p:nvSpPr>
          <p:cNvPr id="6" name="Text 3"/>
          <p:cNvSpPr/>
          <p:nvPr/>
        </p:nvSpPr>
        <p:spPr>
          <a:xfrm>
            <a:off x="1051560" y="1143000"/>
            <a:ext cx="5852160" cy="502920"/>
          </a:xfrm>
          <a:prstGeom prst="rect">
            <a:avLst/>
          </a:prstGeom>
          <a:noFill/>
          <a:ln/>
        </p:spPr>
        <p:txBody>
          <a:bodyPr wrap="square" lIns="0" tIns="0" rIns="0" bIns="0" rtlCol="0" anchor="ctr"/>
          <a:lstStyle/>
          <a:p>
            <a:pPr marL="0" indent="0">
              <a:buNone/>
            </a:pPr>
            <a:r>
              <a:rPr lang="en-US" sz="1500" i="1" dirty="0">
                <a:solidFill>
                  <a:srgbClr val="22D3EE"/>
                </a:solidFill>
                <a:latin typeface="Georgia" pitchFamily="34" charset="0"/>
                <a:ea typeface="Georgia" pitchFamily="34" charset="-122"/>
                <a:cs typeface="Georgia" pitchFamily="34" charset="-120"/>
              </a:rPr>
              <a:t>"Somewhere, something incredible is waiting to be known."</a:t>
            </a:r>
            <a:endParaRPr lang="en-US" sz="1500" dirty="0"/>
          </a:p>
        </p:txBody>
      </p:sp>
      <p:sp>
        <p:nvSpPr>
          <p:cNvPr id="7" name="Text 4"/>
          <p:cNvSpPr/>
          <p:nvPr/>
        </p:nvSpPr>
        <p:spPr>
          <a:xfrm>
            <a:off x="1051560" y="1645920"/>
            <a:ext cx="585216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 Carl Sagan</a:t>
            </a:r>
            <a:endParaRPr lang="en-US" sz="1200" dirty="0"/>
          </a:p>
        </p:txBody>
      </p:sp>
      <p:sp>
        <p:nvSpPr>
          <p:cNvPr id="8" name="Shape 5"/>
          <p:cNvSpPr/>
          <p:nvPr/>
        </p:nvSpPr>
        <p:spPr>
          <a:xfrm>
            <a:off x="731520" y="2148840"/>
            <a:ext cx="7680960" cy="868680"/>
          </a:xfrm>
          <a:prstGeom prst="rect">
            <a:avLst/>
          </a:prstGeom>
          <a:solidFill>
            <a:srgbClr val="1B2A4A"/>
          </a:solidFill>
          <a:ln/>
        </p:spPr>
        <p:txBody>
          <a:bodyPr/>
          <a:lstStyle/>
          <a:p>
            <a:endParaRPr lang="en-US"/>
          </a:p>
        </p:txBody>
      </p:sp>
      <p:sp>
        <p:nvSpPr>
          <p:cNvPr id="9" name="Shape 6"/>
          <p:cNvSpPr/>
          <p:nvPr/>
        </p:nvSpPr>
        <p:spPr>
          <a:xfrm>
            <a:off x="731520" y="2148840"/>
            <a:ext cx="54864" cy="868680"/>
          </a:xfrm>
          <a:prstGeom prst="rect">
            <a:avLst/>
          </a:prstGeom>
          <a:solidFill>
            <a:srgbClr val="0891B2"/>
          </a:solidFill>
          <a:ln/>
        </p:spPr>
        <p:txBody>
          <a:bodyPr/>
          <a:lstStyle/>
          <a:p>
            <a:endParaRPr lang="en-US"/>
          </a:p>
        </p:txBody>
      </p:sp>
      <p:sp>
        <p:nvSpPr>
          <p:cNvPr id="10" name="Text 7"/>
          <p:cNvSpPr/>
          <p:nvPr/>
        </p:nvSpPr>
        <p:spPr>
          <a:xfrm>
            <a:off x="1051560" y="2194560"/>
            <a:ext cx="5852160" cy="502920"/>
          </a:xfrm>
          <a:prstGeom prst="rect">
            <a:avLst/>
          </a:prstGeom>
          <a:noFill/>
          <a:ln/>
        </p:spPr>
        <p:txBody>
          <a:bodyPr wrap="square" lIns="0" tIns="0" rIns="0" bIns="0" rtlCol="0" anchor="ctr"/>
          <a:lstStyle/>
          <a:p>
            <a:pPr marL="0" indent="0">
              <a:buNone/>
            </a:pPr>
            <a:r>
              <a:rPr lang="en-US" sz="1500" i="1" dirty="0">
                <a:solidFill>
                  <a:srgbClr val="22D3EE"/>
                </a:solidFill>
                <a:latin typeface="Georgia" pitchFamily="34" charset="0"/>
                <a:ea typeface="Georgia" pitchFamily="34" charset="-122"/>
                <a:cs typeface="Georgia" pitchFamily="34" charset="-120"/>
              </a:rPr>
              <a:t>"I would rather have questions that can't be answered</a:t>
            </a:r>
            <a:endParaRPr lang="en-US" sz="1500" dirty="0"/>
          </a:p>
          <a:p>
            <a:pPr marL="0" indent="0">
              <a:buNone/>
            </a:pPr>
            <a:r>
              <a:rPr lang="en-US" sz="1500" i="1" dirty="0">
                <a:solidFill>
                  <a:srgbClr val="22D3EE"/>
                </a:solidFill>
                <a:latin typeface="Georgia" pitchFamily="34" charset="0"/>
                <a:ea typeface="Georgia" pitchFamily="34" charset="-122"/>
                <a:cs typeface="Georgia" pitchFamily="34" charset="-120"/>
              </a:rPr>
              <a:t>than answers that can't be questioned."</a:t>
            </a:r>
            <a:endParaRPr lang="en-US" sz="1500" dirty="0"/>
          </a:p>
        </p:txBody>
      </p:sp>
      <p:sp>
        <p:nvSpPr>
          <p:cNvPr id="11" name="Text 8"/>
          <p:cNvSpPr/>
          <p:nvPr/>
        </p:nvSpPr>
        <p:spPr>
          <a:xfrm>
            <a:off x="1051560" y="2697480"/>
            <a:ext cx="585216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 Richard Feynman</a:t>
            </a:r>
            <a:endParaRPr lang="en-US" sz="1200" dirty="0"/>
          </a:p>
        </p:txBody>
      </p:sp>
      <p:sp>
        <p:nvSpPr>
          <p:cNvPr id="12" name="Shape 9"/>
          <p:cNvSpPr/>
          <p:nvPr/>
        </p:nvSpPr>
        <p:spPr>
          <a:xfrm>
            <a:off x="731520" y="3200400"/>
            <a:ext cx="7680960" cy="868680"/>
          </a:xfrm>
          <a:prstGeom prst="rect">
            <a:avLst/>
          </a:prstGeom>
          <a:solidFill>
            <a:srgbClr val="1B2A4A"/>
          </a:solidFill>
          <a:ln/>
        </p:spPr>
        <p:txBody>
          <a:bodyPr/>
          <a:lstStyle/>
          <a:p>
            <a:endParaRPr lang="en-US"/>
          </a:p>
        </p:txBody>
      </p:sp>
      <p:sp>
        <p:nvSpPr>
          <p:cNvPr id="13" name="Shape 10"/>
          <p:cNvSpPr/>
          <p:nvPr/>
        </p:nvSpPr>
        <p:spPr>
          <a:xfrm>
            <a:off x="731520" y="3200400"/>
            <a:ext cx="54864" cy="868680"/>
          </a:xfrm>
          <a:prstGeom prst="rect">
            <a:avLst/>
          </a:prstGeom>
          <a:solidFill>
            <a:srgbClr val="D97706"/>
          </a:solidFill>
          <a:ln/>
        </p:spPr>
        <p:txBody>
          <a:bodyPr/>
          <a:lstStyle/>
          <a:p>
            <a:endParaRPr lang="en-US"/>
          </a:p>
        </p:txBody>
      </p:sp>
      <p:sp>
        <p:nvSpPr>
          <p:cNvPr id="14" name="Text 11"/>
          <p:cNvSpPr/>
          <p:nvPr/>
        </p:nvSpPr>
        <p:spPr>
          <a:xfrm>
            <a:off x="1051560" y="3246120"/>
            <a:ext cx="5852160" cy="502920"/>
          </a:xfrm>
          <a:prstGeom prst="rect">
            <a:avLst/>
          </a:prstGeom>
          <a:noFill/>
          <a:ln/>
        </p:spPr>
        <p:txBody>
          <a:bodyPr wrap="square" lIns="0" tIns="0" rIns="0" bIns="0" rtlCol="0" anchor="ctr"/>
          <a:lstStyle/>
          <a:p>
            <a:pPr marL="0" indent="0">
              <a:buNone/>
            </a:pPr>
            <a:r>
              <a:rPr lang="en-US" sz="1500" i="1" dirty="0">
                <a:solidFill>
                  <a:srgbClr val="22D3EE"/>
                </a:solidFill>
                <a:latin typeface="Georgia" pitchFamily="34" charset="0"/>
                <a:ea typeface="Georgia" pitchFamily="34" charset="-122"/>
                <a:cs typeface="Georgia" pitchFamily="34" charset="-120"/>
              </a:rPr>
              <a:t>"The development of the human brain</a:t>
            </a:r>
            <a:endParaRPr lang="en-US" sz="1500" dirty="0"/>
          </a:p>
          <a:p>
            <a:pPr marL="0" indent="0">
              <a:buNone/>
            </a:pPr>
            <a:r>
              <a:rPr lang="en-US" sz="1500" i="1" dirty="0">
                <a:solidFill>
                  <a:srgbClr val="22D3EE"/>
                </a:solidFill>
                <a:latin typeface="Georgia" pitchFamily="34" charset="0"/>
                <a:ea typeface="Georgia" pitchFamily="34" charset="-122"/>
                <a:cs typeface="Georgia" pitchFamily="34" charset="-120"/>
              </a:rPr>
              <a:t>will not permit him to stop."</a:t>
            </a:r>
            <a:endParaRPr lang="en-US" sz="1500" dirty="0"/>
          </a:p>
        </p:txBody>
      </p:sp>
      <p:sp>
        <p:nvSpPr>
          <p:cNvPr id="15" name="Text 12"/>
          <p:cNvSpPr/>
          <p:nvPr/>
        </p:nvSpPr>
        <p:spPr>
          <a:xfrm>
            <a:off x="1051560" y="3749040"/>
            <a:ext cx="585216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 Murray Bowen</a:t>
            </a:r>
            <a:endParaRPr lang="en-US" sz="1200" dirty="0"/>
          </a:p>
        </p:txBody>
      </p:sp>
      <p:sp>
        <p:nvSpPr>
          <p:cNvPr id="16" name="Text 13"/>
          <p:cNvSpPr/>
          <p:nvPr/>
        </p:nvSpPr>
        <p:spPr>
          <a:xfrm>
            <a:off x="731520" y="4206240"/>
            <a:ext cx="7680960" cy="548640"/>
          </a:xfrm>
          <a:prstGeom prst="rect">
            <a:avLst/>
          </a:prstGeom>
          <a:noFill/>
          <a:ln/>
        </p:spPr>
        <p:txBody>
          <a:bodyPr wrap="square" lIns="0" tIns="0" rIns="0" bIns="0" rtlCol="0" anchor="ctr"/>
          <a:lstStyle/>
          <a:p>
            <a:pPr marL="0" indent="0">
              <a:lnSpc>
                <a:spcPct val="140000"/>
              </a:lnSpc>
              <a:buNone/>
            </a:pPr>
            <a:r>
              <a:rPr lang="en-US" sz="1400" i="1" dirty="0">
                <a:solidFill>
                  <a:srgbClr val="94A3B8"/>
                </a:solidFill>
                <a:latin typeface="Calibri" pitchFamily="34" charset="0"/>
                <a:ea typeface="Calibri" pitchFamily="34" charset="-122"/>
                <a:cs typeface="Calibri" pitchFamily="34" charset="-120"/>
              </a:rPr>
              <a:t>People who found discovery itself to be the reward.</a:t>
            </a:r>
            <a:endParaRPr lang="en-US" sz="1400" dirty="0"/>
          </a:p>
          <a:p>
            <a:pPr marL="0" indent="0">
              <a:lnSpc>
                <a:spcPct val="140000"/>
              </a:lnSpc>
              <a:buNone/>
            </a:pPr>
            <a:r>
              <a:rPr lang="en-US" sz="1400" i="1" dirty="0">
                <a:solidFill>
                  <a:srgbClr val="94A3B8"/>
                </a:solidFill>
                <a:latin typeface="Calibri" pitchFamily="34" charset="0"/>
                <a:ea typeface="Calibri" pitchFamily="34" charset="-122"/>
                <a:cs typeface="Calibri" pitchFamily="34" charset="-120"/>
              </a:rPr>
              <a:t>Not the concepts — the posture.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II</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lang="en-US"/>
          </a:p>
        </p:txBody>
      </p:sp>
      <p:sp>
        <p:nvSpPr>
          <p:cNvPr id="4" name="Text 2"/>
          <p:cNvSpPr/>
          <p:nvPr/>
        </p:nvSpPr>
        <p:spPr>
          <a:xfrm>
            <a:off x="2286000" y="1005840"/>
            <a:ext cx="5486400" cy="118872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What Becomes</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Possible</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5 minutes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Coding Cases Changes How You Think</a:t>
            </a:r>
            <a:endParaRPr lang="en-US" sz="2600" dirty="0"/>
          </a:p>
        </p:txBody>
      </p:sp>
      <p:sp>
        <p:nvSpPr>
          <p:cNvPr id="3" name="Shape 1"/>
          <p:cNvSpPr/>
          <p:nvPr/>
        </p:nvSpPr>
        <p:spPr>
          <a:xfrm>
            <a:off x="731520" y="1188720"/>
            <a:ext cx="7680960" cy="4572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731520" y="1188720"/>
            <a:ext cx="54864" cy="457200"/>
          </a:xfrm>
          <a:prstGeom prst="rect">
            <a:avLst/>
          </a:prstGeom>
          <a:solidFill>
            <a:srgbClr val="0891B2"/>
          </a:solidFill>
          <a:ln/>
        </p:spPr>
        <p:txBody>
          <a:bodyPr/>
          <a:lstStyle/>
          <a:p>
            <a:endParaRPr lang="en-US"/>
          </a:p>
        </p:txBody>
      </p:sp>
      <p:sp>
        <p:nvSpPr>
          <p:cNvPr id="5" name="Text 3"/>
          <p:cNvSpPr/>
          <p:nvPr/>
        </p:nvSpPr>
        <p:spPr>
          <a:xfrm>
            <a:off x="1051560" y="1188720"/>
            <a:ext cx="7132320" cy="45720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"What shifted, when, in relation to what?" — changes how you think</a:t>
            </a:r>
            <a:endParaRPr lang="en-US" sz="1400" dirty="0"/>
          </a:p>
        </p:txBody>
      </p:sp>
      <p:sp>
        <p:nvSpPr>
          <p:cNvPr id="6" name="Shape 4"/>
          <p:cNvSpPr/>
          <p:nvPr/>
        </p:nvSpPr>
        <p:spPr>
          <a:xfrm>
            <a:off x="731520" y="1755648"/>
            <a:ext cx="7680960" cy="4572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7" name="Shape 5"/>
          <p:cNvSpPr/>
          <p:nvPr/>
        </p:nvSpPr>
        <p:spPr>
          <a:xfrm>
            <a:off x="731520" y="1755648"/>
            <a:ext cx="54864" cy="457200"/>
          </a:xfrm>
          <a:prstGeom prst="rect">
            <a:avLst/>
          </a:prstGeom>
          <a:solidFill>
            <a:srgbClr val="0891B2"/>
          </a:solidFill>
          <a:ln/>
        </p:spPr>
        <p:txBody>
          <a:bodyPr/>
          <a:lstStyle/>
          <a:p>
            <a:endParaRPr lang="en-US"/>
          </a:p>
        </p:txBody>
      </p:sp>
      <p:sp>
        <p:nvSpPr>
          <p:cNvPr id="8" name="Text 6"/>
          <p:cNvSpPr/>
          <p:nvPr/>
        </p:nvSpPr>
        <p:spPr>
          <a:xfrm>
            <a:off x="1051560" y="1755648"/>
            <a:ext cx="7132320" cy="45720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Practice, not one-time insight. Clearer mental model every time.</a:t>
            </a:r>
            <a:endParaRPr lang="en-US" sz="1400" dirty="0"/>
          </a:p>
        </p:txBody>
      </p:sp>
      <p:sp>
        <p:nvSpPr>
          <p:cNvPr id="9" name="Shape 7"/>
          <p:cNvSpPr/>
          <p:nvPr/>
        </p:nvSpPr>
        <p:spPr>
          <a:xfrm>
            <a:off x="731520" y="2322576"/>
            <a:ext cx="7680960" cy="457200"/>
          </a:xfrm>
          <a:prstGeom prst="rect">
            <a:avLst/>
          </a:prstGeom>
          <a:solidFill>
            <a:srgbClr val="0891B2"/>
          </a:solidFill>
          <a:ln/>
        </p:spPr>
        <p:txBody>
          <a:bodyPr/>
          <a:lstStyle/>
          <a:p>
            <a:endParaRPr lang="en-US"/>
          </a:p>
        </p:txBody>
      </p:sp>
      <p:sp>
        <p:nvSpPr>
          <p:cNvPr id="10" name="Text 8"/>
          <p:cNvSpPr/>
          <p:nvPr/>
        </p:nvSpPr>
        <p:spPr>
          <a:xfrm>
            <a:off x="1051560" y="2322576"/>
            <a:ext cx="7132320"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Clear mental model = better clinical decisions.</a:t>
            </a:r>
            <a:endParaRPr lang="en-US" sz="1400" dirty="0"/>
          </a:p>
        </p:txBody>
      </p:sp>
      <p:sp>
        <p:nvSpPr>
          <p:cNvPr id="11" name="Shape 9"/>
          <p:cNvSpPr/>
          <p:nvPr/>
        </p:nvSpPr>
        <p:spPr>
          <a:xfrm>
            <a:off x="731520" y="2889504"/>
            <a:ext cx="7680960" cy="4572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2" name="Shape 10"/>
          <p:cNvSpPr/>
          <p:nvPr/>
        </p:nvSpPr>
        <p:spPr>
          <a:xfrm>
            <a:off x="731520" y="2889504"/>
            <a:ext cx="54864" cy="457200"/>
          </a:xfrm>
          <a:prstGeom prst="rect">
            <a:avLst/>
          </a:prstGeom>
          <a:solidFill>
            <a:srgbClr val="0891B2"/>
          </a:solidFill>
          <a:ln/>
        </p:spPr>
        <p:txBody>
          <a:bodyPr/>
          <a:lstStyle/>
          <a:p>
            <a:endParaRPr lang="en-US"/>
          </a:p>
        </p:txBody>
      </p:sp>
      <p:sp>
        <p:nvSpPr>
          <p:cNvPr id="13" name="Text 11"/>
          <p:cNvSpPr/>
          <p:nvPr/>
        </p:nvSpPr>
        <p:spPr>
          <a:xfrm>
            <a:off x="1051560" y="2889504"/>
            <a:ext cx="7132320" cy="45720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Without one → navigating by feel → feel is unreliable under anxiety.</a:t>
            </a:r>
            <a:endParaRPr lang="en-US" sz="1400" dirty="0"/>
          </a:p>
        </p:txBody>
      </p:sp>
      <p:sp>
        <p:nvSpPr>
          <p:cNvPr id="14" name="Shape 12"/>
          <p:cNvSpPr/>
          <p:nvPr/>
        </p:nvSpPr>
        <p:spPr>
          <a:xfrm>
            <a:off x="731520" y="3456432"/>
            <a:ext cx="7680960" cy="4572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5" name="Shape 13"/>
          <p:cNvSpPr/>
          <p:nvPr/>
        </p:nvSpPr>
        <p:spPr>
          <a:xfrm>
            <a:off x="731520" y="3456432"/>
            <a:ext cx="54864" cy="457200"/>
          </a:xfrm>
          <a:prstGeom prst="rect">
            <a:avLst/>
          </a:prstGeom>
          <a:solidFill>
            <a:srgbClr val="0891B2"/>
          </a:solidFill>
          <a:ln/>
        </p:spPr>
        <p:txBody>
          <a:bodyPr/>
          <a:lstStyle/>
          <a:p>
            <a:endParaRPr lang="en-US"/>
          </a:p>
        </p:txBody>
      </p:sp>
      <p:sp>
        <p:nvSpPr>
          <p:cNvPr id="16" name="Text 14"/>
          <p:cNvSpPr/>
          <p:nvPr/>
        </p:nvSpPr>
        <p:spPr>
          <a:xfrm>
            <a:off x="1051560" y="3456432"/>
            <a:ext cx="7132320" cy="45720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Track shifts instead of labeling states → see process everywhere.</a:t>
            </a:r>
            <a:endParaRPr lang="en-US" sz="1400" dirty="0"/>
          </a:p>
        </p:txBody>
      </p:sp>
      <p:sp>
        <p:nvSpPr>
          <p:cNvPr id="17" name="Shape 15"/>
          <p:cNvSpPr/>
          <p:nvPr/>
        </p:nvSpPr>
        <p:spPr>
          <a:xfrm>
            <a:off x="731520" y="4114800"/>
            <a:ext cx="7680960" cy="640080"/>
          </a:xfrm>
          <a:prstGeom prst="rect">
            <a:avLst/>
          </a:prstGeom>
          <a:solidFill>
            <a:srgbClr val="D97706"/>
          </a:solidFill>
          <a:ln/>
        </p:spPr>
        <p:txBody>
          <a:bodyPr/>
          <a:lstStyle/>
          <a:p>
            <a:endParaRPr lang="en-US"/>
          </a:p>
        </p:txBody>
      </p:sp>
      <p:sp>
        <p:nvSpPr>
          <p:cNvPr id="18" name="Text 16"/>
          <p:cNvSpPr/>
          <p:nvPr/>
        </p:nvSpPr>
        <p:spPr>
          <a:xfrm>
            <a:off x="1005840" y="4114800"/>
            <a:ext cx="7132320" cy="64008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You don't need software. Pencil and a timeline. The software just makes it faster.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1E293B"/>
                </a:solidFill>
                <a:latin typeface="Georgia" pitchFamily="34" charset="0"/>
                <a:ea typeface="Georgia" pitchFamily="34" charset="-122"/>
                <a:cs typeface="Georgia" pitchFamily="34" charset="-120"/>
              </a:rPr>
              <a:t>The Data Starts to Compound</a:t>
            </a:r>
            <a:endParaRPr lang="en-US" sz="2800" dirty="0"/>
          </a:p>
        </p:txBody>
      </p:sp>
      <p:sp>
        <p:nvSpPr>
          <p:cNvPr id="3" name="Shape 1"/>
          <p:cNvSpPr/>
          <p:nvPr/>
        </p:nvSpPr>
        <p:spPr>
          <a:xfrm>
            <a:off x="731520" y="1188720"/>
            <a:ext cx="3657600" cy="21945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731520" y="1188720"/>
            <a:ext cx="3657600" cy="457200"/>
          </a:xfrm>
          <a:prstGeom prst="rect">
            <a:avLst/>
          </a:prstGeom>
          <a:solidFill>
            <a:srgbClr val="94A3B8"/>
          </a:solidFill>
          <a:ln/>
        </p:spPr>
        <p:txBody>
          <a:bodyPr/>
          <a:lstStyle/>
          <a:p>
            <a:endParaRPr lang="en-US"/>
          </a:p>
        </p:txBody>
      </p:sp>
      <p:sp>
        <p:nvSpPr>
          <p:cNvPr id="5" name="Text 3"/>
          <p:cNvSpPr/>
          <p:nvPr/>
        </p:nvSpPr>
        <p:spPr>
          <a:xfrm>
            <a:off x="1005840" y="1188720"/>
            <a:ext cx="310896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Now</a:t>
            </a:r>
            <a:endParaRPr lang="en-US" sz="1600" dirty="0"/>
          </a:p>
        </p:txBody>
      </p:sp>
      <p:sp>
        <p:nvSpPr>
          <p:cNvPr id="6" name="Text 4"/>
          <p:cNvSpPr/>
          <p:nvPr/>
        </p:nvSpPr>
        <p:spPr>
          <a:xfrm>
            <a:off x="1005840" y="1828800"/>
            <a:ext cx="3108960" cy="1280160"/>
          </a:xfrm>
          <a:prstGeom prst="rect">
            <a:avLst/>
          </a:prstGeom>
          <a:noFill/>
          <a:ln/>
        </p:spPr>
        <p:txBody>
          <a:bodyPr wrap="square" lIns="0" tIns="0" rIns="0" bIns="0" rtlCol="0" anchor="ctr"/>
          <a:lstStyle/>
          <a:p>
            <a:pPr marL="0" indent="0">
              <a:lnSpc>
                <a:spcPct val="140000"/>
              </a:lnSpc>
              <a:buNone/>
            </a:pPr>
            <a:r>
              <a:rPr lang="en-US" sz="1400" dirty="0">
                <a:solidFill>
                  <a:srgbClr val="475569"/>
                </a:solidFill>
                <a:latin typeface="Calibri" pitchFamily="34" charset="0"/>
                <a:ea typeface="Calibri" pitchFamily="34" charset="-122"/>
                <a:cs typeface="Calibri" pitchFamily="34" charset="-120"/>
              </a:rPr>
              <a:t>Every clinician is an island.</a:t>
            </a:r>
            <a:endParaRPr lang="en-US" sz="1400" dirty="0"/>
          </a:p>
          <a:p>
            <a:pPr marL="0" indent="0">
              <a:lnSpc>
                <a:spcPct val="140000"/>
              </a:lnSpc>
              <a:buNone/>
            </a:pPr>
            <a:endParaRPr lang="en-US" sz="1400" dirty="0"/>
          </a:p>
          <a:p>
            <a:pPr marL="0" indent="0">
              <a:lnSpc>
                <a:spcPct val="140000"/>
              </a:lnSpc>
              <a:buNone/>
            </a:pPr>
            <a:r>
              <a:rPr lang="en-US" sz="1400" dirty="0">
                <a:solidFill>
                  <a:srgbClr val="475569"/>
                </a:solidFill>
                <a:latin typeface="Calibri" pitchFamily="34" charset="0"/>
                <a:ea typeface="Calibri" pitchFamily="34" charset="-122"/>
                <a:cs typeface="Calibri" pitchFamily="34" charset="-120"/>
              </a:rPr>
              <a:t>Observations die with their caseload.</a:t>
            </a:r>
            <a:endParaRPr lang="en-US" sz="1400" dirty="0"/>
          </a:p>
        </p:txBody>
      </p:sp>
      <p:sp>
        <p:nvSpPr>
          <p:cNvPr id="7" name="Shape 5"/>
          <p:cNvSpPr/>
          <p:nvPr/>
        </p:nvSpPr>
        <p:spPr>
          <a:xfrm>
            <a:off x="4754880" y="1188720"/>
            <a:ext cx="3657600" cy="21945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8" name="Shape 6"/>
          <p:cNvSpPr/>
          <p:nvPr/>
        </p:nvSpPr>
        <p:spPr>
          <a:xfrm>
            <a:off x="4754880" y="1188720"/>
            <a:ext cx="3657600" cy="457200"/>
          </a:xfrm>
          <a:prstGeom prst="rect">
            <a:avLst/>
          </a:prstGeom>
          <a:solidFill>
            <a:srgbClr val="0891B2"/>
          </a:solidFill>
          <a:ln/>
        </p:spPr>
        <p:txBody>
          <a:bodyPr/>
          <a:lstStyle/>
          <a:p>
            <a:endParaRPr lang="en-US"/>
          </a:p>
        </p:txBody>
      </p:sp>
      <p:sp>
        <p:nvSpPr>
          <p:cNvPr id="9" name="Text 7"/>
          <p:cNvSpPr/>
          <p:nvPr/>
        </p:nvSpPr>
        <p:spPr>
          <a:xfrm>
            <a:off x="5029200" y="1188720"/>
            <a:ext cx="310896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With Shared Variables</a:t>
            </a:r>
            <a:endParaRPr lang="en-US" sz="1600" dirty="0"/>
          </a:p>
        </p:txBody>
      </p:sp>
      <p:sp>
        <p:nvSpPr>
          <p:cNvPr id="10" name="Text 8"/>
          <p:cNvSpPr/>
          <p:nvPr/>
        </p:nvSpPr>
        <p:spPr>
          <a:xfrm>
            <a:off x="5029200" y="1828800"/>
            <a:ext cx="3108960" cy="1280160"/>
          </a:xfrm>
          <a:prstGeom prst="rect">
            <a:avLst/>
          </a:prstGeom>
          <a:noFill/>
          <a:ln/>
        </p:spPr>
        <p:txBody>
          <a:bodyPr wrap="square" lIns="0" tIns="0" rIns="0" bIns="0" rtlCol="0" anchor="ctr"/>
          <a:lstStyle/>
          <a:p>
            <a:pPr marL="0" indent="0">
              <a:lnSpc>
                <a:spcPct val="120000"/>
              </a:lnSpc>
              <a:buNone/>
            </a:pPr>
            <a:r>
              <a:rPr lang="en-US" sz="1400" dirty="0">
                <a:solidFill>
                  <a:srgbClr val="475569"/>
                </a:solidFill>
                <a:latin typeface="Calibri" pitchFamily="34" charset="0"/>
                <a:ea typeface="Calibri" pitchFamily="34" charset="-122"/>
                <a:cs typeface="Calibri" pitchFamily="34" charset="-120"/>
              </a:rPr>
              <a:t>Observations accumulate</a:t>
            </a:r>
            <a:endParaRPr lang="en-US" sz="1400" dirty="0"/>
          </a:p>
          <a:p>
            <a:pPr marL="0" indent="0">
              <a:lnSpc>
                <a:spcPct val="120000"/>
              </a:lnSpc>
              <a:buNone/>
            </a:pPr>
            <a:r>
              <a:rPr lang="en-US" sz="1400" dirty="0">
                <a:solidFill>
                  <a:srgbClr val="475569"/>
                </a:solidFill>
                <a:latin typeface="Calibri" pitchFamily="34" charset="0"/>
                <a:ea typeface="Calibri" pitchFamily="34" charset="-122"/>
                <a:cs typeface="Calibri" pitchFamily="34" charset="-120"/>
              </a:rPr>
              <a:t>across practitioners.</a:t>
            </a:r>
            <a:endParaRPr lang="en-US" sz="1400" dirty="0"/>
          </a:p>
          <a:p>
            <a:pPr marL="0" indent="0">
              <a:lnSpc>
                <a:spcPct val="120000"/>
              </a:lnSpc>
              <a:buNone/>
            </a:pPr>
            <a:endParaRPr lang="en-US" sz="1400" dirty="0"/>
          </a:p>
          <a:p>
            <a:pPr marL="0" indent="0">
              <a:lnSpc>
                <a:spcPct val="120000"/>
              </a:lnSpc>
              <a:buNone/>
            </a:pPr>
            <a:r>
              <a:rPr lang="en-US" sz="1400" dirty="0">
                <a:solidFill>
                  <a:srgbClr val="475569"/>
                </a:solidFill>
                <a:latin typeface="Calibri" pitchFamily="34" charset="0"/>
                <a:ea typeface="Calibri" pitchFamily="34" charset="-122"/>
                <a:cs typeface="Calibri" pitchFamily="34" charset="-120"/>
              </a:rPr>
              <a:t>Knowledge compounds.</a:t>
            </a:r>
            <a:endParaRPr lang="en-US" sz="1400" dirty="0"/>
          </a:p>
          <a:p>
            <a:pPr marL="0" indent="0">
              <a:lnSpc>
                <a:spcPct val="120000"/>
              </a:lnSpc>
              <a:buNone/>
            </a:pPr>
            <a:endParaRPr lang="en-US" sz="1400" dirty="0"/>
          </a:p>
          <a:p>
            <a:pPr marL="0" indent="0">
              <a:lnSpc>
                <a:spcPct val="120000"/>
              </a:lnSpc>
              <a:buNone/>
            </a:pPr>
            <a:r>
              <a:rPr lang="en-US" sz="1400" dirty="0">
                <a:solidFill>
                  <a:srgbClr val="475569"/>
                </a:solidFill>
                <a:latin typeface="Calibri" pitchFamily="34" charset="0"/>
                <a:ea typeface="Calibri" pitchFamily="34" charset="-122"/>
                <a:cs typeface="Calibri" pitchFamily="34" charset="-120"/>
              </a:rPr>
              <a:t>Brazil trainee + Alaska trainee</a:t>
            </a:r>
            <a:endParaRPr lang="en-US" sz="1400" dirty="0"/>
          </a:p>
          <a:p>
            <a:pPr marL="0" indent="0">
              <a:lnSpc>
                <a:spcPct val="120000"/>
              </a:lnSpc>
              <a:buNone/>
            </a:pPr>
            <a:r>
              <a:rPr lang="en-US" sz="1400" dirty="0">
                <a:solidFill>
                  <a:srgbClr val="475569"/>
                </a:solidFill>
                <a:latin typeface="Calibri" pitchFamily="34" charset="0"/>
                <a:ea typeface="Calibri" pitchFamily="34" charset="-122"/>
                <a:cs typeface="Calibri" pitchFamily="34" charset="-120"/>
              </a:rPr>
              <a:t>→ same variables, comparable results.</a:t>
            </a:r>
            <a:endParaRPr lang="en-US" sz="1400" dirty="0"/>
          </a:p>
        </p:txBody>
      </p:sp>
      <p:sp>
        <p:nvSpPr>
          <p:cNvPr id="11" name="Text 9"/>
          <p:cNvSpPr/>
          <p:nvPr/>
        </p:nvSpPr>
        <p:spPr>
          <a:xfrm>
            <a:off x="4160520" y="2011680"/>
            <a:ext cx="822960" cy="457200"/>
          </a:xfrm>
          <a:prstGeom prst="rect">
            <a:avLst/>
          </a:prstGeom>
          <a:noFill/>
          <a:ln/>
        </p:spPr>
        <p:txBody>
          <a:bodyPr wrap="square" lIns="0" tIns="0" rIns="0" bIns="0" rtlCol="0" anchor="ctr"/>
          <a:lstStyle/>
          <a:p>
            <a:pPr marL="0" indent="0" algn="ctr">
              <a:buNone/>
            </a:pPr>
            <a:r>
              <a:rPr lang="en-US" sz="2400" dirty="0">
                <a:solidFill>
                  <a:srgbClr val="0891B2"/>
                </a:solidFill>
                <a:latin typeface="Calibri" pitchFamily="34" charset="0"/>
                <a:ea typeface="Calibri" pitchFamily="34" charset="-122"/>
                <a:cs typeface="Calibri" pitchFamily="34" charset="-120"/>
              </a:rPr>
              <a: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The Scale Problem</a:t>
            </a:r>
            <a:endParaRPr lang="en-US" sz="2800" dirty="0"/>
          </a:p>
        </p:txBody>
      </p:sp>
      <p:sp>
        <p:nvSpPr>
          <p:cNvPr id="3" name="Shape 1"/>
          <p:cNvSpPr/>
          <p:nvPr/>
        </p:nvSpPr>
        <p:spPr>
          <a:xfrm>
            <a:off x="1371600" y="1188720"/>
            <a:ext cx="6400800" cy="1463040"/>
          </a:xfrm>
          <a:prstGeom prst="rect">
            <a:avLst/>
          </a:prstGeom>
          <a:solidFill>
            <a:srgbClr val="1B2A4A"/>
          </a:solidFill>
          <a:ln/>
        </p:spPr>
        <p:txBody>
          <a:bodyPr/>
          <a:lstStyle/>
          <a:p>
            <a:endParaRPr lang="en-US"/>
          </a:p>
        </p:txBody>
      </p:sp>
      <p:sp>
        <p:nvSpPr>
          <p:cNvPr id="4" name="Shape 2"/>
          <p:cNvSpPr/>
          <p:nvPr/>
        </p:nvSpPr>
        <p:spPr>
          <a:xfrm>
            <a:off x="1371600" y="1188720"/>
            <a:ext cx="6400800" cy="54864"/>
          </a:xfrm>
          <a:prstGeom prst="rect">
            <a:avLst/>
          </a:prstGeom>
          <a:solidFill>
            <a:srgbClr val="D97706"/>
          </a:solidFill>
          <a:ln/>
        </p:spPr>
        <p:txBody>
          <a:bodyPr/>
          <a:lstStyle/>
          <a:p>
            <a:endParaRPr lang="en-US"/>
          </a:p>
        </p:txBody>
      </p:sp>
      <p:sp>
        <p:nvSpPr>
          <p:cNvPr id="5" name="Text 3"/>
          <p:cNvSpPr/>
          <p:nvPr/>
        </p:nvSpPr>
        <p:spPr>
          <a:xfrm>
            <a:off x="1371600" y="1280160"/>
            <a:ext cx="6400800" cy="731520"/>
          </a:xfrm>
          <a:prstGeom prst="rect">
            <a:avLst/>
          </a:prstGeom>
          <a:noFill/>
          <a:ln/>
        </p:spPr>
        <p:txBody>
          <a:bodyPr wrap="square" lIns="0" tIns="0" rIns="0" bIns="0" rtlCol="0" anchor="ctr"/>
          <a:lstStyle/>
          <a:p>
            <a:pPr marL="0" indent="0" algn="ctr">
              <a:buNone/>
            </a:pPr>
            <a:r>
              <a:rPr lang="en-US" sz="4000" b="1" dirty="0">
                <a:solidFill>
                  <a:srgbClr val="D97706"/>
                </a:solidFill>
                <a:latin typeface="Georgia" pitchFamily="34" charset="0"/>
                <a:ea typeface="Georgia" pitchFamily="34" charset="-122"/>
                <a:cs typeface="Georgia" pitchFamily="34" charset="-120"/>
              </a:rPr>
              <a:t>Tens of Thousands</a:t>
            </a:r>
            <a:endParaRPr lang="en-US" sz="4000" dirty="0"/>
          </a:p>
        </p:txBody>
      </p:sp>
      <p:sp>
        <p:nvSpPr>
          <p:cNvPr id="6" name="Text 4"/>
          <p:cNvSpPr/>
          <p:nvPr/>
        </p:nvSpPr>
        <p:spPr>
          <a:xfrm>
            <a:off x="1371600" y="2011680"/>
            <a:ext cx="6400800" cy="365760"/>
          </a:xfrm>
          <a:prstGeom prst="rect">
            <a:avLst/>
          </a:prstGeom>
          <a:noFill/>
          <a:ln/>
        </p:spPr>
        <p:txBody>
          <a:bodyPr wrap="square" lIns="0" tIns="0" rIns="0" bIns="0" rtlCol="0" anchor="ctr"/>
          <a:lstStyle/>
          <a:p>
            <a:pPr marL="0" indent="0" algn="ctr">
              <a:buNone/>
            </a:pPr>
            <a:r>
              <a:rPr lang="en-US" sz="1800" dirty="0">
                <a:solidFill>
                  <a:srgbClr val="94A3B8"/>
                </a:solidFill>
                <a:latin typeface="Calibri" pitchFamily="34" charset="0"/>
                <a:ea typeface="Calibri" pitchFamily="34" charset="-122"/>
                <a:cs typeface="Calibri" pitchFamily="34" charset="-120"/>
              </a:rPr>
              <a:t>of coded cases</a:t>
            </a:r>
            <a:endParaRPr lang="en-US" sz="1800" dirty="0"/>
          </a:p>
        </p:txBody>
      </p:sp>
      <p:sp>
        <p:nvSpPr>
          <p:cNvPr id="7" name="Shape 5"/>
          <p:cNvSpPr/>
          <p:nvPr/>
        </p:nvSpPr>
        <p:spPr>
          <a:xfrm>
            <a:off x="1371600" y="2926080"/>
            <a:ext cx="6400800" cy="384048"/>
          </a:xfrm>
          <a:prstGeom prst="rect">
            <a:avLst/>
          </a:prstGeom>
          <a:solidFill>
            <a:srgbClr val="1B2A4A"/>
          </a:solidFill>
          <a:ln/>
        </p:spPr>
        <p:txBody>
          <a:bodyPr/>
          <a:lstStyle/>
          <a:p>
            <a:endParaRPr lang="en-US"/>
          </a:p>
        </p:txBody>
      </p:sp>
      <p:sp>
        <p:nvSpPr>
          <p:cNvPr id="8" name="Shape 6"/>
          <p:cNvSpPr/>
          <p:nvPr/>
        </p:nvSpPr>
        <p:spPr>
          <a:xfrm>
            <a:off x="1371600" y="2926080"/>
            <a:ext cx="54864" cy="384048"/>
          </a:xfrm>
          <a:prstGeom prst="rect">
            <a:avLst/>
          </a:prstGeom>
          <a:solidFill>
            <a:srgbClr val="0891B2"/>
          </a:solidFill>
          <a:ln/>
        </p:spPr>
        <p:txBody>
          <a:bodyPr/>
          <a:lstStyle/>
          <a:p>
            <a:endParaRPr lang="en-US"/>
          </a:p>
        </p:txBody>
      </p:sp>
      <p:sp>
        <p:nvSpPr>
          <p:cNvPr id="9" name="Text 7"/>
          <p:cNvSpPr/>
          <p:nvPr/>
        </p:nvSpPr>
        <p:spPr>
          <a:xfrm>
            <a:off x="1645920" y="2926080"/>
            <a:ext cx="5852160" cy="384048"/>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Era 2 — AI finds patterns humans can't, generates hypotheses for us — requires critical mass.</a:t>
            </a:r>
            <a:endParaRPr lang="en-US" sz="1300" dirty="0"/>
          </a:p>
        </p:txBody>
      </p:sp>
      <p:sp>
        <p:nvSpPr>
          <p:cNvPr id="10" name="Shape 8"/>
          <p:cNvSpPr/>
          <p:nvPr/>
        </p:nvSpPr>
        <p:spPr>
          <a:xfrm>
            <a:off x="1371600" y="3429000"/>
            <a:ext cx="6400800" cy="384048"/>
          </a:xfrm>
          <a:prstGeom prst="rect">
            <a:avLst/>
          </a:prstGeom>
          <a:solidFill>
            <a:srgbClr val="1B2A4A"/>
          </a:solidFill>
          <a:ln/>
        </p:spPr>
        <p:txBody>
          <a:bodyPr/>
          <a:lstStyle/>
          <a:p>
            <a:endParaRPr lang="en-US"/>
          </a:p>
        </p:txBody>
      </p:sp>
      <p:sp>
        <p:nvSpPr>
          <p:cNvPr id="11" name="Shape 9"/>
          <p:cNvSpPr/>
          <p:nvPr/>
        </p:nvSpPr>
        <p:spPr>
          <a:xfrm>
            <a:off x="1371600" y="3429000"/>
            <a:ext cx="54864" cy="384048"/>
          </a:xfrm>
          <a:prstGeom prst="rect">
            <a:avLst/>
          </a:prstGeom>
          <a:solidFill>
            <a:srgbClr val="0891B2"/>
          </a:solidFill>
          <a:ln/>
        </p:spPr>
        <p:txBody>
          <a:bodyPr/>
          <a:lstStyle/>
          <a:p>
            <a:endParaRPr lang="en-US"/>
          </a:p>
        </p:txBody>
      </p:sp>
      <p:sp>
        <p:nvSpPr>
          <p:cNvPr id="12" name="Text 10"/>
          <p:cNvSpPr/>
          <p:nvPr/>
        </p:nvSpPr>
        <p:spPr>
          <a:xfrm>
            <a:off x="1645920" y="3429000"/>
            <a:ext cx="5852160" cy="384048"/>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Not one lab. A distributed network of clinicians coding real cases, same variables.</a:t>
            </a:r>
            <a:endParaRPr lang="en-US" sz="1300" dirty="0"/>
          </a:p>
        </p:txBody>
      </p:sp>
      <p:sp>
        <p:nvSpPr>
          <p:cNvPr id="13" name="Shape 11"/>
          <p:cNvSpPr/>
          <p:nvPr/>
        </p:nvSpPr>
        <p:spPr>
          <a:xfrm>
            <a:off x="1371600" y="3931920"/>
            <a:ext cx="6400800" cy="384048"/>
          </a:xfrm>
          <a:prstGeom prst="rect">
            <a:avLst/>
          </a:prstGeom>
          <a:solidFill>
            <a:srgbClr val="1B2A4A"/>
          </a:solidFill>
          <a:ln/>
        </p:spPr>
        <p:txBody>
          <a:bodyPr/>
          <a:lstStyle/>
          <a:p>
            <a:endParaRPr lang="en-US"/>
          </a:p>
        </p:txBody>
      </p:sp>
      <p:sp>
        <p:nvSpPr>
          <p:cNvPr id="14" name="Shape 12"/>
          <p:cNvSpPr/>
          <p:nvPr/>
        </p:nvSpPr>
        <p:spPr>
          <a:xfrm>
            <a:off x="1371600" y="3931920"/>
            <a:ext cx="54864" cy="384048"/>
          </a:xfrm>
          <a:prstGeom prst="rect">
            <a:avLst/>
          </a:prstGeom>
          <a:solidFill>
            <a:srgbClr val="0891B2"/>
          </a:solidFill>
          <a:ln/>
        </p:spPr>
        <p:txBody>
          <a:bodyPr/>
          <a:lstStyle/>
          <a:p>
            <a:endParaRPr lang="en-US"/>
          </a:p>
        </p:txBody>
      </p:sp>
      <p:sp>
        <p:nvSpPr>
          <p:cNvPr id="15" name="Text 13"/>
          <p:cNvSpPr/>
          <p:nvPr/>
        </p:nvSpPr>
        <p:spPr>
          <a:xfrm>
            <a:off x="1645920" y="3931920"/>
            <a:ext cx="5852160" cy="384048"/>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Every case you code is a data point the field has never had before.</a:t>
            </a:r>
            <a:endParaRPr lang="en-US" sz="1300" dirty="0"/>
          </a:p>
        </p:txBody>
      </p:sp>
      <p:sp>
        <p:nvSpPr>
          <p:cNvPr id="16" name="Text 14"/>
          <p:cNvSpPr/>
          <p:nvPr/>
        </p:nvSpPr>
        <p:spPr>
          <a:xfrm>
            <a:off x="731520" y="4389120"/>
            <a:ext cx="768096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The human stays central — sets the standard, corrects the machine, decides what matters.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7490"/>
        </a:solidFill>
        <a:effectLst/>
      </p:bgPr>
    </p:bg>
    <p:spTree>
      <p:nvGrpSpPr>
        <p:cNvPr id="1" name=""/>
        <p:cNvGrpSpPr/>
        <p:nvPr/>
      </p:nvGrpSpPr>
      <p:grpSpPr>
        <a:xfrm>
          <a:off x="0" y="0"/>
          <a:ext cx="0" cy="0"/>
          <a:chOff x="0" y="0"/>
          <a:chExt cx="0" cy="0"/>
        </a:xfrm>
      </p:grpSpPr>
      <p:sp>
        <p:nvSpPr>
          <p:cNvPr id="2" name="Text 0"/>
          <p:cNvSpPr/>
          <p:nvPr/>
        </p:nvSpPr>
        <p:spPr>
          <a:xfrm>
            <a:off x="731520" y="1097280"/>
            <a:ext cx="1097280" cy="1097280"/>
          </a:xfrm>
          <a:prstGeom prst="rect">
            <a:avLst/>
          </a:prstGeom>
          <a:noFill/>
          <a:ln/>
        </p:spPr>
        <p:txBody>
          <a:bodyPr wrap="square" lIns="0" tIns="0" rIns="0" bIns="0" rtlCol="0" anchor="ctr"/>
          <a:lstStyle/>
          <a:p>
            <a:pPr marL="0" indent="0" algn="ctr">
              <a:buNone/>
            </a:pPr>
            <a:r>
              <a:rPr lang="en-US" sz="4800" b="1" dirty="0">
                <a:solidFill>
                  <a:srgbClr val="FFFFFF"/>
                </a:solidFill>
                <a:latin typeface="Georgia" pitchFamily="34" charset="0"/>
                <a:ea typeface="Georgia" pitchFamily="34" charset="-122"/>
                <a:cs typeface="Georgia" pitchFamily="34" charset="-120"/>
              </a:rPr>
              <a:t>III</a:t>
            </a:r>
            <a:endParaRPr lang="en-US" sz="4800" dirty="0"/>
          </a:p>
        </p:txBody>
      </p:sp>
      <p:sp>
        <p:nvSpPr>
          <p:cNvPr id="3" name="Shape 1"/>
          <p:cNvSpPr/>
          <p:nvPr/>
        </p:nvSpPr>
        <p:spPr>
          <a:xfrm>
            <a:off x="2011680" y="1371600"/>
            <a:ext cx="36576" cy="640080"/>
          </a:xfrm>
          <a:prstGeom prst="rect">
            <a:avLst/>
          </a:prstGeom>
          <a:solidFill>
            <a:srgbClr val="22D3EE"/>
          </a:solidFill>
          <a:ln/>
        </p:spPr>
        <p:txBody>
          <a:bodyPr/>
          <a:lstStyle/>
          <a:p>
            <a:endParaRPr lang="en-US"/>
          </a:p>
        </p:txBody>
      </p:sp>
      <p:sp>
        <p:nvSpPr>
          <p:cNvPr id="4" name="Text 2"/>
          <p:cNvSpPr/>
          <p:nvPr/>
        </p:nvSpPr>
        <p:spPr>
          <a:xfrm>
            <a:off x="2286000" y="1097280"/>
            <a:ext cx="5486400" cy="914400"/>
          </a:xfrm>
          <a:prstGeom prst="rect">
            <a:avLst/>
          </a:prstGeom>
          <a:noFill/>
          <a:ln/>
        </p:spPr>
        <p:txBody>
          <a:bodyPr wrap="square" lIns="0" tIns="0" rIns="0" bIns="0"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Invitation</a:t>
            </a:r>
            <a:endParaRPr lang="en-US" sz="3600" dirty="0"/>
          </a:p>
        </p:txBody>
      </p:sp>
      <p:sp>
        <p:nvSpPr>
          <p:cNvPr id="5" name="Text 3"/>
          <p:cNvSpPr/>
          <p:nvPr/>
        </p:nvSpPr>
        <p:spPr>
          <a:xfrm>
            <a:off x="731520" y="4389120"/>
            <a:ext cx="2743200" cy="365760"/>
          </a:xfrm>
          <a:prstGeom prst="rect">
            <a:avLst/>
          </a:prstGeom>
          <a:noFill/>
          <a:ln/>
        </p:spPr>
        <p:txBody>
          <a:bodyPr wrap="square" lIns="0" tIns="0" rIns="0" bIns="0" rtlCol="0" anchor="ctr"/>
          <a:lstStyle/>
          <a:p>
            <a:pPr marL="0" indent="0">
              <a:buNone/>
            </a:pPr>
            <a:r>
              <a:rPr lang="en-US" sz="1300" i="1" dirty="0">
                <a:solidFill>
                  <a:srgbClr val="22D3EE"/>
                </a:solidFill>
                <a:latin typeface="Calibri" pitchFamily="34" charset="0"/>
                <a:ea typeface="Calibri" pitchFamily="34" charset="-122"/>
                <a:cs typeface="Calibri" pitchFamily="34" charset="-120"/>
              </a:rPr>
              <a:t>5 minutes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731520" y="365760"/>
            <a:ext cx="7680960" cy="640080"/>
          </a:xfrm>
          <a:prstGeom prst="rect">
            <a:avLst/>
          </a:prstGeom>
          <a:noFill/>
          <a:ln/>
        </p:spPr>
        <p:txBody>
          <a:bodyPr wrap="square" lIns="0" tIns="0" rIns="0" bIns="0" rtlCol="0" anchor="ctr"/>
          <a:lstStyle/>
          <a:p>
            <a:pPr marL="0" indent="0">
              <a:buNone/>
            </a:pPr>
            <a:r>
              <a:rPr lang="en-US" sz="2600" b="1" dirty="0">
                <a:solidFill>
                  <a:srgbClr val="1E293B"/>
                </a:solidFill>
                <a:latin typeface="Georgia" pitchFamily="34" charset="0"/>
                <a:ea typeface="Georgia" pitchFamily="34" charset="-122"/>
                <a:cs typeface="Georgia" pitchFamily="34" charset="-120"/>
              </a:rPr>
              <a:t>Resources for the Curious</a:t>
            </a:r>
            <a:endParaRPr lang="en-US" sz="2600" dirty="0"/>
          </a:p>
        </p:txBody>
      </p:sp>
      <p:sp>
        <p:nvSpPr>
          <p:cNvPr id="3" name="Shape 1"/>
          <p:cNvSpPr/>
          <p:nvPr/>
        </p:nvSpPr>
        <p:spPr>
          <a:xfrm>
            <a:off x="731520" y="1097280"/>
            <a:ext cx="3657600" cy="12344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731520" y="1097280"/>
            <a:ext cx="54864" cy="1234440"/>
          </a:xfrm>
          <a:prstGeom prst="rect">
            <a:avLst/>
          </a:prstGeom>
          <a:solidFill>
            <a:srgbClr val="0891B2"/>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960120" y="1280160"/>
            <a:ext cx="320040" cy="320040"/>
          </a:xfrm>
          <a:prstGeom prst="rect">
            <a:avLst/>
          </a:prstGeom>
        </p:spPr>
      </p:pic>
      <p:sp>
        <p:nvSpPr>
          <p:cNvPr id="6" name="Text 3"/>
          <p:cNvSpPr/>
          <p:nvPr/>
        </p:nvSpPr>
        <p:spPr>
          <a:xfrm>
            <a:off x="1417320" y="1207008"/>
            <a:ext cx="2743200" cy="32004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Start with Your Own Thinking</a:t>
            </a:r>
            <a:endParaRPr lang="en-US" sz="1500" dirty="0"/>
          </a:p>
        </p:txBody>
      </p:sp>
      <p:sp>
        <p:nvSpPr>
          <p:cNvPr id="7" name="Text 4"/>
          <p:cNvSpPr/>
          <p:nvPr/>
        </p:nvSpPr>
        <p:spPr>
          <a:xfrm>
            <a:off x="1417320" y="1554480"/>
            <a:ext cx="2743200" cy="640080"/>
          </a:xfrm>
          <a:prstGeom prst="rect">
            <a:avLst/>
          </a:prstGeom>
          <a:noFill/>
          <a:ln/>
        </p:spPr>
        <p:txBody>
          <a:bodyPr wrap="square" lIns="0" tIns="0" rIns="0" bIns="0" rtlCol="0" anchor="ctr"/>
          <a:lstStyle/>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Next intake → draw the family, date the shifts, see the sequence.</a:t>
            </a:r>
            <a:endParaRPr lang="en-US" sz="1100" dirty="0"/>
          </a:p>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"What shifted, when, in relation to what?"</a:t>
            </a:r>
            <a:endParaRPr lang="en-US" sz="1100" dirty="0"/>
          </a:p>
        </p:txBody>
      </p:sp>
      <p:sp>
        <p:nvSpPr>
          <p:cNvPr id="8" name="Shape 5"/>
          <p:cNvSpPr/>
          <p:nvPr/>
        </p:nvSpPr>
        <p:spPr>
          <a:xfrm>
            <a:off x="4754880" y="1097280"/>
            <a:ext cx="3657600" cy="12344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54880" y="1097280"/>
            <a:ext cx="54864" cy="1234440"/>
          </a:xfrm>
          <a:prstGeom prst="rect">
            <a:avLst/>
          </a:prstGeom>
          <a:solidFill>
            <a:srgbClr val="0891B2"/>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983480" y="1280160"/>
            <a:ext cx="320040" cy="320040"/>
          </a:xfrm>
          <a:prstGeom prst="rect">
            <a:avLst/>
          </a:prstGeom>
        </p:spPr>
      </p:pic>
      <p:sp>
        <p:nvSpPr>
          <p:cNvPr id="11" name="Text 7"/>
          <p:cNvSpPr/>
          <p:nvPr/>
        </p:nvSpPr>
        <p:spPr>
          <a:xfrm>
            <a:off x="5440680" y="1207008"/>
            <a:ext cx="2743200" cy="32004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Use the Tools</a:t>
            </a:r>
            <a:endParaRPr lang="en-US" sz="1500" dirty="0"/>
          </a:p>
        </p:txBody>
      </p:sp>
      <p:sp>
        <p:nvSpPr>
          <p:cNvPr id="12" name="Text 8"/>
          <p:cNvSpPr/>
          <p:nvPr/>
        </p:nvSpPr>
        <p:spPr>
          <a:xfrm>
            <a:off x="5440680" y="1554480"/>
            <a:ext cx="2743200" cy="640080"/>
          </a:xfrm>
          <a:prstGeom prst="rect">
            <a:avLst/>
          </a:prstGeom>
          <a:noFill/>
          <a:ln/>
        </p:spPr>
        <p:txBody>
          <a:bodyPr wrap="square" lIns="0" tIns="0" rIns="0" bIns="0" rtlCol="0" anchor="ctr"/>
          <a:lstStyle/>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Pro app available now — familydiagram.com</a:t>
            </a:r>
            <a:endParaRPr lang="en-US" sz="1100" dirty="0"/>
          </a:p>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Personal app coming — clients do their own assessment before session 1.</a:t>
            </a:r>
            <a:endParaRPr lang="en-US" sz="1100" dirty="0"/>
          </a:p>
        </p:txBody>
      </p:sp>
      <p:sp>
        <p:nvSpPr>
          <p:cNvPr id="13" name="Shape 9"/>
          <p:cNvSpPr/>
          <p:nvPr/>
        </p:nvSpPr>
        <p:spPr>
          <a:xfrm>
            <a:off x="731520" y="2606040"/>
            <a:ext cx="3657600" cy="12344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731520" y="2606040"/>
            <a:ext cx="54864" cy="1234440"/>
          </a:xfrm>
          <a:prstGeom prst="rect">
            <a:avLst/>
          </a:prstGeom>
          <a:solidFill>
            <a:srgbClr val="0891B2"/>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960120" y="2788920"/>
            <a:ext cx="320040" cy="320040"/>
          </a:xfrm>
          <a:prstGeom prst="rect">
            <a:avLst/>
          </a:prstGeom>
        </p:spPr>
      </p:pic>
      <p:sp>
        <p:nvSpPr>
          <p:cNvPr id="16" name="Text 11"/>
          <p:cNvSpPr/>
          <p:nvPr/>
        </p:nvSpPr>
        <p:spPr>
          <a:xfrm>
            <a:off x="1417320" y="2715768"/>
            <a:ext cx="2743200" cy="32004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Join the Seminar</a:t>
            </a:r>
            <a:endParaRPr lang="en-US" sz="1500" dirty="0"/>
          </a:p>
        </p:txBody>
      </p:sp>
      <p:sp>
        <p:nvSpPr>
          <p:cNvPr id="17" name="Text 12"/>
          <p:cNvSpPr/>
          <p:nvPr/>
        </p:nvSpPr>
        <p:spPr>
          <a:xfrm>
            <a:off x="1417320" y="3063240"/>
            <a:ext cx="2743200" cy="640080"/>
          </a:xfrm>
          <a:prstGeom prst="rect">
            <a:avLst/>
          </a:prstGeom>
          <a:noFill/>
          <a:ln/>
        </p:spPr>
        <p:txBody>
          <a:bodyPr wrap="square" lIns="0" tIns="0" rIns="0" bIns="0" rtlCol="0" anchor="ctr"/>
          <a:lstStyle/>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Monthly Zoom working group. Coding cases on real data.</a:t>
            </a:r>
            <a:endParaRPr lang="en-US" sz="1100" dirty="0"/>
          </a:p>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Not lectures — practice.</a:t>
            </a:r>
            <a:endParaRPr lang="en-US" sz="1100" dirty="0"/>
          </a:p>
        </p:txBody>
      </p:sp>
      <p:sp>
        <p:nvSpPr>
          <p:cNvPr id="18" name="Shape 13"/>
          <p:cNvSpPr/>
          <p:nvPr/>
        </p:nvSpPr>
        <p:spPr>
          <a:xfrm>
            <a:off x="4754880" y="2606040"/>
            <a:ext cx="3657600" cy="12344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p:cNvSpPr/>
          <p:nvPr/>
        </p:nvSpPr>
        <p:spPr>
          <a:xfrm>
            <a:off x="4754880" y="2606040"/>
            <a:ext cx="54864" cy="1234440"/>
          </a:xfrm>
          <a:prstGeom prst="rect">
            <a:avLst/>
          </a:prstGeom>
          <a:solidFill>
            <a:srgbClr val="0891B2"/>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4983480" y="2788920"/>
            <a:ext cx="320040" cy="320040"/>
          </a:xfrm>
          <a:prstGeom prst="rect">
            <a:avLst/>
          </a:prstGeom>
        </p:spPr>
      </p:pic>
      <p:sp>
        <p:nvSpPr>
          <p:cNvPr id="21" name="Text 15"/>
          <p:cNvSpPr/>
          <p:nvPr/>
        </p:nvSpPr>
        <p:spPr>
          <a:xfrm>
            <a:off x="5440680" y="2715768"/>
            <a:ext cx="2743200" cy="32004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Code Cases for the IRR Study</a:t>
            </a:r>
            <a:endParaRPr lang="en-US" sz="1500" dirty="0"/>
          </a:p>
        </p:txBody>
      </p:sp>
      <p:sp>
        <p:nvSpPr>
          <p:cNvPr id="22" name="Text 16"/>
          <p:cNvSpPr/>
          <p:nvPr/>
        </p:nvSpPr>
        <p:spPr>
          <a:xfrm>
            <a:off x="5440680" y="3063240"/>
            <a:ext cx="2743200" cy="640080"/>
          </a:xfrm>
          <a:prstGeom prst="rect">
            <a:avLst/>
          </a:prstGeom>
          <a:noFill/>
          <a:ln/>
        </p:spPr>
        <p:txBody>
          <a:bodyPr wrap="square" lIns="0" tIns="0" rIns="0" bIns="0" rtlCol="0" anchor="ctr"/>
          <a:lstStyle/>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The study needs trained coders. That's clinicians.</a:t>
            </a:r>
            <a:endParaRPr lang="en-US" sz="1100" dirty="0"/>
          </a:p>
          <a:p>
            <a:pPr marL="0" indent="0">
              <a:lnSpc>
                <a:spcPct val="130000"/>
              </a:lnSpc>
              <a:buNone/>
            </a:pPr>
            <a:r>
              <a:rPr lang="en-US" sz="1100" dirty="0">
                <a:solidFill>
                  <a:srgbClr val="475569"/>
                </a:solidFill>
                <a:latin typeface="Calibri" pitchFamily="34" charset="0"/>
                <a:ea typeface="Calibri" pitchFamily="34" charset="-122"/>
                <a:cs typeface="Calibri" pitchFamily="34" charset="-120"/>
              </a:rPr>
              <a:t>You are the ground truth. You are the humans.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a:p>
        </p:txBody>
      </p:sp>
      <p:sp>
        <p:nvSpPr>
          <p:cNvPr id="3" name="Text 1"/>
          <p:cNvSpPr/>
          <p:nvPr/>
        </p:nvSpPr>
        <p:spPr>
          <a:xfrm>
            <a:off x="731520" y="457200"/>
            <a:ext cx="7680960" cy="1463040"/>
          </a:xfrm>
          <a:prstGeom prst="rect">
            <a:avLst/>
          </a:prstGeom>
          <a:noFill/>
          <a:ln/>
        </p:spPr>
        <p:txBody>
          <a:bodyPr wrap="square" lIns="0" tIns="0" rIns="0" bIns="0" rtlCol="0" anchor="ctr"/>
          <a:lstStyle/>
          <a:p>
            <a:pPr marL="0" indent="0">
              <a:lnSpc>
                <a:spcPct val="120000"/>
              </a:lnSpc>
              <a:buNone/>
            </a:pPr>
            <a:r>
              <a:rPr lang="en-US" sz="3000" b="1" dirty="0">
                <a:solidFill>
                  <a:srgbClr val="FFFFFF"/>
                </a:solidFill>
                <a:latin typeface="Georgia" pitchFamily="34" charset="0"/>
                <a:ea typeface="Georgia" pitchFamily="34" charset="-122"/>
                <a:cs typeface="Georgia" pitchFamily="34" charset="-120"/>
              </a:rPr>
              <a:t>The field isn't hopeless —</a:t>
            </a:r>
            <a:endParaRPr lang="en-US" sz="3000" dirty="0"/>
          </a:p>
          <a:p>
            <a:pPr marL="0" indent="0">
              <a:lnSpc>
                <a:spcPct val="120000"/>
              </a:lnSpc>
              <a:buNone/>
            </a:pPr>
            <a:r>
              <a:rPr lang="en-US" sz="3000" b="1" dirty="0">
                <a:solidFill>
                  <a:srgbClr val="FFFFFF"/>
                </a:solidFill>
                <a:latin typeface="Georgia" pitchFamily="34" charset="0"/>
                <a:ea typeface="Georgia" pitchFamily="34" charset="-122"/>
                <a:cs typeface="Georgia" pitchFamily="34" charset="-120"/>
              </a:rPr>
              <a:t>it's unmeasured.</a:t>
            </a:r>
            <a:endParaRPr lang="en-US" sz="3000" dirty="0"/>
          </a:p>
          <a:p>
            <a:pPr marL="0" indent="0">
              <a:lnSpc>
                <a:spcPct val="120000"/>
              </a:lnSpc>
              <a:buNone/>
            </a:pPr>
            <a:r>
              <a:rPr lang="en-US" sz="3000" b="1" dirty="0">
                <a:solidFill>
                  <a:srgbClr val="FFFFFF"/>
                </a:solidFill>
                <a:latin typeface="Georgia" pitchFamily="34" charset="0"/>
                <a:ea typeface="Georgia" pitchFamily="34" charset="-122"/>
                <a:cs typeface="Georgia" pitchFamily="34" charset="-120"/>
              </a:rPr>
              <a:t>And unmeasured is fixable.</a:t>
            </a:r>
            <a:endParaRPr lang="en-US" sz="3000" dirty="0"/>
          </a:p>
        </p:txBody>
      </p:sp>
      <p:sp>
        <p:nvSpPr>
          <p:cNvPr id="4" name="Shape 2"/>
          <p:cNvSpPr/>
          <p:nvPr/>
        </p:nvSpPr>
        <p:spPr>
          <a:xfrm>
            <a:off x="731520" y="2103120"/>
            <a:ext cx="1097280" cy="36576"/>
          </a:xfrm>
          <a:prstGeom prst="rect">
            <a:avLst/>
          </a:prstGeom>
          <a:solidFill>
            <a:srgbClr val="0891B2"/>
          </a:solidFill>
          <a:ln/>
        </p:spPr>
        <p:txBody>
          <a:bodyPr/>
          <a:lstStyle/>
          <a:p>
            <a:endParaRPr lang="en-US"/>
          </a:p>
        </p:txBody>
      </p:sp>
      <p:sp>
        <p:nvSpPr>
          <p:cNvPr id="5" name="Text 3"/>
          <p:cNvSpPr/>
          <p:nvPr/>
        </p:nvSpPr>
        <p:spPr>
          <a:xfrm>
            <a:off x="731520" y="2377440"/>
            <a:ext cx="7680960" cy="822960"/>
          </a:xfrm>
          <a:prstGeom prst="rect">
            <a:avLst/>
          </a:prstGeom>
          <a:noFill/>
          <a:ln/>
        </p:spPr>
        <p:txBody>
          <a:bodyPr wrap="square" lIns="0" tIns="0" rIns="0" bIns="0" rtlCol="0" anchor="ctr"/>
          <a:lstStyle/>
          <a:p>
            <a:pPr marL="0" indent="0">
              <a:lnSpc>
                <a:spcPct val="130000"/>
              </a:lnSpc>
              <a:buNone/>
            </a:pPr>
            <a:r>
              <a:rPr lang="en-US" sz="2000" dirty="0">
                <a:solidFill>
                  <a:srgbClr val="22D3EE"/>
                </a:solidFill>
                <a:latin typeface="Georgia" pitchFamily="34" charset="0"/>
                <a:ea typeface="Georgia" pitchFamily="34" charset="-122"/>
                <a:cs typeface="Georgia" pitchFamily="34" charset="-120"/>
              </a:rPr>
              <a:t>None of this existed five years ago.</a:t>
            </a:r>
            <a:endParaRPr lang="en-US" sz="2000" dirty="0"/>
          </a:p>
          <a:p>
            <a:pPr marL="0" indent="0">
              <a:lnSpc>
                <a:spcPct val="130000"/>
              </a:lnSpc>
              <a:buNone/>
            </a:pPr>
            <a:r>
              <a:rPr lang="en-US" sz="2000" dirty="0">
                <a:solidFill>
                  <a:srgbClr val="22D3EE"/>
                </a:solidFill>
                <a:latin typeface="Georgia" pitchFamily="34" charset="0"/>
                <a:ea typeface="Georgia" pitchFamily="34" charset="-122"/>
                <a:cs typeface="Georgia" pitchFamily="34" charset="-120"/>
              </a:rPr>
              <a:t>All of it works. And we've barely started.</a:t>
            </a:r>
            <a:endParaRPr lang="en-US" sz="2000" dirty="0"/>
          </a:p>
        </p:txBody>
      </p:sp>
      <p:sp>
        <p:nvSpPr>
          <p:cNvPr id="6" name="Text 4"/>
          <p:cNvSpPr/>
          <p:nvPr/>
        </p:nvSpPr>
        <p:spPr>
          <a:xfrm>
            <a:off x="731520" y="3474720"/>
            <a:ext cx="7680960" cy="457200"/>
          </a:xfrm>
          <a:prstGeom prst="rect">
            <a:avLst/>
          </a:prstGeom>
          <a:noFill/>
          <a:ln/>
        </p:spPr>
        <p:txBody>
          <a:bodyPr wrap="square" lIns="0" tIns="0" rIns="0" bIns="0" rtlCol="0" anchor="ctr"/>
          <a:lstStyle/>
          <a:p>
            <a:pPr marL="0" indent="0">
              <a:buNone/>
            </a:pPr>
            <a:r>
              <a:rPr lang="en-US" sz="1800" b="1" i="1" dirty="0">
                <a:solidFill>
                  <a:srgbClr val="D97706"/>
                </a:solidFill>
                <a:latin typeface="Calibri" pitchFamily="34" charset="0"/>
                <a:ea typeface="Calibri" pitchFamily="34" charset="-122"/>
                <a:cs typeface="Calibri" pitchFamily="34" charset="-120"/>
              </a:rPr>
              <a:t>Not a technology. A way of using your mind.</a:t>
            </a:r>
            <a:endParaRPr lang="en-US" sz="1800" dirty="0"/>
          </a:p>
        </p:txBody>
      </p:sp>
      <p:sp>
        <p:nvSpPr>
          <p:cNvPr id="7" name="Text 5"/>
          <p:cNvSpPr/>
          <p:nvPr/>
        </p:nvSpPr>
        <p:spPr>
          <a:xfrm>
            <a:off x="731520" y="4206240"/>
            <a:ext cx="7680960" cy="45720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Thank you for spending the day.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749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3886200" y="731520"/>
            <a:ext cx="1371600" cy="1371600"/>
          </a:xfrm>
          <a:prstGeom prst="rect">
            <a:avLst/>
          </a:prstGeom>
        </p:spPr>
      </p:pic>
      <p:sp>
        <p:nvSpPr>
          <p:cNvPr id="3" name="Text 0"/>
          <p:cNvSpPr/>
          <p:nvPr/>
        </p:nvSpPr>
        <p:spPr>
          <a:xfrm>
            <a:off x="731520" y="2194560"/>
            <a:ext cx="7680960" cy="1280160"/>
          </a:xfrm>
          <a:prstGeom prst="rect">
            <a:avLst/>
          </a:prstGeom>
          <a:noFill/>
          <a:ln/>
        </p:spPr>
        <p:txBody>
          <a:bodyPr wrap="square" lIns="0" tIns="0" rIns="0" bIns="0" rtlCol="0" anchor="ctr"/>
          <a:lstStyle/>
          <a:p>
            <a:pPr marL="0" indent="0" algn="ctr">
              <a:lnSpc>
                <a:spcPct val="115000"/>
              </a:lnSpc>
              <a:buNone/>
            </a:pPr>
            <a:r>
              <a:rPr lang="en-US" sz="3600" b="1" dirty="0">
                <a:solidFill>
                  <a:srgbClr val="FFFFFF"/>
                </a:solidFill>
                <a:latin typeface="Georgia" pitchFamily="34" charset="0"/>
                <a:ea typeface="Georgia" pitchFamily="34" charset="-122"/>
                <a:cs typeface="Georgia" pitchFamily="34" charset="-120"/>
              </a:rPr>
              <a:t>Interview with</a:t>
            </a:r>
            <a:endParaRPr lang="en-US" sz="3600" dirty="0"/>
          </a:p>
          <a:p>
            <a:pPr marL="0" indent="0" algn="ctr">
              <a:lnSpc>
                <a:spcPct val="115000"/>
              </a:lnSpc>
              <a:buNone/>
            </a:pPr>
            <a:r>
              <a:rPr lang="en-US" sz="3600" b="1" dirty="0">
                <a:solidFill>
                  <a:srgbClr val="FFFFFF"/>
                </a:solidFill>
                <a:latin typeface="Georgia" pitchFamily="34" charset="0"/>
                <a:ea typeface="Georgia" pitchFamily="34" charset="-122"/>
                <a:cs typeface="Georgia" pitchFamily="34" charset="-120"/>
              </a:rPr>
              <a:t>Guillermo</a:t>
            </a:r>
            <a:endParaRPr lang="en-US" sz="3600" dirty="0"/>
          </a:p>
        </p:txBody>
      </p:sp>
      <p:sp>
        <p:nvSpPr>
          <p:cNvPr id="4" name="Text 1"/>
          <p:cNvSpPr/>
          <p:nvPr/>
        </p:nvSpPr>
        <p:spPr>
          <a:xfrm>
            <a:off x="731520" y="3566160"/>
            <a:ext cx="7680960" cy="457200"/>
          </a:xfrm>
          <a:prstGeom prst="rect">
            <a:avLst/>
          </a:prstGeom>
          <a:noFill/>
          <a:ln/>
        </p:spPr>
        <p:txBody>
          <a:bodyPr wrap="square" lIns="0" tIns="0" rIns="0" bIns="0" rtlCol="0" anchor="ctr"/>
          <a:lstStyle/>
          <a:p>
            <a:pPr marL="0" indent="0" algn="ctr">
              <a:buNone/>
            </a:pPr>
            <a:r>
              <a:rPr lang="en-US" sz="1600" i="1" dirty="0">
                <a:solidFill>
                  <a:srgbClr val="22D3EE"/>
                </a:solidFill>
                <a:latin typeface="Calibri" pitchFamily="34" charset="0"/>
                <a:ea typeface="Calibri" pitchFamily="34" charset="-122"/>
                <a:cs typeface="Calibri" pitchFamily="34" charset="-120"/>
              </a:rPr>
              <a:t>15 minutes → audience Q&amp;A</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a:p>
        </p:txBody>
      </p:sp>
      <p:sp>
        <p:nvSpPr>
          <p:cNvPr id="3" name="Text 1"/>
          <p:cNvSpPr/>
          <p:nvPr/>
        </p:nvSpPr>
        <p:spPr>
          <a:xfrm>
            <a:off x="731520" y="1097280"/>
            <a:ext cx="7680960" cy="1463040"/>
          </a:xfrm>
          <a:prstGeom prst="rect">
            <a:avLst/>
          </a:prstGeom>
          <a:noFill/>
          <a:ln/>
        </p:spPr>
        <p:txBody>
          <a:bodyPr wrap="square" lIns="0" tIns="0" rIns="0" bIns="0" rtlCol="0" anchor="ctr"/>
          <a:lstStyle/>
          <a:p>
            <a:pPr marL="0" indent="0">
              <a:lnSpc>
                <a:spcPct val="115000"/>
              </a:lnSpc>
              <a:buNone/>
            </a:pPr>
            <a:r>
              <a:rPr lang="en-US" sz="3800" b="1" dirty="0">
                <a:solidFill>
                  <a:srgbClr val="FFFFFF"/>
                </a:solidFill>
                <a:latin typeface="Georgia" pitchFamily="34" charset="0"/>
                <a:ea typeface="Georgia" pitchFamily="34" charset="-122"/>
                <a:cs typeface="Georgia" pitchFamily="34" charset="-120"/>
              </a:rPr>
              <a:t>Thank you for</a:t>
            </a:r>
            <a:endParaRPr lang="en-US" sz="3800" dirty="0"/>
          </a:p>
          <a:p>
            <a:pPr marL="0" indent="0">
              <a:lnSpc>
                <a:spcPct val="115000"/>
              </a:lnSpc>
              <a:buNone/>
            </a:pPr>
            <a:r>
              <a:rPr lang="en-US" sz="3800" b="1" dirty="0">
                <a:solidFill>
                  <a:srgbClr val="FFFFFF"/>
                </a:solidFill>
                <a:latin typeface="Georgia" pitchFamily="34" charset="0"/>
                <a:ea typeface="Georgia" pitchFamily="34" charset="-122"/>
                <a:cs typeface="Georgia" pitchFamily="34" charset="-120"/>
              </a:rPr>
              <a:t>spending the day.</a:t>
            </a:r>
            <a:endParaRPr lang="en-US" sz="3800" dirty="0"/>
          </a:p>
        </p:txBody>
      </p:sp>
      <p:sp>
        <p:nvSpPr>
          <p:cNvPr id="4" name="Shape 2"/>
          <p:cNvSpPr/>
          <p:nvPr/>
        </p:nvSpPr>
        <p:spPr>
          <a:xfrm>
            <a:off x="731520" y="2834640"/>
            <a:ext cx="1097280" cy="36576"/>
          </a:xfrm>
          <a:prstGeom prst="rect">
            <a:avLst/>
          </a:prstGeom>
          <a:solidFill>
            <a:srgbClr val="0891B2"/>
          </a:solidFill>
          <a:ln/>
        </p:spPr>
        <p:txBody>
          <a:bodyPr/>
          <a:lstStyle/>
          <a:p>
            <a:endParaRPr lang="en-US"/>
          </a:p>
        </p:txBody>
      </p:sp>
      <p:sp>
        <p:nvSpPr>
          <p:cNvPr id="5" name="Text 3"/>
          <p:cNvSpPr/>
          <p:nvPr/>
        </p:nvSpPr>
        <p:spPr>
          <a:xfrm>
            <a:off x="731520" y="3108960"/>
            <a:ext cx="7680960" cy="457200"/>
          </a:xfrm>
          <a:prstGeom prst="rect">
            <a:avLst/>
          </a:prstGeom>
          <a:noFill/>
          <a:ln/>
        </p:spPr>
        <p:txBody>
          <a:bodyPr wrap="square" lIns="0" tIns="0" rIns="0" bIns="0" rtlCol="0" anchor="ctr"/>
          <a:lstStyle/>
          <a:p>
            <a:pPr marL="0" indent="0">
              <a:buNone/>
            </a:pPr>
            <a:r>
              <a:rPr lang="en-US" sz="1800" dirty="0">
                <a:solidFill>
                  <a:srgbClr val="22D3EE"/>
                </a:solidFill>
                <a:latin typeface="Calibri" pitchFamily="34" charset="0"/>
                <a:ea typeface="Calibri" pitchFamily="34" charset="-122"/>
                <a:cs typeface="Calibri" pitchFamily="34" charset="-120"/>
              </a:rPr>
              <a:t>alaskafamilysystems.com  ·  familydiagram.com</a:t>
            </a:r>
            <a:endParaRPr lang="en-US" sz="1800" dirty="0"/>
          </a:p>
        </p:txBody>
      </p:sp>
      <p:sp>
        <p:nvSpPr>
          <p:cNvPr id="6" name="Text 4"/>
          <p:cNvSpPr/>
          <p:nvPr/>
        </p:nvSpPr>
        <p:spPr>
          <a:xfrm>
            <a:off x="731520" y="3840480"/>
            <a:ext cx="7680960" cy="36576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Dr. Patrick Stinson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1565</Words>
  <Application>Microsoft Macintosh PowerPoint</Application>
  <PresentationFormat>On-screen Show (16:9)</PresentationFormat>
  <Paragraphs>187</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the Future, the Next Generation</dc:title>
  <dc:subject>PptxGenJS Presentation</dc:subject>
  <dc:creator>Dr. Patrick Stinson</dc:creator>
  <cp:lastModifiedBy>Patrick Stinson</cp:lastModifiedBy>
  <cp:revision>3</cp:revision>
  <dcterms:created xsi:type="dcterms:W3CDTF">2026-02-27T15:37:09Z</dcterms:created>
  <dcterms:modified xsi:type="dcterms:W3CDTF">2026-02-27T17:17:22Z</dcterms:modified>
</cp:coreProperties>
</file>